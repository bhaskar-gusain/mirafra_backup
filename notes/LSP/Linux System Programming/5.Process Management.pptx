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55" autoAdjust="0"/>
    <p:restoredTop sz="94660"/>
  </p:normalViewPr>
  <p:slideViewPr>
    <p:cSldViewPr snapToGrid="0">
      <p:cViewPr varScale="1">
        <p:scale>
          <a:sx n="113" d="100"/>
          <a:sy n="113" d="100"/>
        </p:scale>
        <p:origin x="9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AC4FA-8B95-4A63-93BE-CAD078805B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900448-151D-4FB1-8392-4FAF43E1FE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CC36DE-0506-4A2D-931E-B7BD11BBF8E8}"/>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5" name="Footer Placeholder 4">
            <a:extLst>
              <a:ext uri="{FF2B5EF4-FFF2-40B4-BE49-F238E27FC236}">
                <a16:creationId xmlns:a16="http://schemas.microsoft.com/office/drawing/2014/main" id="{DEBF432F-E732-4AE2-AC59-8D8785F616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C69F2B-9CBD-4B9B-8289-B289412D8346}"/>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1889110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4C46-5395-4633-8441-AF760DA1C8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7EBA92-168E-420A-87CE-FC97307EA8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91101D-D55B-4867-8D4F-84CE004853B5}"/>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5" name="Footer Placeholder 4">
            <a:extLst>
              <a:ext uri="{FF2B5EF4-FFF2-40B4-BE49-F238E27FC236}">
                <a16:creationId xmlns:a16="http://schemas.microsoft.com/office/drawing/2014/main" id="{32034BD7-9A5C-40A8-B2F6-7EF8E7E96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35EA11-9B5C-48B6-AC0C-9AB1CC0B866C}"/>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406874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6410F-F95B-47AF-98A1-05BAE5FE5F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58ACB9-F5BD-4C83-8D52-B222C3A19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9F59D6-D592-45F2-A572-9C7AD0EDFCEC}"/>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5" name="Footer Placeholder 4">
            <a:extLst>
              <a:ext uri="{FF2B5EF4-FFF2-40B4-BE49-F238E27FC236}">
                <a16:creationId xmlns:a16="http://schemas.microsoft.com/office/drawing/2014/main" id="{0C20F4B2-8358-4454-A6B9-D16F24DD44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264AE5-464A-49C1-837E-04E1281B9362}"/>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3971959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1722E-44B5-4D61-966D-87BDEF9A9A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2777AD-04C1-44C7-B7F6-EED9BA0C42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C3E4016-D8E2-4287-AD9B-8EB9EE9DC5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07408D-8C9A-4424-927E-FA08D7981B13}"/>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6" name="Footer Placeholder 5">
            <a:extLst>
              <a:ext uri="{FF2B5EF4-FFF2-40B4-BE49-F238E27FC236}">
                <a16:creationId xmlns:a16="http://schemas.microsoft.com/office/drawing/2014/main" id="{CE3FAB34-B797-4E4F-B84A-48004BC8AD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E0F610-976A-49AD-90CB-CFD9225A7D0E}"/>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420466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99F2-A4FD-4363-BF22-B88E88CDD8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D20AD5-2CB4-4FE1-9C54-EA3080D891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5B5786-1780-4033-BB49-5153051869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E33FBF-8112-4687-8596-A358566E6E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3F89A7-30C5-481D-844A-E8EED091F0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9894C3A-282D-4B23-AC5C-18004550EED5}"/>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8" name="Footer Placeholder 7">
            <a:extLst>
              <a:ext uri="{FF2B5EF4-FFF2-40B4-BE49-F238E27FC236}">
                <a16:creationId xmlns:a16="http://schemas.microsoft.com/office/drawing/2014/main" id="{784429F2-E677-4788-8AEA-E9ABEB4EC4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E58631-6D34-4552-8E41-DEC097269DCD}"/>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4157310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763D2-013A-45B4-B73E-57967C83BA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601991-69EF-4C03-9BC3-792DB29B90FC}"/>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4" name="Footer Placeholder 3">
            <a:extLst>
              <a:ext uri="{FF2B5EF4-FFF2-40B4-BE49-F238E27FC236}">
                <a16:creationId xmlns:a16="http://schemas.microsoft.com/office/drawing/2014/main" id="{ECF4CD50-B0E6-417D-A272-29E3581E94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8EFC81-4F3D-44AC-B7A4-6D34944B9FD3}"/>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2096984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B32946-D7AB-4486-8A95-FBDCAE5FA985}"/>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3" name="Footer Placeholder 2">
            <a:extLst>
              <a:ext uri="{FF2B5EF4-FFF2-40B4-BE49-F238E27FC236}">
                <a16:creationId xmlns:a16="http://schemas.microsoft.com/office/drawing/2014/main" id="{4C26FF2E-59B6-4259-85D8-EBAE2BFB91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B56FB8-ECAB-482C-9711-6B76BBF6CA6F}"/>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1643790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EED4A-6144-440B-AFE3-04239FFF5A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0FDD1B-25AB-4176-8D22-E60D59AC1A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9F4748-B3E6-4D33-9206-D12F4490E9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E9C82A-138B-4A80-8970-7C849BEC8BC5}"/>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6" name="Footer Placeholder 5">
            <a:extLst>
              <a:ext uri="{FF2B5EF4-FFF2-40B4-BE49-F238E27FC236}">
                <a16:creationId xmlns:a16="http://schemas.microsoft.com/office/drawing/2014/main" id="{D40DCB7C-EDD0-4D5C-B3FD-021D556BEA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D5F28-1479-4A25-AF01-0836528E5BFF}"/>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1852236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A65A3-000F-4600-BBC6-DF6BE02545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DB675B-6EDC-4821-93D7-0306797E0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65DF99-D326-4903-BF5E-17C2160BE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7E9FBF-1915-44C1-8392-FF06174EF2B9}"/>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6" name="Footer Placeholder 5">
            <a:extLst>
              <a:ext uri="{FF2B5EF4-FFF2-40B4-BE49-F238E27FC236}">
                <a16:creationId xmlns:a16="http://schemas.microsoft.com/office/drawing/2014/main" id="{EB145725-211E-47B6-8CED-3ABB1C0A7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A37D56-0AF6-4840-A287-2BD2D79F5386}"/>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23151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0BA29-95F3-4E0A-A48E-58CFDF22A0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4EEC8E-46F6-4A10-A71C-16EF96F8EB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0E99C9-9154-46BF-BF85-34ED6A6D4A81}"/>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5" name="Footer Placeholder 4">
            <a:extLst>
              <a:ext uri="{FF2B5EF4-FFF2-40B4-BE49-F238E27FC236}">
                <a16:creationId xmlns:a16="http://schemas.microsoft.com/office/drawing/2014/main" id="{B1AA6F64-7C9A-4BEF-939D-97184E6806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FA7F06-3B57-4534-92D1-0605243A2786}"/>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3798205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1877FF-E1FA-46FE-928F-8A90EF2B81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CD1C9F-C70F-4C72-BF50-BDD836AC5E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550F9E-6D7D-4BD8-8777-31EDC2250686}"/>
              </a:ext>
            </a:extLst>
          </p:cNvPr>
          <p:cNvSpPr>
            <a:spLocks noGrp="1"/>
          </p:cNvSpPr>
          <p:nvPr>
            <p:ph type="dt" sz="half" idx="10"/>
          </p:nvPr>
        </p:nvSpPr>
        <p:spPr/>
        <p:txBody>
          <a:bodyPr/>
          <a:lstStyle/>
          <a:p>
            <a:fld id="{FC8D2C6A-1407-45B7-A983-9A081373E56D}" type="datetimeFigureOut">
              <a:rPr lang="en-US" smtClean="0"/>
              <a:t>9/9/2025</a:t>
            </a:fld>
            <a:endParaRPr lang="en-US"/>
          </a:p>
        </p:txBody>
      </p:sp>
      <p:sp>
        <p:nvSpPr>
          <p:cNvPr id="5" name="Footer Placeholder 4">
            <a:extLst>
              <a:ext uri="{FF2B5EF4-FFF2-40B4-BE49-F238E27FC236}">
                <a16:creationId xmlns:a16="http://schemas.microsoft.com/office/drawing/2014/main" id="{AACE8F5E-7703-40D2-9AA0-16E36214A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A3E96F-8819-4CCB-8454-CB07AB1F5979}"/>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3266719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0278F1-9437-4A4A-A4A1-0E865383DD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C4DDA9-1920-411F-BADC-90EB065E65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22BDD8-42BB-44E6-8935-841E814E4B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8D2C6A-1407-45B7-A983-9A081373E56D}" type="datetimeFigureOut">
              <a:rPr lang="en-US" smtClean="0"/>
              <a:t>9/9/2025</a:t>
            </a:fld>
            <a:endParaRPr lang="en-US"/>
          </a:p>
        </p:txBody>
      </p:sp>
      <p:sp>
        <p:nvSpPr>
          <p:cNvPr id="5" name="Footer Placeholder 4">
            <a:extLst>
              <a:ext uri="{FF2B5EF4-FFF2-40B4-BE49-F238E27FC236}">
                <a16:creationId xmlns:a16="http://schemas.microsoft.com/office/drawing/2014/main" id="{373E3C9E-0850-4BA8-8F49-5D9AE05D7D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6A916F-6F6F-4E2C-ADA3-FF92EE0339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ABC4A9-CF7A-4ECD-8EE1-172B07DA32B1}" type="slidenum">
              <a:rPr lang="en-US" smtClean="0"/>
              <a:t>‹#›</a:t>
            </a:fld>
            <a:endParaRPr lang="en-US"/>
          </a:p>
        </p:txBody>
      </p:sp>
    </p:spTree>
    <p:extLst>
      <p:ext uri="{BB962C8B-B14F-4D97-AF65-F5344CB8AC3E}">
        <p14:creationId xmlns:p14="http://schemas.microsoft.com/office/powerpoint/2010/main" val="40744095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37F85A6-BBBA-A7EA-2A99-475B3E67EA3B}"/>
              </a:ext>
            </a:extLst>
          </p:cNvPr>
          <p:cNvSpPr/>
          <p:nvPr/>
        </p:nvSpPr>
        <p:spPr>
          <a:xfrm>
            <a:off x="927847" y="416859"/>
            <a:ext cx="10071847" cy="5244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t>Process Management</a:t>
            </a:r>
            <a:endParaRPr lang="en-US" sz="3200" b="1" dirty="0"/>
          </a:p>
        </p:txBody>
      </p:sp>
      <p:cxnSp>
        <p:nvCxnSpPr>
          <p:cNvPr id="6" name="Straight Connector 5">
            <a:extLst>
              <a:ext uri="{FF2B5EF4-FFF2-40B4-BE49-F238E27FC236}">
                <a16:creationId xmlns:a16="http://schemas.microsoft.com/office/drawing/2014/main" id="{EBD88B46-FB23-1550-6043-5CD68911E454}"/>
              </a:ext>
            </a:extLst>
          </p:cNvPr>
          <p:cNvCxnSpPr>
            <a:cxnSpLocks/>
          </p:cNvCxnSpPr>
          <p:nvPr/>
        </p:nvCxnSpPr>
        <p:spPr>
          <a:xfrm flipH="1">
            <a:off x="1676401" y="914400"/>
            <a:ext cx="12322" cy="441555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Arrow: Right 6">
            <a:extLst>
              <a:ext uri="{FF2B5EF4-FFF2-40B4-BE49-F238E27FC236}">
                <a16:creationId xmlns:a16="http://schemas.microsoft.com/office/drawing/2014/main" id="{57D205D8-CA8B-8A3C-85C3-1414893CF177}"/>
              </a:ext>
            </a:extLst>
          </p:cNvPr>
          <p:cNvSpPr/>
          <p:nvPr/>
        </p:nvSpPr>
        <p:spPr>
          <a:xfrm>
            <a:off x="1694329" y="1264022"/>
            <a:ext cx="185568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79D709C7-40CA-0899-B187-85044C0B6CAD}"/>
              </a:ext>
            </a:extLst>
          </p:cNvPr>
          <p:cNvSpPr/>
          <p:nvPr/>
        </p:nvSpPr>
        <p:spPr>
          <a:xfrm>
            <a:off x="3550017" y="1062316"/>
            <a:ext cx="5177115" cy="40341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Process</a:t>
            </a:r>
            <a:endParaRPr lang="en-US" sz="2400" dirty="0"/>
          </a:p>
        </p:txBody>
      </p:sp>
      <p:cxnSp>
        <p:nvCxnSpPr>
          <p:cNvPr id="16" name="Straight Arrow Connector 15">
            <a:extLst>
              <a:ext uri="{FF2B5EF4-FFF2-40B4-BE49-F238E27FC236}">
                <a16:creationId xmlns:a16="http://schemas.microsoft.com/office/drawing/2014/main" id="{982D4AA9-D4FC-7DBD-73C4-6A9B0C893637}"/>
              </a:ext>
            </a:extLst>
          </p:cNvPr>
          <p:cNvCxnSpPr>
            <a:cxnSpLocks/>
            <a:stCxn id="8" idx="2"/>
            <a:endCxn id="17" idx="0"/>
          </p:cNvCxnSpPr>
          <p:nvPr/>
        </p:nvCxnSpPr>
        <p:spPr>
          <a:xfrm flipH="1">
            <a:off x="3301252" y="1465728"/>
            <a:ext cx="2837323" cy="632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E13477C-D1C0-9563-5F98-95F889CDD7DA}"/>
              </a:ext>
            </a:extLst>
          </p:cNvPr>
          <p:cNvSpPr/>
          <p:nvPr/>
        </p:nvSpPr>
        <p:spPr>
          <a:xfrm>
            <a:off x="2460812" y="2097741"/>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Process Life Cycle</a:t>
            </a:r>
            <a:endParaRPr lang="en-US" dirty="0"/>
          </a:p>
        </p:txBody>
      </p:sp>
      <p:cxnSp>
        <p:nvCxnSpPr>
          <p:cNvPr id="22" name="Straight Arrow Connector 21">
            <a:extLst>
              <a:ext uri="{FF2B5EF4-FFF2-40B4-BE49-F238E27FC236}">
                <a16:creationId xmlns:a16="http://schemas.microsoft.com/office/drawing/2014/main" id="{4F447365-EE1F-8D7C-927A-61AF1C398B82}"/>
              </a:ext>
            </a:extLst>
          </p:cNvPr>
          <p:cNvCxnSpPr>
            <a:cxnSpLocks/>
            <a:stCxn id="8" idx="2"/>
            <a:endCxn id="23" idx="0"/>
          </p:cNvCxnSpPr>
          <p:nvPr/>
        </p:nvCxnSpPr>
        <p:spPr>
          <a:xfrm flipH="1">
            <a:off x="5107633" y="1465728"/>
            <a:ext cx="1030942" cy="663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2A2E33A0-C4AC-8C62-C4EE-2F07598E6CF5}"/>
              </a:ext>
            </a:extLst>
          </p:cNvPr>
          <p:cNvSpPr/>
          <p:nvPr/>
        </p:nvSpPr>
        <p:spPr>
          <a:xfrm>
            <a:off x="4267193" y="2129118"/>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PCB</a:t>
            </a:r>
            <a:endParaRPr lang="en-US" dirty="0"/>
          </a:p>
        </p:txBody>
      </p:sp>
      <p:cxnSp>
        <p:nvCxnSpPr>
          <p:cNvPr id="25" name="Straight Arrow Connector 24">
            <a:extLst>
              <a:ext uri="{FF2B5EF4-FFF2-40B4-BE49-F238E27FC236}">
                <a16:creationId xmlns:a16="http://schemas.microsoft.com/office/drawing/2014/main" id="{BB65BE5A-9CFD-1590-DEF9-B2AA9D36D5FB}"/>
              </a:ext>
            </a:extLst>
          </p:cNvPr>
          <p:cNvCxnSpPr>
            <a:cxnSpLocks/>
            <a:endCxn id="26" idx="0"/>
          </p:cNvCxnSpPr>
          <p:nvPr/>
        </p:nvCxnSpPr>
        <p:spPr>
          <a:xfrm flipH="1">
            <a:off x="5100917" y="1465730"/>
            <a:ext cx="1030942" cy="663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452EA641-4BA9-D903-836C-7CA90B644FF6}"/>
              </a:ext>
            </a:extLst>
          </p:cNvPr>
          <p:cNvSpPr/>
          <p:nvPr/>
        </p:nvSpPr>
        <p:spPr>
          <a:xfrm>
            <a:off x="4260477" y="2129118"/>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PCB</a:t>
            </a:r>
            <a:endParaRPr lang="en-US" dirty="0"/>
          </a:p>
        </p:txBody>
      </p:sp>
      <p:cxnSp>
        <p:nvCxnSpPr>
          <p:cNvPr id="27" name="Straight Arrow Connector 26">
            <a:extLst>
              <a:ext uri="{FF2B5EF4-FFF2-40B4-BE49-F238E27FC236}">
                <a16:creationId xmlns:a16="http://schemas.microsoft.com/office/drawing/2014/main" id="{E6C2581B-6ADE-1956-00BB-28DD87F91D00}"/>
              </a:ext>
            </a:extLst>
          </p:cNvPr>
          <p:cNvCxnSpPr>
            <a:cxnSpLocks/>
            <a:stCxn id="8" idx="2"/>
            <a:endCxn id="28" idx="0"/>
          </p:cNvCxnSpPr>
          <p:nvPr/>
        </p:nvCxnSpPr>
        <p:spPr>
          <a:xfrm>
            <a:off x="6138575" y="1465728"/>
            <a:ext cx="795618" cy="640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E51DC615-7446-7E20-301E-E22F2612F12B}"/>
              </a:ext>
            </a:extLst>
          </p:cNvPr>
          <p:cNvSpPr/>
          <p:nvPr/>
        </p:nvSpPr>
        <p:spPr>
          <a:xfrm>
            <a:off x="6093753" y="2106707"/>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Process Hierarchy</a:t>
            </a:r>
            <a:endParaRPr lang="en-US" dirty="0"/>
          </a:p>
        </p:txBody>
      </p:sp>
      <p:cxnSp>
        <p:nvCxnSpPr>
          <p:cNvPr id="31" name="Straight Arrow Connector 30">
            <a:extLst>
              <a:ext uri="{FF2B5EF4-FFF2-40B4-BE49-F238E27FC236}">
                <a16:creationId xmlns:a16="http://schemas.microsoft.com/office/drawing/2014/main" id="{EA73E1C8-6E26-CCB5-2BAA-C06E7D198818}"/>
              </a:ext>
            </a:extLst>
          </p:cNvPr>
          <p:cNvCxnSpPr>
            <a:cxnSpLocks/>
            <a:stCxn id="8" idx="2"/>
            <a:endCxn id="32" idx="0"/>
          </p:cNvCxnSpPr>
          <p:nvPr/>
        </p:nvCxnSpPr>
        <p:spPr>
          <a:xfrm>
            <a:off x="6138575" y="1465728"/>
            <a:ext cx="2669234" cy="645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0575CB7E-38EF-7986-7AA3-98F37039CEF6}"/>
              </a:ext>
            </a:extLst>
          </p:cNvPr>
          <p:cNvSpPr/>
          <p:nvPr/>
        </p:nvSpPr>
        <p:spPr>
          <a:xfrm>
            <a:off x="7967369" y="2111190"/>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Context Switching</a:t>
            </a:r>
            <a:endParaRPr lang="en-US" dirty="0"/>
          </a:p>
        </p:txBody>
      </p:sp>
      <p:sp>
        <p:nvSpPr>
          <p:cNvPr id="42" name="Arrow: Right 41">
            <a:extLst>
              <a:ext uri="{FF2B5EF4-FFF2-40B4-BE49-F238E27FC236}">
                <a16:creationId xmlns:a16="http://schemas.microsoft.com/office/drawing/2014/main" id="{5028D570-A8AE-9B6D-DBC5-65DA5E2593F9}"/>
              </a:ext>
            </a:extLst>
          </p:cNvPr>
          <p:cNvSpPr/>
          <p:nvPr/>
        </p:nvSpPr>
        <p:spPr>
          <a:xfrm>
            <a:off x="1698812" y="3339345"/>
            <a:ext cx="185568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2339C47E-8CEC-2621-A93F-1E8C28CAE136}"/>
              </a:ext>
            </a:extLst>
          </p:cNvPr>
          <p:cNvSpPr/>
          <p:nvPr/>
        </p:nvSpPr>
        <p:spPr>
          <a:xfrm>
            <a:off x="3567947" y="3137639"/>
            <a:ext cx="5177115" cy="403412"/>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Process Creation</a:t>
            </a:r>
            <a:endParaRPr lang="en-US" sz="2400" dirty="0"/>
          </a:p>
        </p:txBody>
      </p:sp>
      <p:cxnSp>
        <p:nvCxnSpPr>
          <p:cNvPr id="44" name="Straight Arrow Connector 43">
            <a:extLst>
              <a:ext uri="{FF2B5EF4-FFF2-40B4-BE49-F238E27FC236}">
                <a16:creationId xmlns:a16="http://schemas.microsoft.com/office/drawing/2014/main" id="{10ADD92A-44AD-110C-2070-D76928DC17FE}"/>
              </a:ext>
            </a:extLst>
          </p:cNvPr>
          <p:cNvCxnSpPr>
            <a:cxnSpLocks/>
            <a:stCxn id="43" idx="2"/>
            <a:endCxn id="45" idx="0"/>
          </p:cNvCxnSpPr>
          <p:nvPr/>
        </p:nvCxnSpPr>
        <p:spPr>
          <a:xfrm flipH="1">
            <a:off x="4193237" y="3541051"/>
            <a:ext cx="1963268" cy="605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53549D87-77CE-97D5-1911-CD72529F9BEB}"/>
              </a:ext>
            </a:extLst>
          </p:cNvPr>
          <p:cNvSpPr/>
          <p:nvPr/>
        </p:nvSpPr>
        <p:spPr>
          <a:xfrm>
            <a:off x="3352797" y="4146168"/>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fork</a:t>
            </a:r>
            <a:endParaRPr lang="en-US" dirty="0"/>
          </a:p>
        </p:txBody>
      </p:sp>
      <p:cxnSp>
        <p:nvCxnSpPr>
          <p:cNvPr id="46" name="Straight Arrow Connector 45">
            <a:extLst>
              <a:ext uri="{FF2B5EF4-FFF2-40B4-BE49-F238E27FC236}">
                <a16:creationId xmlns:a16="http://schemas.microsoft.com/office/drawing/2014/main" id="{5D31DB6F-4427-A05E-45D6-D15AA0D98CBC}"/>
              </a:ext>
            </a:extLst>
          </p:cNvPr>
          <p:cNvCxnSpPr>
            <a:cxnSpLocks/>
            <a:stCxn id="43" idx="2"/>
          </p:cNvCxnSpPr>
          <p:nvPr/>
        </p:nvCxnSpPr>
        <p:spPr>
          <a:xfrm>
            <a:off x="6156505" y="3541051"/>
            <a:ext cx="11204" cy="636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349E2F1F-D69B-2C13-213D-2D4E2D1CDCB3}"/>
              </a:ext>
            </a:extLst>
          </p:cNvPr>
          <p:cNvSpPr/>
          <p:nvPr/>
        </p:nvSpPr>
        <p:spPr>
          <a:xfrm>
            <a:off x="5320542" y="4177545"/>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clone</a:t>
            </a:r>
            <a:endParaRPr lang="en-US" dirty="0"/>
          </a:p>
        </p:txBody>
      </p:sp>
      <p:cxnSp>
        <p:nvCxnSpPr>
          <p:cNvPr id="50" name="Straight Arrow Connector 49">
            <a:extLst>
              <a:ext uri="{FF2B5EF4-FFF2-40B4-BE49-F238E27FC236}">
                <a16:creationId xmlns:a16="http://schemas.microsoft.com/office/drawing/2014/main" id="{5928A849-7A5B-489B-29C0-AB0391A4A28D}"/>
              </a:ext>
            </a:extLst>
          </p:cNvPr>
          <p:cNvCxnSpPr>
            <a:cxnSpLocks/>
            <a:stCxn id="43" idx="2"/>
            <a:endCxn id="51" idx="0"/>
          </p:cNvCxnSpPr>
          <p:nvPr/>
        </p:nvCxnSpPr>
        <p:spPr>
          <a:xfrm>
            <a:off x="6156505" y="3541051"/>
            <a:ext cx="2005848" cy="614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9B333AE4-5CEE-E405-891A-D9F6EAC7EA8D}"/>
              </a:ext>
            </a:extLst>
          </p:cNvPr>
          <p:cNvSpPr/>
          <p:nvPr/>
        </p:nvSpPr>
        <p:spPr>
          <a:xfrm>
            <a:off x="7321913" y="4155134"/>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vfork</a:t>
            </a:r>
            <a:endParaRPr lang="en-US" dirty="0"/>
          </a:p>
        </p:txBody>
      </p:sp>
      <p:sp>
        <p:nvSpPr>
          <p:cNvPr id="70" name="Arrow: Right 69">
            <a:extLst>
              <a:ext uri="{FF2B5EF4-FFF2-40B4-BE49-F238E27FC236}">
                <a16:creationId xmlns:a16="http://schemas.microsoft.com/office/drawing/2014/main" id="{7A8BBB23-C672-CE87-5EA6-8FF156958C2D}"/>
              </a:ext>
            </a:extLst>
          </p:cNvPr>
          <p:cNvSpPr/>
          <p:nvPr/>
        </p:nvSpPr>
        <p:spPr>
          <a:xfrm>
            <a:off x="1676401" y="5280196"/>
            <a:ext cx="185568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Rounded Corners 70">
            <a:extLst>
              <a:ext uri="{FF2B5EF4-FFF2-40B4-BE49-F238E27FC236}">
                <a16:creationId xmlns:a16="http://schemas.microsoft.com/office/drawing/2014/main" id="{D46BF261-DA44-B25F-6D4F-782B1E887D8B}"/>
              </a:ext>
            </a:extLst>
          </p:cNvPr>
          <p:cNvSpPr/>
          <p:nvPr/>
        </p:nvSpPr>
        <p:spPr>
          <a:xfrm>
            <a:off x="3532089" y="5078490"/>
            <a:ext cx="5177115" cy="403412"/>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Types of Processes</a:t>
            </a:r>
            <a:endParaRPr lang="en-US" sz="2400" dirty="0"/>
          </a:p>
        </p:txBody>
      </p:sp>
      <p:cxnSp>
        <p:nvCxnSpPr>
          <p:cNvPr id="72" name="Straight Arrow Connector 71">
            <a:extLst>
              <a:ext uri="{FF2B5EF4-FFF2-40B4-BE49-F238E27FC236}">
                <a16:creationId xmlns:a16="http://schemas.microsoft.com/office/drawing/2014/main" id="{29A51982-A5B5-73FA-1D65-18174BBA5F57}"/>
              </a:ext>
            </a:extLst>
          </p:cNvPr>
          <p:cNvCxnSpPr>
            <a:cxnSpLocks/>
          </p:cNvCxnSpPr>
          <p:nvPr/>
        </p:nvCxnSpPr>
        <p:spPr>
          <a:xfrm flipH="1">
            <a:off x="4211167" y="5468455"/>
            <a:ext cx="1963268" cy="605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4BFF9D26-5D80-24F2-6B0E-5A38419EC2A3}"/>
              </a:ext>
            </a:extLst>
          </p:cNvPr>
          <p:cNvSpPr/>
          <p:nvPr/>
        </p:nvSpPr>
        <p:spPr>
          <a:xfrm>
            <a:off x="3370727" y="6060125"/>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Orphan</a:t>
            </a:r>
            <a:endParaRPr lang="en-US" dirty="0"/>
          </a:p>
        </p:txBody>
      </p:sp>
      <p:cxnSp>
        <p:nvCxnSpPr>
          <p:cNvPr id="74" name="Straight Arrow Connector 73">
            <a:extLst>
              <a:ext uri="{FF2B5EF4-FFF2-40B4-BE49-F238E27FC236}">
                <a16:creationId xmlns:a16="http://schemas.microsoft.com/office/drawing/2014/main" id="{2542257D-E0E2-A43B-DC5E-5934D72FF72F}"/>
              </a:ext>
            </a:extLst>
          </p:cNvPr>
          <p:cNvCxnSpPr>
            <a:cxnSpLocks/>
          </p:cNvCxnSpPr>
          <p:nvPr/>
        </p:nvCxnSpPr>
        <p:spPr>
          <a:xfrm>
            <a:off x="6174435" y="5468455"/>
            <a:ext cx="11204" cy="636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46484B60-5DCF-AC33-4222-94629DFDBFFD}"/>
              </a:ext>
            </a:extLst>
          </p:cNvPr>
          <p:cNvSpPr/>
          <p:nvPr/>
        </p:nvSpPr>
        <p:spPr>
          <a:xfrm>
            <a:off x="5338472" y="6091502"/>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Zombie</a:t>
            </a:r>
            <a:endParaRPr lang="en-US" dirty="0"/>
          </a:p>
        </p:txBody>
      </p:sp>
      <p:cxnSp>
        <p:nvCxnSpPr>
          <p:cNvPr id="76" name="Straight Arrow Connector 75">
            <a:extLst>
              <a:ext uri="{FF2B5EF4-FFF2-40B4-BE49-F238E27FC236}">
                <a16:creationId xmlns:a16="http://schemas.microsoft.com/office/drawing/2014/main" id="{7FA27DCE-D42D-B7F0-B44E-826553073C79}"/>
              </a:ext>
            </a:extLst>
          </p:cNvPr>
          <p:cNvCxnSpPr>
            <a:cxnSpLocks/>
          </p:cNvCxnSpPr>
          <p:nvPr/>
        </p:nvCxnSpPr>
        <p:spPr>
          <a:xfrm>
            <a:off x="6174435" y="5468455"/>
            <a:ext cx="2005848" cy="614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0D5F1FD2-895A-C6F5-C3DA-69C5C9CC498A}"/>
              </a:ext>
            </a:extLst>
          </p:cNvPr>
          <p:cNvSpPr/>
          <p:nvPr/>
        </p:nvSpPr>
        <p:spPr>
          <a:xfrm>
            <a:off x="7339843" y="6069091"/>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Deamon</a:t>
            </a:r>
            <a:endParaRPr lang="en-US" dirty="0"/>
          </a:p>
        </p:txBody>
      </p:sp>
    </p:spTree>
    <p:extLst>
      <p:ext uri="{BB962C8B-B14F-4D97-AF65-F5344CB8AC3E}">
        <p14:creationId xmlns:p14="http://schemas.microsoft.com/office/powerpoint/2010/main" val="99040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
                                        <p:tgtEl>
                                          <p:spTgt spid="1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par>
                                <p:cTn id="23" presetID="22" presetClass="entr" presetSubtype="4"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down)">
                                      <p:cBhvr>
                                        <p:cTn id="28" dur="500"/>
                                        <p:tgtEl>
                                          <p:spTgt spid="23"/>
                                        </p:tgtEl>
                                      </p:cBhvr>
                                    </p:animEffect>
                                  </p:childTnLst>
                                </p:cTn>
                              </p:par>
                              <p:par>
                                <p:cTn id="29" presetID="22" presetClass="entr" presetSubtype="4"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500"/>
                                        <p:tgtEl>
                                          <p:spTgt spid="2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down)">
                                      <p:cBhvr>
                                        <p:cTn id="34" dur="500"/>
                                        <p:tgtEl>
                                          <p:spTgt spid="26"/>
                                        </p:tgtEl>
                                      </p:cBhvr>
                                    </p:animEffect>
                                  </p:childTnLst>
                                </p:cTn>
                              </p:par>
                              <p:par>
                                <p:cTn id="35" presetID="22" presetClass="entr" presetSubtype="4"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down)">
                                      <p:cBhvr>
                                        <p:cTn id="37" dur="500"/>
                                        <p:tgtEl>
                                          <p:spTgt spid="2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down)">
                                      <p:cBhvr>
                                        <p:cTn id="40" dur="500"/>
                                        <p:tgtEl>
                                          <p:spTgt spid="28"/>
                                        </p:tgtEl>
                                      </p:cBhvr>
                                    </p:animEffect>
                                  </p:childTnLst>
                                </p:cTn>
                              </p:par>
                              <p:par>
                                <p:cTn id="41" presetID="22" presetClass="entr" presetSubtype="4"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down)">
                                      <p:cBhvr>
                                        <p:cTn id="43" dur="500"/>
                                        <p:tgtEl>
                                          <p:spTgt spid="31"/>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down)">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wipe(down)">
                                      <p:cBhvr>
                                        <p:cTn id="51" dur="580">
                                          <p:stCondLst>
                                            <p:cond delay="0"/>
                                          </p:stCondLst>
                                        </p:cTn>
                                        <p:tgtEl>
                                          <p:spTgt spid="42"/>
                                        </p:tgtEl>
                                      </p:cBhvr>
                                    </p:animEffect>
                                    <p:anim calcmode="lin" valueType="num">
                                      <p:cBhvr>
                                        <p:cTn id="52"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57" dur="26">
                                          <p:stCondLst>
                                            <p:cond delay="650"/>
                                          </p:stCondLst>
                                        </p:cTn>
                                        <p:tgtEl>
                                          <p:spTgt spid="42"/>
                                        </p:tgtEl>
                                      </p:cBhvr>
                                      <p:to x="100000" y="60000"/>
                                    </p:animScale>
                                    <p:animScale>
                                      <p:cBhvr>
                                        <p:cTn id="58" dur="166" decel="50000">
                                          <p:stCondLst>
                                            <p:cond delay="676"/>
                                          </p:stCondLst>
                                        </p:cTn>
                                        <p:tgtEl>
                                          <p:spTgt spid="42"/>
                                        </p:tgtEl>
                                      </p:cBhvr>
                                      <p:to x="100000" y="100000"/>
                                    </p:animScale>
                                    <p:animScale>
                                      <p:cBhvr>
                                        <p:cTn id="59" dur="26">
                                          <p:stCondLst>
                                            <p:cond delay="1312"/>
                                          </p:stCondLst>
                                        </p:cTn>
                                        <p:tgtEl>
                                          <p:spTgt spid="42"/>
                                        </p:tgtEl>
                                      </p:cBhvr>
                                      <p:to x="100000" y="80000"/>
                                    </p:animScale>
                                    <p:animScale>
                                      <p:cBhvr>
                                        <p:cTn id="60" dur="166" decel="50000">
                                          <p:stCondLst>
                                            <p:cond delay="1338"/>
                                          </p:stCondLst>
                                        </p:cTn>
                                        <p:tgtEl>
                                          <p:spTgt spid="42"/>
                                        </p:tgtEl>
                                      </p:cBhvr>
                                      <p:to x="100000" y="100000"/>
                                    </p:animScale>
                                    <p:animScale>
                                      <p:cBhvr>
                                        <p:cTn id="61" dur="26">
                                          <p:stCondLst>
                                            <p:cond delay="1642"/>
                                          </p:stCondLst>
                                        </p:cTn>
                                        <p:tgtEl>
                                          <p:spTgt spid="42"/>
                                        </p:tgtEl>
                                      </p:cBhvr>
                                      <p:to x="100000" y="90000"/>
                                    </p:animScale>
                                    <p:animScale>
                                      <p:cBhvr>
                                        <p:cTn id="62" dur="166" decel="50000">
                                          <p:stCondLst>
                                            <p:cond delay="1668"/>
                                          </p:stCondLst>
                                        </p:cTn>
                                        <p:tgtEl>
                                          <p:spTgt spid="42"/>
                                        </p:tgtEl>
                                      </p:cBhvr>
                                      <p:to x="100000" y="100000"/>
                                    </p:animScale>
                                    <p:animScale>
                                      <p:cBhvr>
                                        <p:cTn id="63" dur="26">
                                          <p:stCondLst>
                                            <p:cond delay="1808"/>
                                          </p:stCondLst>
                                        </p:cTn>
                                        <p:tgtEl>
                                          <p:spTgt spid="42"/>
                                        </p:tgtEl>
                                      </p:cBhvr>
                                      <p:to x="100000" y="95000"/>
                                    </p:animScale>
                                    <p:animScale>
                                      <p:cBhvr>
                                        <p:cTn id="64" dur="166" decel="50000">
                                          <p:stCondLst>
                                            <p:cond delay="1834"/>
                                          </p:stCondLst>
                                        </p:cTn>
                                        <p:tgtEl>
                                          <p:spTgt spid="42"/>
                                        </p:tgtEl>
                                      </p:cBhvr>
                                      <p:to x="100000" y="100000"/>
                                    </p:animScale>
                                  </p:childTnLst>
                                </p:cTn>
                              </p:par>
                              <p:par>
                                <p:cTn id="65" presetID="26"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wipe(down)">
                                      <p:cBhvr>
                                        <p:cTn id="67" dur="580">
                                          <p:stCondLst>
                                            <p:cond delay="0"/>
                                          </p:stCondLst>
                                        </p:cTn>
                                        <p:tgtEl>
                                          <p:spTgt spid="43"/>
                                        </p:tgtEl>
                                      </p:cBhvr>
                                    </p:animEffect>
                                    <p:anim calcmode="lin" valueType="num">
                                      <p:cBhvr>
                                        <p:cTn id="68" dur="1822"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69" dur="664"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70" dur="664" tmFilter="0, 0; 0.125,0.2665; 0.25,0.4; 0.375,0.465; 0.5,0.5;  0.625,0.535; 0.75,0.6; 0.875,0.7335; 1,1">
                                          <p:stCondLst>
                                            <p:cond delay="664"/>
                                          </p:stCondLst>
                                        </p:cTn>
                                        <p:tgtEl>
                                          <p:spTgt spid="43"/>
                                        </p:tgtEl>
                                        <p:attrNameLst>
                                          <p:attrName>ppt_y</p:attrName>
                                        </p:attrNameLst>
                                      </p:cBhvr>
                                      <p:tavLst>
                                        <p:tav tm="0" fmla="#ppt_y-sin(pi*$)/9">
                                          <p:val>
                                            <p:fltVal val="0"/>
                                          </p:val>
                                        </p:tav>
                                        <p:tav tm="100000">
                                          <p:val>
                                            <p:fltVal val="1"/>
                                          </p:val>
                                        </p:tav>
                                      </p:tavLst>
                                    </p:anim>
                                    <p:anim calcmode="lin" valueType="num">
                                      <p:cBhvr>
                                        <p:cTn id="71" dur="332" tmFilter="0, 0; 0.125,0.2665; 0.25,0.4; 0.375,0.465; 0.5,0.5;  0.625,0.535; 0.75,0.6; 0.875,0.7335; 1,1">
                                          <p:stCondLst>
                                            <p:cond delay="1324"/>
                                          </p:stCondLst>
                                        </p:cTn>
                                        <p:tgtEl>
                                          <p:spTgt spid="43"/>
                                        </p:tgtEl>
                                        <p:attrNameLst>
                                          <p:attrName>ppt_y</p:attrName>
                                        </p:attrNameLst>
                                      </p:cBhvr>
                                      <p:tavLst>
                                        <p:tav tm="0" fmla="#ppt_y-sin(pi*$)/27">
                                          <p:val>
                                            <p:fltVal val="0"/>
                                          </p:val>
                                        </p:tav>
                                        <p:tav tm="100000">
                                          <p:val>
                                            <p:fltVal val="1"/>
                                          </p:val>
                                        </p:tav>
                                      </p:tavLst>
                                    </p:anim>
                                    <p:anim calcmode="lin" valueType="num">
                                      <p:cBhvr>
                                        <p:cTn id="72" dur="164" tmFilter="0, 0; 0.125,0.2665; 0.25,0.4; 0.375,0.465; 0.5,0.5;  0.625,0.535; 0.75,0.6; 0.875,0.7335; 1,1">
                                          <p:stCondLst>
                                            <p:cond delay="1656"/>
                                          </p:stCondLst>
                                        </p:cTn>
                                        <p:tgtEl>
                                          <p:spTgt spid="43"/>
                                        </p:tgtEl>
                                        <p:attrNameLst>
                                          <p:attrName>ppt_y</p:attrName>
                                        </p:attrNameLst>
                                      </p:cBhvr>
                                      <p:tavLst>
                                        <p:tav tm="0" fmla="#ppt_y-sin(pi*$)/81">
                                          <p:val>
                                            <p:fltVal val="0"/>
                                          </p:val>
                                        </p:tav>
                                        <p:tav tm="100000">
                                          <p:val>
                                            <p:fltVal val="1"/>
                                          </p:val>
                                        </p:tav>
                                      </p:tavLst>
                                    </p:anim>
                                    <p:animScale>
                                      <p:cBhvr>
                                        <p:cTn id="73" dur="26">
                                          <p:stCondLst>
                                            <p:cond delay="650"/>
                                          </p:stCondLst>
                                        </p:cTn>
                                        <p:tgtEl>
                                          <p:spTgt spid="43"/>
                                        </p:tgtEl>
                                      </p:cBhvr>
                                      <p:to x="100000" y="60000"/>
                                    </p:animScale>
                                    <p:animScale>
                                      <p:cBhvr>
                                        <p:cTn id="74" dur="166" decel="50000">
                                          <p:stCondLst>
                                            <p:cond delay="676"/>
                                          </p:stCondLst>
                                        </p:cTn>
                                        <p:tgtEl>
                                          <p:spTgt spid="43"/>
                                        </p:tgtEl>
                                      </p:cBhvr>
                                      <p:to x="100000" y="100000"/>
                                    </p:animScale>
                                    <p:animScale>
                                      <p:cBhvr>
                                        <p:cTn id="75" dur="26">
                                          <p:stCondLst>
                                            <p:cond delay="1312"/>
                                          </p:stCondLst>
                                        </p:cTn>
                                        <p:tgtEl>
                                          <p:spTgt spid="43"/>
                                        </p:tgtEl>
                                      </p:cBhvr>
                                      <p:to x="100000" y="80000"/>
                                    </p:animScale>
                                    <p:animScale>
                                      <p:cBhvr>
                                        <p:cTn id="76" dur="166" decel="50000">
                                          <p:stCondLst>
                                            <p:cond delay="1338"/>
                                          </p:stCondLst>
                                        </p:cTn>
                                        <p:tgtEl>
                                          <p:spTgt spid="43"/>
                                        </p:tgtEl>
                                      </p:cBhvr>
                                      <p:to x="100000" y="100000"/>
                                    </p:animScale>
                                    <p:animScale>
                                      <p:cBhvr>
                                        <p:cTn id="77" dur="26">
                                          <p:stCondLst>
                                            <p:cond delay="1642"/>
                                          </p:stCondLst>
                                        </p:cTn>
                                        <p:tgtEl>
                                          <p:spTgt spid="43"/>
                                        </p:tgtEl>
                                      </p:cBhvr>
                                      <p:to x="100000" y="90000"/>
                                    </p:animScale>
                                    <p:animScale>
                                      <p:cBhvr>
                                        <p:cTn id="78" dur="166" decel="50000">
                                          <p:stCondLst>
                                            <p:cond delay="1668"/>
                                          </p:stCondLst>
                                        </p:cTn>
                                        <p:tgtEl>
                                          <p:spTgt spid="43"/>
                                        </p:tgtEl>
                                      </p:cBhvr>
                                      <p:to x="100000" y="100000"/>
                                    </p:animScale>
                                    <p:animScale>
                                      <p:cBhvr>
                                        <p:cTn id="79" dur="26">
                                          <p:stCondLst>
                                            <p:cond delay="1808"/>
                                          </p:stCondLst>
                                        </p:cTn>
                                        <p:tgtEl>
                                          <p:spTgt spid="43"/>
                                        </p:tgtEl>
                                      </p:cBhvr>
                                      <p:to x="100000" y="95000"/>
                                    </p:animScale>
                                    <p:animScale>
                                      <p:cBhvr>
                                        <p:cTn id="80" dur="166" decel="50000">
                                          <p:stCondLst>
                                            <p:cond delay="1834"/>
                                          </p:stCondLst>
                                        </p:cTn>
                                        <p:tgtEl>
                                          <p:spTgt spid="43"/>
                                        </p:tgtEl>
                                      </p:cBhvr>
                                      <p:to x="100000" y="100000"/>
                                    </p:animScale>
                                  </p:childTnLst>
                                </p:cTn>
                              </p:par>
                              <p:par>
                                <p:cTn id="81" presetID="26" presetClass="entr" presetSubtype="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down)">
                                      <p:cBhvr>
                                        <p:cTn id="83" dur="580">
                                          <p:stCondLst>
                                            <p:cond delay="0"/>
                                          </p:stCondLst>
                                        </p:cTn>
                                        <p:tgtEl>
                                          <p:spTgt spid="44"/>
                                        </p:tgtEl>
                                      </p:cBhvr>
                                    </p:animEffect>
                                    <p:anim calcmode="lin" valueType="num">
                                      <p:cBhvr>
                                        <p:cTn id="84"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85"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86"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87"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88"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89" dur="26">
                                          <p:stCondLst>
                                            <p:cond delay="650"/>
                                          </p:stCondLst>
                                        </p:cTn>
                                        <p:tgtEl>
                                          <p:spTgt spid="44"/>
                                        </p:tgtEl>
                                      </p:cBhvr>
                                      <p:to x="100000" y="60000"/>
                                    </p:animScale>
                                    <p:animScale>
                                      <p:cBhvr>
                                        <p:cTn id="90" dur="166" decel="50000">
                                          <p:stCondLst>
                                            <p:cond delay="676"/>
                                          </p:stCondLst>
                                        </p:cTn>
                                        <p:tgtEl>
                                          <p:spTgt spid="44"/>
                                        </p:tgtEl>
                                      </p:cBhvr>
                                      <p:to x="100000" y="100000"/>
                                    </p:animScale>
                                    <p:animScale>
                                      <p:cBhvr>
                                        <p:cTn id="91" dur="26">
                                          <p:stCondLst>
                                            <p:cond delay="1312"/>
                                          </p:stCondLst>
                                        </p:cTn>
                                        <p:tgtEl>
                                          <p:spTgt spid="44"/>
                                        </p:tgtEl>
                                      </p:cBhvr>
                                      <p:to x="100000" y="80000"/>
                                    </p:animScale>
                                    <p:animScale>
                                      <p:cBhvr>
                                        <p:cTn id="92" dur="166" decel="50000">
                                          <p:stCondLst>
                                            <p:cond delay="1338"/>
                                          </p:stCondLst>
                                        </p:cTn>
                                        <p:tgtEl>
                                          <p:spTgt spid="44"/>
                                        </p:tgtEl>
                                      </p:cBhvr>
                                      <p:to x="100000" y="100000"/>
                                    </p:animScale>
                                    <p:animScale>
                                      <p:cBhvr>
                                        <p:cTn id="93" dur="26">
                                          <p:stCondLst>
                                            <p:cond delay="1642"/>
                                          </p:stCondLst>
                                        </p:cTn>
                                        <p:tgtEl>
                                          <p:spTgt spid="44"/>
                                        </p:tgtEl>
                                      </p:cBhvr>
                                      <p:to x="100000" y="90000"/>
                                    </p:animScale>
                                    <p:animScale>
                                      <p:cBhvr>
                                        <p:cTn id="94" dur="166" decel="50000">
                                          <p:stCondLst>
                                            <p:cond delay="1668"/>
                                          </p:stCondLst>
                                        </p:cTn>
                                        <p:tgtEl>
                                          <p:spTgt spid="44"/>
                                        </p:tgtEl>
                                      </p:cBhvr>
                                      <p:to x="100000" y="100000"/>
                                    </p:animScale>
                                    <p:animScale>
                                      <p:cBhvr>
                                        <p:cTn id="95" dur="26">
                                          <p:stCondLst>
                                            <p:cond delay="1808"/>
                                          </p:stCondLst>
                                        </p:cTn>
                                        <p:tgtEl>
                                          <p:spTgt spid="44"/>
                                        </p:tgtEl>
                                      </p:cBhvr>
                                      <p:to x="100000" y="95000"/>
                                    </p:animScale>
                                    <p:animScale>
                                      <p:cBhvr>
                                        <p:cTn id="96" dur="166" decel="50000">
                                          <p:stCondLst>
                                            <p:cond delay="1834"/>
                                          </p:stCondLst>
                                        </p:cTn>
                                        <p:tgtEl>
                                          <p:spTgt spid="44"/>
                                        </p:tgtEl>
                                      </p:cBhvr>
                                      <p:to x="100000" y="100000"/>
                                    </p:animScale>
                                  </p:childTnLst>
                                </p:cTn>
                              </p:par>
                              <p:par>
                                <p:cTn id="97" presetID="26" presetClass="entr" presetSubtype="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down)">
                                      <p:cBhvr>
                                        <p:cTn id="99" dur="580">
                                          <p:stCondLst>
                                            <p:cond delay="0"/>
                                          </p:stCondLst>
                                        </p:cTn>
                                        <p:tgtEl>
                                          <p:spTgt spid="45"/>
                                        </p:tgtEl>
                                      </p:cBhvr>
                                    </p:animEffect>
                                    <p:anim calcmode="lin" valueType="num">
                                      <p:cBhvr>
                                        <p:cTn id="100" dur="1822"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101" dur="664"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102" dur="664" tmFilter="0, 0; 0.125,0.2665; 0.25,0.4; 0.375,0.465; 0.5,0.5;  0.625,0.535; 0.75,0.6; 0.875,0.7335; 1,1">
                                          <p:stCondLst>
                                            <p:cond delay="664"/>
                                          </p:stCondLst>
                                        </p:cTn>
                                        <p:tgtEl>
                                          <p:spTgt spid="45"/>
                                        </p:tgtEl>
                                        <p:attrNameLst>
                                          <p:attrName>ppt_y</p:attrName>
                                        </p:attrNameLst>
                                      </p:cBhvr>
                                      <p:tavLst>
                                        <p:tav tm="0" fmla="#ppt_y-sin(pi*$)/9">
                                          <p:val>
                                            <p:fltVal val="0"/>
                                          </p:val>
                                        </p:tav>
                                        <p:tav tm="100000">
                                          <p:val>
                                            <p:fltVal val="1"/>
                                          </p:val>
                                        </p:tav>
                                      </p:tavLst>
                                    </p:anim>
                                    <p:anim calcmode="lin" valueType="num">
                                      <p:cBhvr>
                                        <p:cTn id="103" dur="332" tmFilter="0, 0; 0.125,0.2665; 0.25,0.4; 0.375,0.465; 0.5,0.5;  0.625,0.535; 0.75,0.6; 0.875,0.7335; 1,1">
                                          <p:stCondLst>
                                            <p:cond delay="1324"/>
                                          </p:stCondLst>
                                        </p:cTn>
                                        <p:tgtEl>
                                          <p:spTgt spid="45"/>
                                        </p:tgtEl>
                                        <p:attrNameLst>
                                          <p:attrName>ppt_y</p:attrName>
                                        </p:attrNameLst>
                                      </p:cBhvr>
                                      <p:tavLst>
                                        <p:tav tm="0" fmla="#ppt_y-sin(pi*$)/27">
                                          <p:val>
                                            <p:fltVal val="0"/>
                                          </p:val>
                                        </p:tav>
                                        <p:tav tm="100000">
                                          <p:val>
                                            <p:fltVal val="1"/>
                                          </p:val>
                                        </p:tav>
                                      </p:tavLst>
                                    </p:anim>
                                    <p:anim calcmode="lin" valueType="num">
                                      <p:cBhvr>
                                        <p:cTn id="104" dur="164" tmFilter="0, 0; 0.125,0.2665; 0.25,0.4; 0.375,0.465; 0.5,0.5;  0.625,0.535; 0.75,0.6; 0.875,0.7335; 1,1">
                                          <p:stCondLst>
                                            <p:cond delay="1656"/>
                                          </p:stCondLst>
                                        </p:cTn>
                                        <p:tgtEl>
                                          <p:spTgt spid="45"/>
                                        </p:tgtEl>
                                        <p:attrNameLst>
                                          <p:attrName>ppt_y</p:attrName>
                                        </p:attrNameLst>
                                      </p:cBhvr>
                                      <p:tavLst>
                                        <p:tav tm="0" fmla="#ppt_y-sin(pi*$)/81">
                                          <p:val>
                                            <p:fltVal val="0"/>
                                          </p:val>
                                        </p:tav>
                                        <p:tav tm="100000">
                                          <p:val>
                                            <p:fltVal val="1"/>
                                          </p:val>
                                        </p:tav>
                                      </p:tavLst>
                                    </p:anim>
                                    <p:animScale>
                                      <p:cBhvr>
                                        <p:cTn id="105" dur="26">
                                          <p:stCondLst>
                                            <p:cond delay="650"/>
                                          </p:stCondLst>
                                        </p:cTn>
                                        <p:tgtEl>
                                          <p:spTgt spid="45"/>
                                        </p:tgtEl>
                                      </p:cBhvr>
                                      <p:to x="100000" y="60000"/>
                                    </p:animScale>
                                    <p:animScale>
                                      <p:cBhvr>
                                        <p:cTn id="106" dur="166" decel="50000">
                                          <p:stCondLst>
                                            <p:cond delay="676"/>
                                          </p:stCondLst>
                                        </p:cTn>
                                        <p:tgtEl>
                                          <p:spTgt spid="45"/>
                                        </p:tgtEl>
                                      </p:cBhvr>
                                      <p:to x="100000" y="100000"/>
                                    </p:animScale>
                                    <p:animScale>
                                      <p:cBhvr>
                                        <p:cTn id="107" dur="26">
                                          <p:stCondLst>
                                            <p:cond delay="1312"/>
                                          </p:stCondLst>
                                        </p:cTn>
                                        <p:tgtEl>
                                          <p:spTgt spid="45"/>
                                        </p:tgtEl>
                                      </p:cBhvr>
                                      <p:to x="100000" y="80000"/>
                                    </p:animScale>
                                    <p:animScale>
                                      <p:cBhvr>
                                        <p:cTn id="108" dur="166" decel="50000">
                                          <p:stCondLst>
                                            <p:cond delay="1338"/>
                                          </p:stCondLst>
                                        </p:cTn>
                                        <p:tgtEl>
                                          <p:spTgt spid="45"/>
                                        </p:tgtEl>
                                      </p:cBhvr>
                                      <p:to x="100000" y="100000"/>
                                    </p:animScale>
                                    <p:animScale>
                                      <p:cBhvr>
                                        <p:cTn id="109" dur="26">
                                          <p:stCondLst>
                                            <p:cond delay="1642"/>
                                          </p:stCondLst>
                                        </p:cTn>
                                        <p:tgtEl>
                                          <p:spTgt spid="45"/>
                                        </p:tgtEl>
                                      </p:cBhvr>
                                      <p:to x="100000" y="90000"/>
                                    </p:animScale>
                                    <p:animScale>
                                      <p:cBhvr>
                                        <p:cTn id="110" dur="166" decel="50000">
                                          <p:stCondLst>
                                            <p:cond delay="1668"/>
                                          </p:stCondLst>
                                        </p:cTn>
                                        <p:tgtEl>
                                          <p:spTgt spid="45"/>
                                        </p:tgtEl>
                                      </p:cBhvr>
                                      <p:to x="100000" y="100000"/>
                                    </p:animScale>
                                    <p:animScale>
                                      <p:cBhvr>
                                        <p:cTn id="111" dur="26">
                                          <p:stCondLst>
                                            <p:cond delay="1808"/>
                                          </p:stCondLst>
                                        </p:cTn>
                                        <p:tgtEl>
                                          <p:spTgt spid="45"/>
                                        </p:tgtEl>
                                      </p:cBhvr>
                                      <p:to x="100000" y="95000"/>
                                    </p:animScale>
                                    <p:animScale>
                                      <p:cBhvr>
                                        <p:cTn id="112" dur="166" decel="50000">
                                          <p:stCondLst>
                                            <p:cond delay="1834"/>
                                          </p:stCondLst>
                                        </p:cTn>
                                        <p:tgtEl>
                                          <p:spTgt spid="45"/>
                                        </p:tgtEl>
                                      </p:cBhvr>
                                      <p:to x="100000" y="100000"/>
                                    </p:animScale>
                                  </p:childTnLst>
                                </p:cTn>
                              </p:par>
                              <p:par>
                                <p:cTn id="113" presetID="26" presetClass="entr" presetSubtype="0" fill="hold" nodeType="withEffect">
                                  <p:stCondLst>
                                    <p:cond delay="0"/>
                                  </p:stCondLst>
                                  <p:childTnLst>
                                    <p:set>
                                      <p:cBhvr>
                                        <p:cTn id="114" dur="1" fill="hold">
                                          <p:stCondLst>
                                            <p:cond delay="0"/>
                                          </p:stCondLst>
                                        </p:cTn>
                                        <p:tgtEl>
                                          <p:spTgt spid="46"/>
                                        </p:tgtEl>
                                        <p:attrNameLst>
                                          <p:attrName>style.visibility</p:attrName>
                                        </p:attrNameLst>
                                      </p:cBhvr>
                                      <p:to>
                                        <p:strVal val="visible"/>
                                      </p:to>
                                    </p:set>
                                    <p:animEffect transition="in" filter="wipe(down)">
                                      <p:cBhvr>
                                        <p:cTn id="115" dur="580">
                                          <p:stCondLst>
                                            <p:cond delay="0"/>
                                          </p:stCondLst>
                                        </p:cTn>
                                        <p:tgtEl>
                                          <p:spTgt spid="46"/>
                                        </p:tgtEl>
                                      </p:cBhvr>
                                    </p:animEffect>
                                    <p:anim calcmode="lin" valueType="num">
                                      <p:cBhvr>
                                        <p:cTn id="116"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121" dur="26">
                                          <p:stCondLst>
                                            <p:cond delay="650"/>
                                          </p:stCondLst>
                                        </p:cTn>
                                        <p:tgtEl>
                                          <p:spTgt spid="46"/>
                                        </p:tgtEl>
                                      </p:cBhvr>
                                      <p:to x="100000" y="60000"/>
                                    </p:animScale>
                                    <p:animScale>
                                      <p:cBhvr>
                                        <p:cTn id="122" dur="166" decel="50000">
                                          <p:stCondLst>
                                            <p:cond delay="676"/>
                                          </p:stCondLst>
                                        </p:cTn>
                                        <p:tgtEl>
                                          <p:spTgt spid="46"/>
                                        </p:tgtEl>
                                      </p:cBhvr>
                                      <p:to x="100000" y="100000"/>
                                    </p:animScale>
                                    <p:animScale>
                                      <p:cBhvr>
                                        <p:cTn id="123" dur="26">
                                          <p:stCondLst>
                                            <p:cond delay="1312"/>
                                          </p:stCondLst>
                                        </p:cTn>
                                        <p:tgtEl>
                                          <p:spTgt spid="46"/>
                                        </p:tgtEl>
                                      </p:cBhvr>
                                      <p:to x="100000" y="80000"/>
                                    </p:animScale>
                                    <p:animScale>
                                      <p:cBhvr>
                                        <p:cTn id="124" dur="166" decel="50000">
                                          <p:stCondLst>
                                            <p:cond delay="1338"/>
                                          </p:stCondLst>
                                        </p:cTn>
                                        <p:tgtEl>
                                          <p:spTgt spid="46"/>
                                        </p:tgtEl>
                                      </p:cBhvr>
                                      <p:to x="100000" y="100000"/>
                                    </p:animScale>
                                    <p:animScale>
                                      <p:cBhvr>
                                        <p:cTn id="125" dur="26">
                                          <p:stCondLst>
                                            <p:cond delay="1642"/>
                                          </p:stCondLst>
                                        </p:cTn>
                                        <p:tgtEl>
                                          <p:spTgt spid="46"/>
                                        </p:tgtEl>
                                      </p:cBhvr>
                                      <p:to x="100000" y="90000"/>
                                    </p:animScale>
                                    <p:animScale>
                                      <p:cBhvr>
                                        <p:cTn id="126" dur="166" decel="50000">
                                          <p:stCondLst>
                                            <p:cond delay="1668"/>
                                          </p:stCondLst>
                                        </p:cTn>
                                        <p:tgtEl>
                                          <p:spTgt spid="46"/>
                                        </p:tgtEl>
                                      </p:cBhvr>
                                      <p:to x="100000" y="100000"/>
                                    </p:animScale>
                                    <p:animScale>
                                      <p:cBhvr>
                                        <p:cTn id="127" dur="26">
                                          <p:stCondLst>
                                            <p:cond delay="1808"/>
                                          </p:stCondLst>
                                        </p:cTn>
                                        <p:tgtEl>
                                          <p:spTgt spid="46"/>
                                        </p:tgtEl>
                                      </p:cBhvr>
                                      <p:to x="100000" y="95000"/>
                                    </p:animScale>
                                    <p:animScale>
                                      <p:cBhvr>
                                        <p:cTn id="128" dur="166" decel="50000">
                                          <p:stCondLst>
                                            <p:cond delay="1834"/>
                                          </p:stCondLst>
                                        </p:cTn>
                                        <p:tgtEl>
                                          <p:spTgt spid="46"/>
                                        </p:tgtEl>
                                      </p:cBhvr>
                                      <p:to x="100000" y="100000"/>
                                    </p:animScale>
                                  </p:childTnLst>
                                </p:cTn>
                              </p:par>
                              <p:par>
                                <p:cTn id="129" presetID="26"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wipe(down)">
                                      <p:cBhvr>
                                        <p:cTn id="131" dur="580">
                                          <p:stCondLst>
                                            <p:cond delay="0"/>
                                          </p:stCondLst>
                                        </p:cTn>
                                        <p:tgtEl>
                                          <p:spTgt spid="47"/>
                                        </p:tgtEl>
                                      </p:cBhvr>
                                    </p:animEffect>
                                    <p:anim calcmode="lin" valueType="num">
                                      <p:cBhvr>
                                        <p:cTn id="132" dur="1822"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133" dur="664"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134" dur="664" tmFilter="0, 0; 0.125,0.2665; 0.25,0.4; 0.375,0.465; 0.5,0.5;  0.625,0.535; 0.75,0.6; 0.875,0.7335; 1,1">
                                          <p:stCondLst>
                                            <p:cond delay="664"/>
                                          </p:stCondLst>
                                        </p:cTn>
                                        <p:tgtEl>
                                          <p:spTgt spid="47"/>
                                        </p:tgtEl>
                                        <p:attrNameLst>
                                          <p:attrName>ppt_y</p:attrName>
                                        </p:attrNameLst>
                                      </p:cBhvr>
                                      <p:tavLst>
                                        <p:tav tm="0" fmla="#ppt_y-sin(pi*$)/9">
                                          <p:val>
                                            <p:fltVal val="0"/>
                                          </p:val>
                                        </p:tav>
                                        <p:tav tm="100000">
                                          <p:val>
                                            <p:fltVal val="1"/>
                                          </p:val>
                                        </p:tav>
                                      </p:tavLst>
                                    </p:anim>
                                    <p:anim calcmode="lin" valueType="num">
                                      <p:cBhvr>
                                        <p:cTn id="135" dur="332" tmFilter="0, 0; 0.125,0.2665; 0.25,0.4; 0.375,0.465; 0.5,0.5;  0.625,0.535; 0.75,0.6; 0.875,0.7335; 1,1">
                                          <p:stCondLst>
                                            <p:cond delay="1324"/>
                                          </p:stCondLst>
                                        </p:cTn>
                                        <p:tgtEl>
                                          <p:spTgt spid="47"/>
                                        </p:tgtEl>
                                        <p:attrNameLst>
                                          <p:attrName>ppt_y</p:attrName>
                                        </p:attrNameLst>
                                      </p:cBhvr>
                                      <p:tavLst>
                                        <p:tav tm="0" fmla="#ppt_y-sin(pi*$)/27">
                                          <p:val>
                                            <p:fltVal val="0"/>
                                          </p:val>
                                        </p:tav>
                                        <p:tav tm="100000">
                                          <p:val>
                                            <p:fltVal val="1"/>
                                          </p:val>
                                        </p:tav>
                                      </p:tavLst>
                                    </p:anim>
                                    <p:anim calcmode="lin" valueType="num">
                                      <p:cBhvr>
                                        <p:cTn id="136" dur="164" tmFilter="0, 0; 0.125,0.2665; 0.25,0.4; 0.375,0.465; 0.5,0.5;  0.625,0.535; 0.75,0.6; 0.875,0.7335; 1,1">
                                          <p:stCondLst>
                                            <p:cond delay="1656"/>
                                          </p:stCondLst>
                                        </p:cTn>
                                        <p:tgtEl>
                                          <p:spTgt spid="47"/>
                                        </p:tgtEl>
                                        <p:attrNameLst>
                                          <p:attrName>ppt_y</p:attrName>
                                        </p:attrNameLst>
                                      </p:cBhvr>
                                      <p:tavLst>
                                        <p:tav tm="0" fmla="#ppt_y-sin(pi*$)/81">
                                          <p:val>
                                            <p:fltVal val="0"/>
                                          </p:val>
                                        </p:tav>
                                        <p:tav tm="100000">
                                          <p:val>
                                            <p:fltVal val="1"/>
                                          </p:val>
                                        </p:tav>
                                      </p:tavLst>
                                    </p:anim>
                                    <p:animScale>
                                      <p:cBhvr>
                                        <p:cTn id="137" dur="26">
                                          <p:stCondLst>
                                            <p:cond delay="650"/>
                                          </p:stCondLst>
                                        </p:cTn>
                                        <p:tgtEl>
                                          <p:spTgt spid="47"/>
                                        </p:tgtEl>
                                      </p:cBhvr>
                                      <p:to x="100000" y="60000"/>
                                    </p:animScale>
                                    <p:animScale>
                                      <p:cBhvr>
                                        <p:cTn id="138" dur="166" decel="50000">
                                          <p:stCondLst>
                                            <p:cond delay="676"/>
                                          </p:stCondLst>
                                        </p:cTn>
                                        <p:tgtEl>
                                          <p:spTgt spid="47"/>
                                        </p:tgtEl>
                                      </p:cBhvr>
                                      <p:to x="100000" y="100000"/>
                                    </p:animScale>
                                    <p:animScale>
                                      <p:cBhvr>
                                        <p:cTn id="139" dur="26">
                                          <p:stCondLst>
                                            <p:cond delay="1312"/>
                                          </p:stCondLst>
                                        </p:cTn>
                                        <p:tgtEl>
                                          <p:spTgt spid="47"/>
                                        </p:tgtEl>
                                      </p:cBhvr>
                                      <p:to x="100000" y="80000"/>
                                    </p:animScale>
                                    <p:animScale>
                                      <p:cBhvr>
                                        <p:cTn id="140" dur="166" decel="50000">
                                          <p:stCondLst>
                                            <p:cond delay="1338"/>
                                          </p:stCondLst>
                                        </p:cTn>
                                        <p:tgtEl>
                                          <p:spTgt spid="47"/>
                                        </p:tgtEl>
                                      </p:cBhvr>
                                      <p:to x="100000" y="100000"/>
                                    </p:animScale>
                                    <p:animScale>
                                      <p:cBhvr>
                                        <p:cTn id="141" dur="26">
                                          <p:stCondLst>
                                            <p:cond delay="1642"/>
                                          </p:stCondLst>
                                        </p:cTn>
                                        <p:tgtEl>
                                          <p:spTgt spid="47"/>
                                        </p:tgtEl>
                                      </p:cBhvr>
                                      <p:to x="100000" y="90000"/>
                                    </p:animScale>
                                    <p:animScale>
                                      <p:cBhvr>
                                        <p:cTn id="142" dur="166" decel="50000">
                                          <p:stCondLst>
                                            <p:cond delay="1668"/>
                                          </p:stCondLst>
                                        </p:cTn>
                                        <p:tgtEl>
                                          <p:spTgt spid="47"/>
                                        </p:tgtEl>
                                      </p:cBhvr>
                                      <p:to x="100000" y="100000"/>
                                    </p:animScale>
                                    <p:animScale>
                                      <p:cBhvr>
                                        <p:cTn id="143" dur="26">
                                          <p:stCondLst>
                                            <p:cond delay="1808"/>
                                          </p:stCondLst>
                                        </p:cTn>
                                        <p:tgtEl>
                                          <p:spTgt spid="47"/>
                                        </p:tgtEl>
                                      </p:cBhvr>
                                      <p:to x="100000" y="95000"/>
                                    </p:animScale>
                                    <p:animScale>
                                      <p:cBhvr>
                                        <p:cTn id="144" dur="166" decel="50000">
                                          <p:stCondLst>
                                            <p:cond delay="1834"/>
                                          </p:stCondLst>
                                        </p:cTn>
                                        <p:tgtEl>
                                          <p:spTgt spid="47"/>
                                        </p:tgtEl>
                                      </p:cBhvr>
                                      <p:to x="100000" y="100000"/>
                                    </p:animScale>
                                  </p:childTnLst>
                                </p:cTn>
                              </p:par>
                              <p:par>
                                <p:cTn id="145" presetID="26"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wipe(down)">
                                      <p:cBhvr>
                                        <p:cTn id="147" dur="580">
                                          <p:stCondLst>
                                            <p:cond delay="0"/>
                                          </p:stCondLst>
                                        </p:cTn>
                                        <p:tgtEl>
                                          <p:spTgt spid="50"/>
                                        </p:tgtEl>
                                      </p:cBhvr>
                                    </p:animEffect>
                                    <p:anim calcmode="lin" valueType="num">
                                      <p:cBhvr>
                                        <p:cTn id="148" dur="1822" tmFilter="0,0; 0.14,0.36; 0.43,0.73; 0.71,0.91; 1.0,1.0">
                                          <p:stCondLst>
                                            <p:cond delay="0"/>
                                          </p:stCondLst>
                                        </p:cTn>
                                        <p:tgtEl>
                                          <p:spTgt spid="50"/>
                                        </p:tgtEl>
                                        <p:attrNameLst>
                                          <p:attrName>ppt_x</p:attrName>
                                        </p:attrNameLst>
                                      </p:cBhvr>
                                      <p:tavLst>
                                        <p:tav tm="0">
                                          <p:val>
                                            <p:strVal val="#ppt_x-0.25"/>
                                          </p:val>
                                        </p:tav>
                                        <p:tav tm="100000">
                                          <p:val>
                                            <p:strVal val="#ppt_x"/>
                                          </p:val>
                                        </p:tav>
                                      </p:tavLst>
                                    </p:anim>
                                    <p:anim calcmode="lin" valueType="num">
                                      <p:cBhvr>
                                        <p:cTn id="149" dur="664" tmFilter="0.0,0.0; 0.25,0.07; 0.50,0.2; 0.75,0.467; 1.0,1.0">
                                          <p:stCondLst>
                                            <p:cond delay="0"/>
                                          </p:stCondLst>
                                        </p:cTn>
                                        <p:tgtEl>
                                          <p:spTgt spid="50"/>
                                        </p:tgtEl>
                                        <p:attrNameLst>
                                          <p:attrName>ppt_y</p:attrName>
                                        </p:attrNameLst>
                                      </p:cBhvr>
                                      <p:tavLst>
                                        <p:tav tm="0" fmla="#ppt_y-sin(pi*$)/3">
                                          <p:val>
                                            <p:fltVal val="0.5"/>
                                          </p:val>
                                        </p:tav>
                                        <p:tav tm="100000">
                                          <p:val>
                                            <p:fltVal val="1"/>
                                          </p:val>
                                        </p:tav>
                                      </p:tavLst>
                                    </p:anim>
                                    <p:anim calcmode="lin" valueType="num">
                                      <p:cBhvr>
                                        <p:cTn id="150" dur="664" tmFilter="0, 0; 0.125,0.2665; 0.25,0.4; 0.375,0.465; 0.5,0.5;  0.625,0.535; 0.75,0.6; 0.875,0.7335; 1,1">
                                          <p:stCondLst>
                                            <p:cond delay="664"/>
                                          </p:stCondLst>
                                        </p:cTn>
                                        <p:tgtEl>
                                          <p:spTgt spid="50"/>
                                        </p:tgtEl>
                                        <p:attrNameLst>
                                          <p:attrName>ppt_y</p:attrName>
                                        </p:attrNameLst>
                                      </p:cBhvr>
                                      <p:tavLst>
                                        <p:tav tm="0" fmla="#ppt_y-sin(pi*$)/9">
                                          <p:val>
                                            <p:fltVal val="0"/>
                                          </p:val>
                                        </p:tav>
                                        <p:tav tm="100000">
                                          <p:val>
                                            <p:fltVal val="1"/>
                                          </p:val>
                                        </p:tav>
                                      </p:tavLst>
                                    </p:anim>
                                    <p:anim calcmode="lin" valueType="num">
                                      <p:cBhvr>
                                        <p:cTn id="151" dur="332" tmFilter="0, 0; 0.125,0.2665; 0.25,0.4; 0.375,0.465; 0.5,0.5;  0.625,0.535; 0.75,0.6; 0.875,0.7335; 1,1">
                                          <p:stCondLst>
                                            <p:cond delay="1324"/>
                                          </p:stCondLst>
                                        </p:cTn>
                                        <p:tgtEl>
                                          <p:spTgt spid="50"/>
                                        </p:tgtEl>
                                        <p:attrNameLst>
                                          <p:attrName>ppt_y</p:attrName>
                                        </p:attrNameLst>
                                      </p:cBhvr>
                                      <p:tavLst>
                                        <p:tav tm="0" fmla="#ppt_y-sin(pi*$)/27">
                                          <p:val>
                                            <p:fltVal val="0"/>
                                          </p:val>
                                        </p:tav>
                                        <p:tav tm="100000">
                                          <p:val>
                                            <p:fltVal val="1"/>
                                          </p:val>
                                        </p:tav>
                                      </p:tavLst>
                                    </p:anim>
                                    <p:anim calcmode="lin" valueType="num">
                                      <p:cBhvr>
                                        <p:cTn id="152" dur="164" tmFilter="0, 0; 0.125,0.2665; 0.25,0.4; 0.375,0.465; 0.5,0.5;  0.625,0.535; 0.75,0.6; 0.875,0.7335; 1,1">
                                          <p:stCondLst>
                                            <p:cond delay="1656"/>
                                          </p:stCondLst>
                                        </p:cTn>
                                        <p:tgtEl>
                                          <p:spTgt spid="50"/>
                                        </p:tgtEl>
                                        <p:attrNameLst>
                                          <p:attrName>ppt_y</p:attrName>
                                        </p:attrNameLst>
                                      </p:cBhvr>
                                      <p:tavLst>
                                        <p:tav tm="0" fmla="#ppt_y-sin(pi*$)/81">
                                          <p:val>
                                            <p:fltVal val="0"/>
                                          </p:val>
                                        </p:tav>
                                        <p:tav tm="100000">
                                          <p:val>
                                            <p:fltVal val="1"/>
                                          </p:val>
                                        </p:tav>
                                      </p:tavLst>
                                    </p:anim>
                                    <p:animScale>
                                      <p:cBhvr>
                                        <p:cTn id="153" dur="26">
                                          <p:stCondLst>
                                            <p:cond delay="650"/>
                                          </p:stCondLst>
                                        </p:cTn>
                                        <p:tgtEl>
                                          <p:spTgt spid="50"/>
                                        </p:tgtEl>
                                      </p:cBhvr>
                                      <p:to x="100000" y="60000"/>
                                    </p:animScale>
                                    <p:animScale>
                                      <p:cBhvr>
                                        <p:cTn id="154" dur="166" decel="50000">
                                          <p:stCondLst>
                                            <p:cond delay="676"/>
                                          </p:stCondLst>
                                        </p:cTn>
                                        <p:tgtEl>
                                          <p:spTgt spid="50"/>
                                        </p:tgtEl>
                                      </p:cBhvr>
                                      <p:to x="100000" y="100000"/>
                                    </p:animScale>
                                    <p:animScale>
                                      <p:cBhvr>
                                        <p:cTn id="155" dur="26">
                                          <p:stCondLst>
                                            <p:cond delay="1312"/>
                                          </p:stCondLst>
                                        </p:cTn>
                                        <p:tgtEl>
                                          <p:spTgt spid="50"/>
                                        </p:tgtEl>
                                      </p:cBhvr>
                                      <p:to x="100000" y="80000"/>
                                    </p:animScale>
                                    <p:animScale>
                                      <p:cBhvr>
                                        <p:cTn id="156" dur="166" decel="50000">
                                          <p:stCondLst>
                                            <p:cond delay="1338"/>
                                          </p:stCondLst>
                                        </p:cTn>
                                        <p:tgtEl>
                                          <p:spTgt spid="50"/>
                                        </p:tgtEl>
                                      </p:cBhvr>
                                      <p:to x="100000" y="100000"/>
                                    </p:animScale>
                                    <p:animScale>
                                      <p:cBhvr>
                                        <p:cTn id="157" dur="26">
                                          <p:stCondLst>
                                            <p:cond delay="1642"/>
                                          </p:stCondLst>
                                        </p:cTn>
                                        <p:tgtEl>
                                          <p:spTgt spid="50"/>
                                        </p:tgtEl>
                                      </p:cBhvr>
                                      <p:to x="100000" y="90000"/>
                                    </p:animScale>
                                    <p:animScale>
                                      <p:cBhvr>
                                        <p:cTn id="158" dur="166" decel="50000">
                                          <p:stCondLst>
                                            <p:cond delay="1668"/>
                                          </p:stCondLst>
                                        </p:cTn>
                                        <p:tgtEl>
                                          <p:spTgt spid="50"/>
                                        </p:tgtEl>
                                      </p:cBhvr>
                                      <p:to x="100000" y="100000"/>
                                    </p:animScale>
                                    <p:animScale>
                                      <p:cBhvr>
                                        <p:cTn id="159" dur="26">
                                          <p:stCondLst>
                                            <p:cond delay="1808"/>
                                          </p:stCondLst>
                                        </p:cTn>
                                        <p:tgtEl>
                                          <p:spTgt spid="50"/>
                                        </p:tgtEl>
                                      </p:cBhvr>
                                      <p:to x="100000" y="95000"/>
                                    </p:animScale>
                                    <p:animScale>
                                      <p:cBhvr>
                                        <p:cTn id="160" dur="166" decel="50000">
                                          <p:stCondLst>
                                            <p:cond delay="1834"/>
                                          </p:stCondLst>
                                        </p:cTn>
                                        <p:tgtEl>
                                          <p:spTgt spid="50"/>
                                        </p:tgtEl>
                                      </p:cBhvr>
                                      <p:to x="100000" y="100000"/>
                                    </p:animScale>
                                  </p:childTnLst>
                                </p:cTn>
                              </p:par>
                              <p:par>
                                <p:cTn id="161" presetID="26" presetClass="entr" presetSubtype="0" fill="hold" grpId="0" nodeType="withEffect">
                                  <p:stCondLst>
                                    <p:cond delay="0"/>
                                  </p:stCondLst>
                                  <p:childTnLst>
                                    <p:set>
                                      <p:cBhvr>
                                        <p:cTn id="162" dur="1" fill="hold">
                                          <p:stCondLst>
                                            <p:cond delay="0"/>
                                          </p:stCondLst>
                                        </p:cTn>
                                        <p:tgtEl>
                                          <p:spTgt spid="51"/>
                                        </p:tgtEl>
                                        <p:attrNameLst>
                                          <p:attrName>style.visibility</p:attrName>
                                        </p:attrNameLst>
                                      </p:cBhvr>
                                      <p:to>
                                        <p:strVal val="visible"/>
                                      </p:to>
                                    </p:set>
                                    <p:animEffect transition="in" filter="wipe(down)">
                                      <p:cBhvr>
                                        <p:cTn id="163" dur="580">
                                          <p:stCondLst>
                                            <p:cond delay="0"/>
                                          </p:stCondLst>
                                        </p:cTn>
                                        <p:tgtEl>
                                          <p:spTgt spid="51"/>
                                        </p:tgtEl>
                                      </p:cBhvr>
                                    </p:animEffect>
                                    <p:anim calcmode="lin" valueType="num">
                                      <p:cBhvr>
                                        <p:cTn id="164" dur="1822" tmFilter="0,0; 0.14,0.36; 0.43,0.73; 0.71,0.91; 1.0,1.0">
                                          <p:stCondLst>
                                            <p:cond delay="0"/>
                                          </p:stCondLst>
                                        </p:cTn>
                                        <p:tgtEl>
                                          <p:spTgt spid="51"/>
                                        </p:tgtEl>
                                        <p:attrNameLst>
                                          <p:attrName>ppt_x</p:attrName>
                                        </p:attrNameLst>
                                      </p:cBhvr>
                                      <p:tavLst>
                                        <p:tav tm="0">
                                          <p:val>
                                            <p:strVal val="#ppt_x-0.25"/>
                                          </p:val>
                                        </p:tav>
                                        <p:tav tm="100000">
                                          <p:val>
                                            <p:strVal val="#ppt_x"/>
                                          </p:val>
                                        </p:tav>
                                      </p:tavLst>
                                    </p:anim>
                                    <p:anim calcmode="lin" valueType="num">
                                      <p:cBhvr>
                                        <p:cTn id="165" dur="664" tmFilter="0.0,0.0; 0.25,0.07; 0.50,0.2; 0.75,0.467; 1.0,1.0">
                                          <p:stCondLst>
                                            <p:cond delay="0"/>
                                          </p:stCondLst>
                                        </p:cTn>
                                        <p:tgtEl>
                                          <p:spTgt spid="51"/>
                                        </p:tgtEl>
                                        <p:attrNameLst>
                                          <p:attrName>ppt_y</p:attrName>
                                        </p:attrNameLst>
                                      </p:cBhvr>
                                      <p:tavLst>
                                        <p:tav tm="0" fmla="#ppt_y-sin(pi*$)/3">
                                          <p:val>
                                            <p:fltVal val="0.5"/>
                                          </p:val>
                                        </p:tav>
                                        <p:tav tm="100000">
                                          <p:val>
                                            <p:fltVal val="1"/>
                                          </p:val>
                                        </p:tav>
                                      </p:tavLst>
                                    </p:anim>
                                    <p:anim calcmode="lin" valueType="num">
                                      <p:cBhvr>
                                        <p:cTn id="166" dur="664" tmFilter="0, 0; 0.125,0.2665; 0.25,0.4; 0.375,0.465; 0.5,0.5;  0.625,0.535; 0.75,0.6; 0.875,0.7335; 1,1">
                                          <p:stCondLst>
                                            <p:cond delay="664"/>
                                          </p:stCondLst>
                                        </p:cTn>
                                        <p:tgtEl>
                                          <p:spTgt spid="51"/>
                                        </p:tgtEl>
                                        <p:attrNameLst>
                                          <p:attrName>ppt_y</p:attrName>
                                        </p:attrNameLst>
                                      </p:cBhvr>
                                      <p:tavLst>
                                        <p:tav tm="0" fmla="#ppt_y-sin(pi*$)/9">
                                          <p:val>
                                            <p:fltVal val="0"/>
                                          </p:val>
                                        </p:tav>
                                        <p:tav tm="100000">
                                          <p:val>
                                            <p:fltVal val="1"/>
                                          </p:val>
                                        </p:tav>
                                      </p:tavLst>
                                    </p:anim>
                                    <p:anim calcmode="lin" valueType="num">
                                      <p:cBhvr>
                                        <p:cTn id="167" dur="332" tmFilter="0, 0; 0.125,0.2665; 0.25,0.4; 0.375,0.465; 0.5,0.5;  0.625,0.535; 0.75,0.6; 0.875,0.7335; 1,1">
                                          <p:stCondLst>
                                            <p:cond delay="1324"/>
                                          </p:stCondLst>
                                        </p:cTn>
                                        <p:tgtEl>
                                          <p:spTgt spid="51"/>
                                        </p:tgtEl>
                                        <p:attrNameLst>
                                          <p:attrName>ppt_y</p:attrName>
                                        </p:attrNameLst>
                                      </p:cBhvr>
                                      <p:tavLst>
                                        <p:tav tm="0" fmla="#ppt_y-sin(pi*$)/27">
                                          <p:val>
                                            <p:fltVal val="0"/>
                                          </p:val>
                                        </p:tav>
                                        <p:tav tm="100000">
                                          <p:val>
                                            <p:fltVal val="1"/>
                                          </p:val>
                                        </p:tav>
                                      </p:tavLst>
                                    </p:anim>
                                    <p:anim calcmode="lin" valueType="num">
                                      <p:cBhvr>
                                        <p:cTn id="168" dur="164" tmFilter="0, 0; 0.125,0.2665; 0.25,0.4; 0.375,0.465; 0.5,0.5;  0.625,0.535; 0.75,0.6; 0.875,0.7335; 1,1">
                                          <p:stCondLst>
                                            <p:cond delay="1656"/>
                                          </p:stCondLst>
                                        </p:cTn>
                                        <p:tgtEl>
                                          <p:spTgt spid="51"/>
                                        </p:tgtEl>
                                        <p:attrNameLst>
                                          <p:attrName>ppt_y</p:attrName>
                                        </p:attrNameLst>
                                      </p:cBhvr>
                                      <p:tavLst>
                                        <p:tav tm="0" fmla="#ppt_y-sin(pi*$)/81">
                                          <p:val>
                                            <p:fltVal val="0"/>
                                          </p:val>
                                        </p:tav>
                                        <p:tav tm="100000">
                                          <p:val>
                                            <p:fltVal val="1"/>
                                          </p:val>
                                        </p:tav>
                                      </p:tavLst>
                                    </p:anim>
                                    <p:animScale>
                                      <p:cBhvr>
                                        <p:cTn id="169" dur="26">
                                          <p:stCondLst>
                                            <p:cond delay="650"/>
                                          </p:stCondLst>
                                        </p:cTn>
                                        <p:tgtEl>
                                          <p:spTgt spid="51"/>
                                        </p:tgtEl>
                                      </p:cBhvr>
                                      <p:to x="100000" y="60000"/>
                                    </p:animScale>
                                    <p:animScale>
                                      <p:cBhvr>
                                        <p:cTn id="170" dur="166" decel="50000">
                                          <p:stCondLst>
                                            <p:cond delay="676"/>
                                          </p:stCondLst>
                                        </p:cTn>
                                        <p:tgtEl>
                                          <p:spTgt spid="51"/>
                                        </p:tgtEl>
                                      </p:cBhvr>
                                      <p:to x="100000" y="100000"/>
                                    </p:animScale>
                                    <p:animScale>
                                      <p:cBhvr>
                                        <p:cTn id="171" dur="26">
                                          <p:stCondLst>
                                            <p:cond delay="1312"/>
                                          </p:stCondLst>
                                        </p:cTn>
                                        <p:tgtEl>
                                          <p:spTgt spid="51"/>
                                        </p:tgtEl>
                                      </p:cBhvr>
                                      <p:to x="100000" y="80000"/>
                                    </p:animScale>
                                    <p:animScale>
                                      <p:cBhvr>
                                        <p:cTn id="172" dur="166" decel="50000">
                                          <p:stCondLst>
                                            <p:cond delay="1338"/>
                                          </p:stCondLst>
                                        </p:cTn>
                                        <p:tgtEl>
                                          <p:spTgt spid="51"/>
                                        </p:tgtEl>
                                      </p:cBhvr>
                                      <p:to x="100000" y="100000"/>
                                    </p:animScale>
                                    <p:animScale>
                                      <p:cBhvr>
                                        <p:cTn id="173" dur="26">
                                          <p:stCondLst>
                                            <p:cond delay="1642"/>
                                          </p:stCondLst>
                                        </p:cTn>
                                        <p:tgtEl>
                                          <p:spTgt spid="51"/>
                                        </p:tgtEl>
                                      </p:cBhvr>
                                      <p:to x="100000" y="90000"/>
                                    </p:animScale>
                                    <p:animScale>
                                      <p:cBhvr>
                                        <p:cTn id="174" dur="166" decel="50000">
                                          <p:stCondLst>
                                            <p:cond delay="1668"/>
                                          </p:stCondLst>
                                        </p:cTn>
                                        <p:tgtEl>
                                          <p:spTgt spid="51"/>
                                        </p:tgtEl>
                                      </p:cBhvr>
                                      <p:to x="100000" y="100000"/>
                                    </p:animScale>
                                    <p:animScale>
                                      <p:cBhvr>
                                        <p:cTn id="175" dur="26">
                                          <p:stCondLst>
                                            <p:cond delay="1808"/>
                                          </p:stCondLst>
                                        </p:cTn>
                                        <p:tgtEl>
                                          <p:spTgt spid="51"/>
                                        </p:tgtEl>
                                      </p:cBhvr>
                                      <p:to x="100000" y="95000"/>
                                    </p:animScale>
                                    <p:animScale>
                                      <p:cBhvr>
                                        <p:cTn id="176" dur="166" decel="50000">
                                          <p:stCondLst>
                                            <p:cond delay="1834"/>
                                          </p:stCondLst>
                                        </p:cTn>
                                        <p:tgtEl>
                                          <p:spTgt spid="51"/>
                                        </p:tgtEl>
                                      </p:cBhvr>
                                      <p:to x="100000" y="100000"/>
                                    </p:animScale>
                                  </p:childTnLst>
                                </p:cTn>
                              </p:par>
                            </p:childTnLst>
                          </p:cTn>
                        </p:par>
                      </p:childTnLst>
                    </p:cTn>
                  </p:par>
                  <p:par>
                    <p:cTn id="177" fill="hold">
                      <p:stCondLst>
                        <p:cond delay="indefinite"/>
                      </p:stCondLst>
                      <p:childTnLst>
                        <p:par>
                          <p:cTn id="178" fill="hold">
                            <p:stCondLst>
                              <p:cond delay="0"/>
                            </p:stCondLst>
                            <p:childTnLst>
                              <p:par>
                                <p:cTn id="179" presetID="42" presetClass="entr" presetSubtype="0" fill="hold" grpId="0" nodeType="clickEffect">
                                  <p:stCondLst>
                                    <p:cond delay="0"/>
                                  </p:stCondLst>
                                  <p:childTnLst>
                                    <p:set>
                                      <p:cBhvr>
                                        <p:cTn id="180" dur="1" fill="hold">
                                          <p:stCondLst>
                                            <p:cond delay="0"/>
                                          </p:stCondLst>
                                        </p:cTn>
                                        <p:tgtEl>
                                          <p:spTgt spid="70"/>
                                        </p:tgtEl>
                                        <p:attrNameLst>
                                          <p:attrName>style.visibility</p:attrName>
                                        </p:attrNameLst>
                                      </p:cBhvr>
                                      <p:to>
                                        <p:strVal val="visible"/>
                                      </p:to>
                                    </p:set>
                                    <p:animEffect transition="in" filter="fade">
                                      <p:cBhvr>
                                        <p:cTn id="181" dur="1000"/>
                                        <p:tgtEl>
                                          <p:spTgt spid="70"/>
                                        </p:tgtEl>
                                      </p:cBhvr>
                                    </p:animEffect>
                                    <p:anim calcmode="lin" valueType="num">
                                      <p:cBhvr>
                                        <p:cTn id="182" dur="1000" fill="hold"/>
                                        <p:tgtEl>
                                          <p:spTgt spid="70"/>
                                        </p:tgtEl>
                                        <p:attrNameLst>
                                          <p:attrName>ppt_x</p:attrName>
                                        </p:attrNameLst>
                                      </p:cBhvr>
                                      <p:tavLst>
                                        <p:tav tm="0">
                                          <p:val>
                                            <p:strVal val="#ppt_x"/>
                                          </p:val>
                                        </p:tav>
                                        <p:tav tm="100000">
                                          <p:val>
                                            <p:strVal val="#ppt_x"/>
                                          </p:val>
                                        </p:tav>
                                      </p:tavLst>
                                    </p:anim>
                                    <p:anim calcmode="lin" valueType="num">
                                      <p:cBhvr>
                                        <p:cTn id="183" dur="1000" fill="hold"/>
                                        <p:tgtEl>
                                          <p:spTgt spid="70"/>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0"/>
                                  </p:stCondLst>
                                  <p:childTnLst>
                                    <p:set>
                                      <p:cBhvr>
                                        <p:cTn id="185" dur="1" fill="hold">
                                          <p:stCondLst>
                                            <p:cond delay="0"/>
                                          </p:stCondLst>
                                        </p:cTn>
                                        <p:tgtEl>
                                          <p:spTgt spid="71"/>
                                        </p:tgtEl>
                                        <p:attrNameLst>
                                          <p:attrName>style.visibility</p:attrName>
                                        </p:attrNameLst>
                                      </p:cBhvr>
                                      <p:to>
                                        <p:strVal val="visible"/>
                                      </p:to>
                                    </p:set>
                                    <p:animEffect transition="in" filter="fade">
                                      <p:cBhvr>
                                        <p:cTn id="186" dur="1000"/>
                                        <p:tgtEl>
                                          <p:spTgt spid="71"/>
                                        </p:tgtEl>
                                      </p:cBhvr>
                                    </p:animEffect>
                                    <p:anim calcmode="lin" valueType="num">
                                      <p:cBhvr>
                                        <p:cTn id="187" dur="1000" fill="hold"/>
                                        <p:tgtEl>
                                          <p:spTgt spid="71"/>
                                        </p:tgtEl>
                                        <p:attrNameLst>
                                          <p:attrName>ppt_x</p:attrName>
                                        </p:attrNameLst>
                                      </p:cBhvr>
                                      <p:tavLst>
                                        <p:tav tm="0">
                                          <p:val>
                                            <p:strVal val="#ppt_x"/>
                                          </p:val>
                                        </p:tav>
                                        <p:tav tm="100000">
                                          <p:val>
                                            <p:strVal val="#ppt_x"/>
                                          </p:val>
                                        </p:tav>
                                      </p:tavLst>
                                    </p:anim>
                                    <p:anim calcmode="lin" valueType="num">
                                      <p:cBhvr>
                                        <p:cTn id="188" dur="1000" fill="hold"/>
                                        <p:tgtEl>
                                          <p:spTgt spid="71"/>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0"/>
                                  </p:stCondLst>
                                  <p:childTnLst>
                                    <p:set>
                                      <p:cBhvr>
                                        <p:cTn id="190" dur="1" fill="hold">
                                          <p:stCondLst>
                                            <p:cond delay="0"/>
                                          </p:stCondLst>
                                        </p:cTn>
                                        <p:tgtEl>
                                          <p:spTgt spid="72"/>
                                        </p:tgtEl>
                                        <p:attrNameLst>
                                          <p:attrName>style.visibility</p:attrName>
                                        </p:attrNameLst>
                                      </p:cBhvr>
                                      <p:to>
                                        <p:strVal val="visible"/>
                                      </p:to>
                                    </p:set>
                                    <p:animEffect transition="in" filter="fade">
                                      <p:cBhvr>
                                        <p:cTn id="191" dur="1000"/>
                                        <p:tgtEl>
                                          <p:spTgt spid="72"/>
                                        </p:tgtEl>
                                      </p:cBhvr>
                                    </p:animEffect>
                                    <p:anim calcmode="lin" valueType="num">
                                      <p:cBhvr>
                                        <p:cTn id="192" dur="1000" fill="hold"/>
                                        <p:tgtEl>
                                          <p:spTgt spid="72"/>
                                        </p:tgtEl>
                                        <p:attrNameLst>
                                          <p:attrName>ppt_x</p:attrName>
                                        </p:attrNameLst>
                                      </p:cBhvr>
                                      <p:tavLst>
                                        <p:tav tm="0">
                                          <p:val>
                                            <p:strVal val="#ppt_x"/>
                                          </p:val>
                                        </p:tav>
                                        <p:tav tm="100000">
                                          <p:val>
                                            <p:strVal val="#ppt_x"/>
                                          </p:val>
                                        </p:tav>
                                      </p:tavLst>
                                    </p:anim>
                                    <p:anim calcmode="lin" valueType="num">
                                      <p:cBhvr>
                                        <p:cTn id="193" dur="1000" fill="hold"/>
                                        <p:tgtEl>
                                          <p:spTgt spid="72"/>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0"/>
                                  </p:stCondLst>
                                  <p:childTnLst>
                                    <p:set>
                                      <p:cBhvr>
                                        <p:cTn id="195" dur="1" fill="hold">
                                          <p:stCondLst>
                                            <p:cond delay="0"/>
                                          </p:stCondLst>
                                        </p:cTn>
                                        <p:tgtEl>
                                          <p:spTgt spid="73"/>
                                        </p:tgtEl>
                                        <p:attrNameLst>
                                          <p:attrName>style.visibility</p:attrName>
                                        </p:attrNameLst>
                                      </p:cBhvr>
                                      <p:to>
                                        <p:strVal val="visible"/>
                                      </p:to>
                                    </p:set>
                                    <p:animEffect transition="in" filter="fade">
                                      <p:cBhvr>
                                        <p:cTn id="196" dur="1000"/>
                                        <p:tgtEl>
                                          <p:spTgt spid="73"/>
                                        </p:tgtEl>
                                      </p:cBhvr>
                                    </p:animEffect>
                                    <p:anim calcmode="lin" valueType="num">
                                      <p:cBhvr>
                                        <p:cTn id="197" dur="1000" fill="hold"/>
                                        <p:tgtEl>
                                          <p:spTgt spid="73"/>
                                        </p:tgtEl>
                                        <p:attrNameLst>
                                          <p:attrName>ppt_x</p:attrName>
                                        </p:attrNameLst>
                                      </p:cBhvr>
                                      <p:tavLst>
                                        <p:tav tm="0">
                                          <p:val>
                                            <p:strVal val="#ppt_x"/>
                                          </p:val>
                                        </p:tav>
                                        <p:tav tm="100000">
                                          <p:val>
                                            <p:strVal val="#ppt_x"/>
                                          </p:val>
                                        </p:tav>
                                      </p:tavLst>
                                    </p:anim>
                                    <p:anim calcmode="lin" valueType="num">
                                      <p:cBhvr>
                                        <p:cTn id="198" dur="1000" fill="hold"/>
                                        <p:tgtEl>
                                          <p:spTgt spid="73"/>
                                        </p:tgtEl>
                                        <p:attrNameLst>
                                          <p:attrName>ppt_y</p:attrName>
                                        </p:attrNameLst>
                                      </p:cBhvr>
                                      <p:tavLst>
                                        <p:tav tm="0">
                                          <p:val>
                                            <p:strVal val="#ppt_y+.1"/>
                                          </p:val>
                                        </p:tav>
                                        <p:tav tm="100000">
                                          <p:val>
                                            <p:strVal val="#ppt_y"/>
                                          </p:val>
                                        </p:tav>
                                      </p:tavLst>
                                    </p:anim>
                                  </p:childTnLst>
                                </p:cTn>
                              </p:par>
                              <p:par>
                                <p:cTn id="199" presetID="42" presetClass="entr" presetSubtype="0" fill="hold" nodeType="withEffect">
                                  <p:stCondLst>
                                    <p:cond delay="0"/>
                                  </p:stCondLst>
                                  <p:childTnLst>
                                    <p:set>
                                      <p:cBhvr>
                                        <p:cTn id="200" dur="1" fill="hold">
                                          <p:stCondLst>
                                            <p:cond delay="0"/>
                                          </p:stCondLst>
                                        </p:cTn>
                                        <p:tgtEl>
                                          <p:spTgt spid="74"/>
                                        </p:tgtEl>
                                        <p:attrNameLst>
                                          <p:attrName>style.visibility</p:attrName>
                                        </p:attrNameLst>
                                      </p:cBhvr>
                                      <p:to>
                                        <p:strVal val="visible"/>
                                      </p:to>
                                    </p:set>
                                    <p:animEffect transition="in" filter="fade">
                                      <p:cBhvr>
                                        <p:cTn id="201" dur="1000"/>
                                        <p:tgtEl>
                                          <p:spTgt spid="74"/>
                                        </p:tgtEl>
                                      </p:cBhvr>
                                    </p:animEffect>
                                    <p:anim calcmode="lin" valueType="num">
                                      <p:cBhvr>
                                        <p:cTn id="202" dur="1000" fill="hold"/>
                                        <p:tgtEl>
                                          <p:spTgt spid="74"/>
                                        </p:tgtEl>
                                        <p:attrNameLst>
                                          <p:attrName>ppt_x</p:attrName>
                                        </p:attrNameLst>
                                      </p:cBhvr>
                                      <p:tavLst>
                                        <p:tav tm="0">
                                          <p:val>
                                            <p:strVal val="#ppt_x"/>
                                          </p:val>
                                        </p:tav>
                                        <p:tav tm="100000">
                                          <p:val>
                                            <p:strVal val="#ppt_x"/>
                                          </p:val>
                                        </p:tav>
                                      </p:tavLst>
                                    </p:anim>
                                    <p:anim calcmode="lin" valueType="num">
                                      <p:cBhvr>
                                        <p:cTn id="203" dur="1000" fill="hold"/>
                                        <p:tgtEl>
                                          <p:spTgt spid="74"/>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0"/>
                                  </p:stCondLst>
                                  <p:childTnLst>
                                    <p:set>
                                      <p:cBhvr>
                                        <p:cTn id="205" dur="1" fill="hold">
                                          <p:stCondLst>
                                            <p:cond delay="0"/>
                                          </p:stCondLst>
                                        </p:cTn>
                                        <p:tgtEl>
                                          <p:spTgt spid="75"/>
                                        </p:tgtEl>
                                        <p:attrNameLst>
                                          <p:attrName>style.visibility</p:attrName>
                                        </p:attrNameLst>
                                      </p:cBhvr>
                                      <p:to>
                                        <p:strVal val="visible"/>
                                      </p:to>
                                    </p:set>
                                    <p:animEffect transition="in" filter="fade">
                                      <p:cBhvr>
                                        <p:cTn id="206" dur="1000"/>
                                        <p:tgtEl>
                                          <p:spTgt spid="75"/>
                                        </p:tgtEl>
                                      </p:cBhvr>
                                    </p:animEffect>
                                    <p:anim calcmode="lin" valueType="num">
                                      <p:cBhvr>
                                        <p:cTn id="207" dur="1000" fill="hold"/>
                                        <p:tgtEl>
                                          <p:spTgt spid="75"/>
                                        </p:tgtEl>
                                        <p:attrNameLst>
                                          <p:attrName>ppt_x</p:attrName>
                                        </p:attrNameLst>
                                      </p:cBhvr>
                                      <p:tavLst>
                                        <p:tav tm="0">
                                          <p:val>
                                            <p:strVal val="#ppt_x"/>
                                          </p:val>
                                        </p:tav>
                                        <p:tav tm="100000">
                                          <p:val>
                                            <p:strVal val="#ppt_x"/>
                                          </p:val>
                                        </p:tav>
                                      </p:tavLst>
                                    </p:anim>
                                    <p:anim calcmode="lin" valueType="num">
                                      <p:cBhvr>
                                        <p:cTn id="208" dur="1000" fill="hold"/>
                                        <p:tgtEl>
                                          <p:spTgt spid="75"/>
                                        </p:tgtEl>
                                        <p:attrNameLst>
                                          <p:attrName>ppt_y</p:attrName>
                                        </p:attrNameLst>
                                      </p:cBhvr>
                                      <p:tavLst>
                                        <p:tav tm="0">
                                          <p:val>
                                            <p:strVal val="#ppt_y+.1"/>
                                          </p:val>
                                        </p:tav>
                                        <p:tav tm="100000">
                                          <p:val>
                                            <p:strVal val="#ppt_y"/>
                                          </p:val>
                                        </p:tav>
                                      </p:tavLst>
                                    </p:anim>
                                  </p:childTnLst>
                                </p:cTn>
                              </p:par>
                              <p:par>
                                <p:cTn id="209" presetID="42" presetClass="entr" presetSubtype="0" fill="hold" nodeType="withEffect">
                                  <p:stCondLst>
                                    <p:cond delay="0"/>
                                  </p:stCondLst>
                                  <p:childTnLst>
                                    <p:set>
                                      <p:cBhvr>
                                        <p:cTn id="210" dur="1" fill="hold">
                                          <p:stCondLst>
                                            <p:cond delay="0"/>
                                          </p:stCondLst>
                                        </p:cTn>
                                        <p:tgtEl>
                                          <p:spTgt spid="76"/>
                                        </p:tgtEl>
                                        <p:attrNameLst>
                                          <p:attrName>style.visibility</p:attrName>
                                        </p:attrNameLst>
                                      </p:cBhvr>
                                      <p:to>
                                        <p:strVal val="visible"/>
                                      </p:to>
                                    </p:set>
                                    <p:animEffect transition="in" filter="fade">
                                      <p:cBhvr>
                                        <p:cTn id="211" dur="1000"/>
                                        <p:tgtEl>
                                          <p:spTgt spid="76"/>
                                        </p:tgtEl>
                                      </p:cBhvr>
                                    </p:animEffect>
                                    <p:anim calcmode="lin" valueType="num">
                                      <p:cBhvr>
                                        <p:cTn id="212" dur="1000" fill="hold"/>
                                        <p:tgtEl>
                                          <p:spTgt spid="76"/>
                                        </p:tgtEl>
                                        <p:attrNameLst>
                                          <p:attrName>ppt_x</p:attrName>
                                        </p:attrNameLst>
                                      </p:cBhvr>
                                      <p:tavLst>
                                        <p:tav tm="0">
                                          <p:val>
                                            <p:strVal val="#ppt_x"/>
                                          </p:val>
                                        </p:tav>
                                        <p:tav tm="100000">
                                          <p:val>
                                            <p:strVal val="#ppt_x"/>
                                          </p:val>
                                        </p:tav>
                                      </p:tavLst>
                                    </p:anim>
                                    <p:anim calcmode="lin" valueType="num">
                                      <p:cBhvr>
                                        <p:cTn id="213" dur="1000" fill="hold"/>
                                        <p:tgtEl>
                                          <p:spTgt spid="76"/>
                                        </p:tgtEl>
                                        <p:attrNameLst>
                                          <p:attrName>ppt_y</p:attrName>
                                        </p:attrNameLst>
                                      </p:cBhvr>
                                      <p:tavLst>
                                        <p:tav tm="0">
                                          <p:val>
                                            <p:strVal val="#ppt_y+.1"/>
                                          </p:val>
                                        </p:tav>
                                        <p:tav tm="100000">
                                          <p:val>
                                            <p:strVal val="#ppt_y"/>
                                          </p:val>
                                        </p:tav>
                                      </p:tavLst>
                                    </p:anim>
                                  </p:childTnLst>
                                </p:cTn>
                              </p:par>
                              <p:par>
                                <p:cTn id="214" presetID="42" presetClass="entr" presetSubtype="0" fill="hold" grpId="0" nodeType="withEffect">
                                  <p:stCondLst>
                                    <p:cond delay="0"/>
                                  </p:stCondLst>
                                  <p:childTnLst>
                                    <p:set>
                                      <p:cBhvr>
                                        <p:cTn id="215" dur="1" fill="hold">
                                          <p:stCondLst>
                                            <p:cond delay="0"/>
                                          </p:stCondLst>
                                        </p:cTn>
                                        <p:tgtEl>
                                          <p:spTgt spid="77"/>
                                        </p:tgtEl>
                                        <p:attrNameLst>
                                          <p:attrName>style.visibility</p:attrName>
                                        </p:attrNameLst>
                                      </p:cBhvr>
                                      <p:to>
                                        <p:strVal val="visible"/>
                                      </p:to>
                                    </p:set>
                                    <p:animEffect transition="in" filter="fade">
                                      <p:cBhvr>
                                        <p:cTn id="216" dur="1000"/>
                                        <p:tgtEl>
                                          <p:spTgt spid="77"/>
                                        </p:tgtEl>
                                      </p:cBhvr>
                                    </p:animEffect>
                                    <p:anim calcmode="lin" valueType="num">
                                      <p:cBhvr>
                                        <p:cTn id="217" dur="1000" fill="hold"/>
                                        <p:tgtEl>
                                          <p:spTgt spid="77"/>
                                        </p:tgtEl>
                                        <p:attrNameLst>
                                          <p:attrName>ppt_x</p:attrName>
                                        </p:attrNameLst>
                                      </p:cBhvr>
                                      <p:tavLst>
                                        <p:tav tm="0">
                                          <p:val>
                                            <p:strVal val="#ppt_x"/>
                                          </p:val>
                                        </p:tav>
                                        <p:tav tm="100000">
                                          <p:val>
                                            <p:strVal val="#ppt_x"/>
                                          </p:val>
                                        </p:tav>
                                      </p:tavLst>
                                    </p:anim>
                                    <p:anim calcmode="lin" valueType="num">
                                      <p:cBhvr>
                                        <p:cTn id="218"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7" grpId="0" animBg="1"/>
      <p:bldP spid="23" grpId="0" animBg="1"/>
      <p:bldP spid="26" grpId="0" animBg="1"/>
      <p:bldP spid="28" grpId="0" animBg="1"/>
      <p:bldP spid="32" grpId="0" animBg="1"/>
      <p:bldP spid="42" grpId="0" animBg="1"/>
      <p:bldP spid="43" grpId="0" animBg="1"/>
      <p:bldP spid="45" grpId="0" animBg="1"/>
      <p:bldP spid="47" grpId="0" animBg="1"/>
      <p:bldP spid="51" grpId="0" animBg="1"/>
      <p:bldP spid="70" grpId="0" animBg="1"/>
      <p:bldP spid="71" grpId="0" animBg="1"/>
      <p:bldP spid="73" grpId="0" animBg="1"/>
      <p:bldP spid="75" grpId="0" animBg="1"/>
      <p:bldP spid="7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C54B8E5-2570-E3BA-85B5-587212C56CBA}"/>
              </a:ext>
            </a:extLst>
          </p:cNvPr>
          <p:cNvSpPr/>
          <p:nvPr/>
        </p:nvSpPr>
        <p:spPr>
          <a:xfrm>
            <a:off x="1223682" y="416859"/>
            <a:ext cx="9762565" cy="4840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mn-lt"/>
              </a:rPr>
              <a:t>Programs, Processes, and Threads</a:t>
            </a:r>
            <a:endParaRPr lang="en-US" sz="2800"/>
          </a:p>
        </p:txBody>
      </p:sp>
      <p:sp>
        <p:nvSpPr>
          <p:cNvPr id="9" name="Arrow: Bent-Up 8">
            <a:extLst>
              <a:ext uri="{FF2B5EF4-FFF2-40B4-BE49-F238E27FC236}">
                <a16:creationId xmlns:a16="http://schemas.microsoft.com/office/drawing/2014/main" id="{F7FFCE86-1C96-0615-60DF-2A43D6DE7E8D}"/>
              </a:ext>
            </a:extLst>
          </p:cNvPr>
          <p:cNvSpPr/>
          <p:nvPr/>
        </p:nvSpPr>
        <p:spPr>
          <a:xfrm rot="5400000">
            <a:off x="1156446" y="1344705"/>
            <a:ext cx="1223685" cy="363069"/>
          </a:xfrm>
          <a:prstGeom prst="ben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0978B4-A16E-26F5-7A8E-384E496716C9}"/>
              </a:ext>
            </a:extLst>
          </p:cNvPr>
          <p:cNvSpPr/>
          <p:nvPr/>
        </p:nvSpPr>
        <p:spPr>
          <a:xfrm>
            <a:off x="1949824" y="1445557"/>
            <a:ext cx="9036423" cy="122368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The source code which you have implemented or the compiled binary, executable code lying in the system’s disk storage is called </a:t>
            </a:r>
            <a:r>
              <a:rPr lang="en-IN" sz="1800" b="1" dirty="0"/>
              <a:t>Program.</a:t>
            </a:r>
          </a:p>
          <a:p>
            <a:pPr marL="0" indent="0">
              <a:buNone/>
            </a:pPr>
            <a:r>
              <a:rPr lang="en-IN" sz="1800" b="1" dirty="0"/>
              <a:t>   </a:t>
            </a:r>
            <a:r>
              <a:rPr lang="en-IN" sz="1800" dirty="0"/>
              <a:t>Large programs designed for a specific task is called </a:t>
            </a:r>
            <a:r>
              <a:rPr lang="en-IN" sz="1800" b="1" dirty="0"/>
              <a:t>Application Program</a:t>
            </a:r>
            <a:r>
              <a:rPr lang="en-IN" sz="1800" dirty="0"/>
              <a:t>.</a:t>
            </a:r>
          </a:p>
          <a:p>
            <a:pPr marL="0" indent="0">
              <a:buNone/>
            </a:pPr>
            <a:r>
              <a:rPr lang="en-IN" sz="1800" b="1" dirty="0"/>
              <a:t>   Ex: /bin/ls , /bin/</a:t>
            </a:r>
            <a:r>
              <a:rPr lang="en-IN" sz="1800" b="1" dirty="0" err="1"/>
              <a:t>mkdir</a:t>
            </a:r>
            <a:r>
              <a:rPr lang="en-IN" sz="1800" b="1" dirty="0"/>
              <a:t>, etc</a:t>
            </a:r>
          </a:p>
        </p:txBody>
      </p:sp>
      <p:sp>
        <p:nvSpPr>
          <p:cNvPr id="13" name="Arrow: Bent-Up 12">
            <a:extLst>
              <a:ext uri="{FF2B5EF4-FFF2-40B4-BE49-F238E27FC236}">
                <a16:creationId xmlns:a16="http://schemas.microsoft.com/office/drawing/2014/main" id="{114FE503-8864-EA6C-70BE-AB68D8DEC187}"/>
              </a:ext>
            </a:extLst>
          </p:cNvPr>
          <p:cNvSpPr/>
          <p:nvPr/>
        </p:nvSpPr>
        <p:spPr>
          <a:xfrm rot="5400000">
            <a:off x="908794" y="2773454"/>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B0CE013-12BE-F326-24B6-F5BB6254509F}"/>
              </a:ext>
            </a:extLst>
          </p:cNvPr>
          <p:cNvSpPr/>
          <p:nvPr/>
        </p:nvSpPr>
        <p:spPr>
          <a:xfrm>
            <a:off x="1967754" y="3050236"/>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
        <p:nvSpPr>
          <p:cNvPr id="17" name="Arrow: Bent-Up 16">
            <a:extLst>
              <a:ext uri="{FF2B5EF4-FFF2-40B4-BE49-F238E27FC236}">
                <a16:creationId xmlns:a16="http://schemas.microsoft.com/office/drawing/2014/main" id="{BFA6B0EB-C1A9-FF53-AEA9-6DC33D7DC979}"/>
              </a:ext>
            </a:extLst>
          </p:cNvPr>
          <p:cNvSpPr/>
          <p:nvPr/>
        </p:nvSpPr>
        <p:spPr>
          <a:xfrm rot="5400000">
            <a:off x="913277" y="4431920"/>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66BC7B-A279-552B-A4E5-44B0D4B1D2D7}"/>
              </a:ext>
            </a:extLst>
          </p:cNvPr>
          <p:cNvSpPr/>
          <p:nvPr/>
        </p:nvSpPr>
        <p:spPr>
          <a:xfrm>
            <a:off x="1972237" y="4708702"/>
            <a:ext cx="9036423" cy="1223684"/>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thread</a:t>
            </a:r>
            <a:r>
              <a:rPr lang="en-IN" sz="1800" dirty="0"/>
              <a:t> is the unit of activity inside a process. </a:t>
            </a:r>
          </a:p>
          <a:p>
            <a:pPr marL="0" indent="0">
              <a:buNone/>
            </a:pPr>
            <a:r>
              <a:rPr lang="en-IN" sz="1800" dirty="0"/>
              <a:t>Each thread has its own virtualized processor, which also includes a stack, processor state, registers, and an instruction pointer.</a:t>
            </a:r>
            <a:endParaRPr lang="en-US" sz="1800" dirty="0"/>
          </a:p>
        </p:txBody>
      </p:sp>
      <p:sp>
        <p:nvSpPr>
          <p:cNvPr id="23" name="Arrow: Bent-Up 22">
            <a:extLst>
              <a:ext uri="{FF2B5EF4-FFF2-40B4-BE49-F238E27FC236}">
                <a16:creationId xmlns:a16="http://schemas.microsoft.com/office/drawing/2014/main" id="{43C6944D-FEC5-0E5D-CB8C-F316FDBD2E15}"/>
              </a:ext>
            </a:extLst>
          </p:cNvPr>
          <p:cNvSpPr/>
          <p:nvPr/>
        </p:nvSpPr>
        <p:spPr>
          <a:xfrm rot="5400000">
            <a:off x="908794" y="2773455"/>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E0D62BB-1932-BC0E-70E4-D7500559BF40}"/>
              </a:ext>
            </a:extLst>
          </p:cNvPr>
          <p:cNvSpPr/>
          <p:nvPr/>
        </p:nvSpPr>
        <p:spPr>
          <a:xfrm>
            <a:off x="1967754" y="3050236"/>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
        <p:nvSpPr>
          <p:cNvPr id="25" name="Arrow: Bent-Up 24">
            <a:extLst>
              <a:ext uri="{FF2B5EF4-FFF2-40B4-BE49-F238E27FC236}">
                <a16:creationId xmlns:a16="http://schemas.microsoft.com/office/drawing/2014/main" id="{787020BA-CBFD-55F6-58B7-77BB59151A4D}"/>
              </a:ext>
            </a:extLst>
          </p:cNvPr>
          <p:cNvSpPr/>
          <p:nvPr/>
        </p:nvSpPr>
        <p:spPr>
          <a:xfrm rot="5400000">
            <a:off x="908794" y="2773456"/>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1DD71DD-0137-7BE7-EF75-C0EBFEACA88F}"/>
              </a:ext>
            </a:extLst>
          </p:cNvPr>
          <p:cNvSpPr/>
          <p:nvPr/>
        </p:nvSpPr>
        <p:spPr>
          <a:xfrm>
            <a:off x="1967754" y="3050237"/>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
        <p:nvSpPr>
          <p:cNvPr id="27" name="Arrow: Bent-Up 26">
            <a:extLst>
              <a:ext uri="{FF2B5EF4-FFF2-40B4-BE49-F238E27FC236}">
                <a16:creationId xmlns:a16="http://schemas.microsoft.com/office/drawing/2014/main" id="{BEEA8311-64FA-82E3-99DF-12D99632E672}"/>
              </a:ext>
            </a:extLst>
          </p:cNvPr>
          <p:cNvSpPr/>
          <p:nvPr/>
        </p:nvSpPr>
        <p:spPr>
          <a:xfrm rot="5400000">
            <a:off x="908794" y="2773457"/>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330FF1A-EFF5-5FA3-8CF1-56CB80363301}"/>
              </a:ext>
            </a:extLst>
          </p:cNvPr>
          <p:cNvSpPr/>
          <p:nvPr/>
        </p:nvSpPr>
        <p:spPr>
          <a:xfrm>
            <a:off x="1967754" y="3050238"/>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
        <p:nvSpPr>
          <p:cNvPr id="29" name="Arrow: Bent-Up 28">
            <a:extLst>
              <a:ext uri="{FF2B5EF4-FFF2-40B4-BE49-F238E27FC236}">
                <a16:creationId xmlns:a16="http://schemas.microsoft.com/office/drawing/2014/main" id="{2A813ECE-A7B2-360A-2FD6-5891A68248FA}"/>
              </a:ext>
            </a:extLst>
          </p:cNvPr>
          <p:cNvSpPr/>
          <p:nvPr/>
        </p:nvSpPr>
        <p:spPr>
          <a:xfrm rot="5400000">
            <a:off x="908794" y="2773456"/>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DFE709F-8147-321F-69C5-609674E1D792}"/>
              </a:ext>
            </a:extLst>
          </p:cNvPr>
          <p:cNvSpPr/>
          <p:nvPr/>
        </p:nvSpPr>
        <p:spPr>
          <a:xfrm>
            <a:off x="1967754" y="3050237"/>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Tree>
    <p:extLst>
      <p:ext uri="{BB962C8B-B14F-4D97-AF65-F5344CB8AC3E}">
        <p14:creationId xmlns:p14="http://schemas.microsoft.com/office/powerpoint/2010/main" val="311224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ppt_x"/>
                                          </p:val>
                                        </p:tav>
                                        <p:tav tm="100000">
                                          <p:val>
                                            <p:strVal val="#ppt_x"/>
                                          </p:val>
                                        </p:tav>
                                      </p:tavLst>
                                    </p:anim>
                                    <p:anim calcmode="lin" valueType="num">
                                      <p:cBhvr additive="base">
                                        <p:cTn id="44" dur="500" fill="hold"/>
                                        <p:tgtEl>
                                          <p:spTgt spid="2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500" fill="hold"/>
                                        <p:tgtEl>
                                          <p:spTgt spid="28"/>
                                        </p:tgtEl>
                                        <p:attrNameLst>
                                          <p:attrName>ppt_x</p:attrName>
                                        </p:attrNameLst>
                                      </p:cBhvr>
                                      <p:tavLst>
                                        <p:tav tm="0">
                                          <p:val>
                                            <p:strVal val="#ppt_x"/>
                                          </p:val>
                                        </p:tav>
                                        <p:tav tm="100000">
                                          <p:val>
                                            <p:strVal val="#ppt_x"/>
                                          </p:val>
                                        </p:tav>
                                      </p:tavLst>
                                    </p:anim>
                                    <p:anim calcmode="lin" valueType="num">
                                      <p:cBhvr additive="base">
                                        <p:cTn id="52" dur="500" fill="hold"/>
                                        <p:tgtEl>
                                          <p:spTgt spid="2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ppt_x"/>
                                          </p:val>
                                        </p:tav>
                                        <p:tav tm="100000">
                                          <p:val>
                                            <p:strVal val="#ppt_x"/>
                                          </p:val>
                                        </p:tav>
                                      </p:tavLst>
                                    </p:anim>
                                    <p:anim calcmode="lin" valueType="num">
                                      <p:cBhvr additive="base">
                                        <p:cTn id="56" dur="500" fill="hold"/>
                                        <p:tgtEl>
                                          <p:spTgt spid="2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ppt_x"/>
                                          </p:val>
                                        </p:tav>
                                        <p:tav tm="100000">
                                          <p:val>
                                            <p:strVal val="#ppt_x"/>
                                          </p:val>
                                        </p:tav>
                                      </p:tavLst>
                                    </p:anim>
                                    <p:anim calcmode="lin" valueType="num">
                                      <p:cBhvr additive="base">
                                        <p:cTn id="6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7" grpId="0" animBg="1"/>
      <p:bldP spid="18"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B0970E7-11E3-32C7-BC59-3BACF4B5E80A}"/>
              </a:ext>
            </a:extLst>
          </p:cNvPr>
          <p:cNvSpPr/>
          <p:nvPr/>
        </p:nvSpPr>
        <p:spPr>
          <a:xfrm>
            <a:off x="1169894" y="430307"/>
            <a:ext cx="9829800" cy="7799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rgbClr val="0000CC"/>
              </a:buClr>
            </a:pPr>
            <a:r>
              <a:rPr lang="en-US" sz="2800" b="1" dirty="0"/>
              <a:t>Process Address Space</a:t>
            </a:r>
            <a:r>
              <a:rPr lang="en-US" dirty="0"/>
              <a:t> </a:t>
            </a:r>
          </a:p>
          <a:p>
            <a:pPr algn="ctr">
              <a:buClr>
                <a:srgbClr val="0000CC"/>
              </a:buClr>
            </a:pPr>
            <a:r>
              <a:rPr lang="en-US" dirty="0"/>
              <a:t>(Every process have its own Address Space)</a:t>
            </a:r>
          </a:p>
        </p:txBody>
      </p:sp>
      <p:graphicFrame>
        <p:nvGraphicFramePr>
          <p:cNvPr id="7" name="Table 6">
            <a:extLst>
              <a:ext uri="{FF2B5EF4-FFF2-40B4-BE49-F238E27FC236}">
                <a16:creationId xmlns:a16="http://schemas.microsoft.com/office/drawing/2014/main" id="{18FACCC1-81DD-ACE9-ED5D-AE56D7C82767}"/>
              </a:ext>
            </a:extLst>
          </p:cNvPr>
          <p:cNvGraphicFramePr>
            <a:graphicFrameLocks noGrp="1"/>
          </p:cNvGraphicFramePr>
          <p:nvPr>
            <p:extLst>
              <p:ext uri="{D42A27DB-BD31-4B8C-83A1-F6EECF244321}">
                <p14:modId xmlns:p14="http://schemas.microsoft.com/office/powerpoint/2010/main" val="3712730494"/>
              </p:ext>
            </p:extLst>
          </p:nvPr>
        </p:nvGraphicFramePr>
        <p:xfrm>
          <a:off x="1210235" y="1317810"/>
          <a:ext cx="9789459" cy="4914486"/>
        </p:xfrm>
        <a:graphic>
          <a:graphicData uri="http://schemas.openxmlformats.org/drawingml/2006/table">
            <a:tbl>
              <a:tblPr/>
              <a:tblGrid>
                <a:gridCol w="3482789">
                  <a:extLst>
                    <a:ext uri="{9D8B030D-6E8A-4147-A177-3AD203B41FA5}">
                      <a16:colId xmlns:a16="http://schemas.microsoft.com/office/drawing/2014/main" val="941385458"/>
                    </a:ext>
                  </a:extLst>
                </a:gridCol>
                <a:gridCol w="6306670">
                  <a:extLst>
                    <a:ext uri="{9D8B030D-6E8A-4147-A177-3AD203B41FA5}">
                      <a16:colId xmlns:a16="http://schemas.microsoft.com/office/drawing/2014/main" val="945257495"/>
                    </a:ext>
                  </a:extLst>
                </a:gridCol>
              </a:tblGrid>
              <a:tr h="454988">
                <a:tc>
                  <a:txBody>
                    <a:bodyPr/>
                    <a:lstStyle/>
                    <a:p>
                      <a:pPr algn="ctr" fontAlgn="t"/>
                      <a:r>
                        <a:rPr lang="en-US" sz="2800" b="1" dirty="0">
                          <a:effectLst/>
                        </a:rPr>
                        <a:t>Name</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t"/>
                      <a:r>
                        <a:rPr lang="en-US" sz="2800" b="1" dirty="0">
                          <a:effectLst/>
                        </a:rPr>
                        <a:t>Interpretation</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100767194"/>
                  </a:ext>
                </a:extLst>
              </a:tr>
              <a:tr h="565592">
                <a:tc>
                  <a:txBody>
                    <a:bodyPr/>
                    <a:lstStyle/>
                    <a:p>
                      <a:pPr algn="ctr" fontAlgn="t"/>
                      <a:r>
                        <a:rPr lang="en-IN" sz="1800" dirty="0">
                          <a:effectLst/>
                        </a:rPr>
                        <a:t>Code Segment</a:t>
                      </a:r>
                      <a:br>
                        <a:rPr lang="en-IN" sz="1800" dirty="0">
                          <a:effectLst/>
                        </a:rPr>
                      </a:br>
                      <a:r>
                        <a:rPr lang="en-IN" sz="1800" dirty="0">
                          <a:effectLst/>
                        </a:rPr>
                        <a:t>(also known as Text segment)</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IN" sz="1800" dirty="0">
                          <a:effectLst/>
                        </a:rPr>
                        <a:t>Executable statements of the program</a:t>
                      </a:r>
                      <a:br>
                        <a:rPr lang="en-IN" sz="1800" dirty="0">
                          <a:effectLst/>
                        </a:rPr>
                      </a:br>
                      <a:endParaRPr lang="en-IN" sz="1800" dirty="0">
                        <a:effectLst/>
                      </a:endParaRP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489210"/>
                  </a:ext>
                </a:extLst>
              </a:tr>
              <a:tr h="1596693">
                <a:tc>
                  <a:txBody>
                    <a:bodyPr/>
                    <a:lstStyle/>
                    <a:p>
                      <a:pPr algn="ctr" fontAlgn="t">
                        <a:buFont typeface="Arial" panose="020B0604020202020204" pitchFamily="34" charset="0"/>
                        <a:buNone/>
                      </a:pPr>
                      <a:r>
                        <a:rPr lang="en-IN" sz="1800" dirty="0">
                          <a:effectLst/>
                        </a:rPr>
                        <a:t>Data Segment. </a:t>
                      </a:r>
                    </a:p>
                    <a:p>
                      <a:pPr fontAlgn="t">
                        <a:buFont typeface="Arial" panose="020B0604020202020204" pitchFamily="34" charset="0"/>
                        <a:buNone/>
                      </a:pPr>
                      <a:r>
                        <a:rPr lang="en-IN" sz="1800" dirty="0">
                          <a:effectLst/>
                        </a:rPr>
                        <a:t>Three categories</a:t>
                      </a:r>
                    </a:p>
                    <a:p>
                      <a:pPr marL="342900" indent="0" fontAlgn="t">
                        <a:buFont typeface="Arial" panose="020B0604020202020204" pitchFamily="34" charset="0"/>
                        <a:buChar char="•"/>
                      </a:pPr>
                      <a:r>
                        <a:rPr lang="en-IN" sz="1800" dirty="0">
                          <a:effectLst/>
                        </a:rPr>
                        <a:t>Initialized Data</a:t>
                      </a:r>
                    </a:p>
                    <a:p>
                      <a:pPr marL="342900" indent="0" fontAlgn="t">
                        <a:buFont typeface="Arial" panose="020B0604020202020204" pitchFamily="34" charset="0"/>
                        <a:buNone/>
                      </a:pPr>
                      <a:endParaRPr lang="en-IN" sz="1800" dirty="0">
                        <a:effectLst/>
                      </a:endParaRPr>
                    </a:p>
                    <a:p>
                      <a:pPr marL="342900" indent="0" fontAlgn="t">
                        <a:buFont typeface="Arial" panose="020B0604020202020204" pitchFamily="34" charset="0"/>
                        <a:buChar char="•"/>
                      </a:pPr>
                      <a:r>
                        <a:rPr lang="en-IN" sz="1800" dirty="0">
                          <a:effectLst/>
                        </a:rPr>
                        <a:t>Zero-Initialized or BSS data</a:t>
                      </a:r>
                    </a:p>
                    <a:p>
                      <a:pPr marL="342900" indent="0" fontAlgn="t">
                        <a:buFont typeface="Arial" panose="020B0604020202020204" pitchFamily="34" charset="0"/>
                        <a:buChar char="•"/>
                      </a:pPr>
                      <a:r>
                        <a:rPr lang="en-IN" sz="1800" dirty="0">
                          <a:effectLst/>
                        </a:rPr>
                        <a:t>RODATA</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Font typeface="Arial" panose="020B0604020202020204" pitchFamily="34" charset="0"/>
                        <a:buNone/>
                      </a:pPr>
                      <a:endParaRPr lang="en-IN" sz="1800" b="1" dirty="0">
                        <a:effectLst/>
                      </a:endParaRPr>
                    </a:p>
                    <a:p>
                      <a:pPr marL="0" indent="0" algn="l" fontAlgn="t">
                        <a:buFont typeface="Arial" panose="020B0604020202020204" pitchFamily="34" charset="0"/>
                        <a:buNone/>
                      </a:pPr>
                      <a:r>
                        <a:rPr lang="en-IN" sz="1800" b="1" dirty="0">
                          <a:effectLst/>
                        </a:rPr>
                        <a:t>The respective interpretation of categories:</a:t>
                      </a:r>
                    </a:p>
                    <a:p>
                      <a:pPr marL="0" marR="0" lvl="0" indent="0" algn="l" defTabSz="6858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IN" sz="1800" kern="1200" dirty="0">
                          <a:solidFill>
                            <a:schemeClr val="tx1"/>
                          </a:solidFill>
                          <a:effectLst/>
                          <a:latin typeface="+mn-lt"/>
                          <a:ea typeface="+mn-ea"/>
                          <a:cs typeface="+mn-cs"/>
                        </a:rPr>
                        <a:t>Statically allocated or global data that are initialized with non-zero values</a:t>
                      </a:r>
                    </a:p>
                    <a:p>
                      <a:pPr fontAlgn="t">
                        <a:buFont typeface="Arial" panose="020B0604020202020204" pitchFamily="34" charset="0"/>
                        <a:buChar char="•"/>
                      </a:pPr>
                      <a:r>
                        <a:rPr lang="en-IN" sz="1800" dirty="0">
                          <a:effectLst/>
                        </a:rPr>
                        <a:t>Uninitialized data</a:t>
                      </a:r>
                    </a:p>
                    <a:p>
                      <a:pPr fontAlgn="t">
                        <a:buFont typeface="Arial" panose="020B0604020202020204" pitchFamily="34" charset="0"/>
                        <a:buChar char="•"/>
                      </a:pPr>
                      <a:r>
                        <a:rPr lang="en-IN" sz="1800" dirty="0">
                          <a:effectLst/>
                        </a:rPr>
                        <a:t>Strings will be stored here</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6170477"/>
                  </a:ext>
                </a:extLst>
              </a:tr>
              <a:tr h="552040">
                <a:tc>
                  <a:txBody>
                    <a:bodyPr/>
                    <a:lstStyle/>
                    <a:p>
                      <a:pPr marL="342900" indent="0" algn="ctr" fontAlgn="t">
                        <a:buFont typeface="Arial" panose="020B0604020202020204" pitchFamily="34" charset="0"/>
                        <a:buNone/>
                      </a:pPr>
                      <a:r>
                        <a:rPr lang="en-IN" sz="1800" kern="1200" dirty="0">
                          <a:solidFill>
                            <a:schemeClr val="tx1"/>
                          </a:solidFill>
                          <a:effectLst/>
                          <a:latin typeface="+mn-lt"/>
                          <a:ea typeface="+mn-ea"/>
                          <a:cs typeface="+mn-cs"/>
                        </a:rPr>
                        <a:t>Heap Segment</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buFont typeface="Arial" panose="020B0604020202020204" pitchFamily="34" charset="0"/>
                        <a:buNone/>
                      </a:pPr>
                      <a:r>
                        <a:rPr lang="en-IN" sz="1800" dirty="0">
                          <a:effectLst/>
                        </a:rPr>
                        <a:t>Source of Dynamic memory allocation</a:t>
                      </a:r>
                    </a:p>
                    <a:p>
                      <a:pPr fontAlgn="t"/>
                      <a:endParaRPr lang="en-IN" sz="1800" dirty="0">
                        <a:effectLst/>
                      </a:endParaRP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7326445"/>
                  </a:ext>
                </a:extLst>
              </a:tr>
              <a:tr h="1671630">
                <a:tc>
                  <a:txBody>
                    <a:bodyPr/>
                    <a:lstStyle/>
                    <a:p>
                      <a:pPr algn="ctr" fontAlgn="t"/>
                      <a:r>
                        <a:rPr lang="en-US" sz="1800" dirty="0">
                          <a:effectLst/>
                        </a:rPr>
                        <a:t>Stack Segment</a:t>
                      </a:r>
                      <a:br>
                        <a:rPr lang="en-US" sz="1800" dirty="0">
                          <a:effectLst/>
                        </a:rPr>
                      </a:br>
                      <a:endParaRPr lang="en-US" sz="1800" dirty="0">
                        <a:effectLst/>
                      </a:endParaRP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IN" sz="1800" dirty="0">
                          <a:effectLst/>
                        </a:rPr>
                        <a:t>Local variables of the scope.</a:t>
                      </a:r>
                      <a:br>
                        <a:rPr lang="en-IN" sz="1800" dirty="0">
                          <a:effectLst/>
                        </a:rPr>
                      </a:br>
                      <a:r>
                        <a:rPr lang="en-IN" sz="1800" dirty="0">
                          <a:effectLst/>
                        </a:rPr>
                        <a:t>Function parameters</a:t>
                      </a:r>
                      <a:br>
                        <a:rPr lang="en-IN" sz="1800" dirty="0">
                          <a:effectLst/>
                        </a:rPr>
                      </a:br>
                      <a:r>
                        <a:rPr lang="en-IN" sz="1800" dirty="0">
                          <a:effectLst/>
                        </a:rPr>
                        <a:t>Variables stored on the stack "disappear" when the function containing them returns and the space on the stack is reused for subsequent function calls.</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7801154"/>
                  </a:ext>
                </a:extLst>
              </a:tr>
            </a:tbl>
          </a:graphicData>
        </a:graphic>
      </p:graphicFrame>
    </p:spTree>
    <p:extLst>
      <p:ext uri="{BB962C8B-B14F-4D97-AF65-F5344CB8AC3E}">
        <p14:creationId xmlns:p14="http://schemas.microsoft.com/office/powerpoint/2010/main" val="3726172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E22FD9A-A052-F3B2-0437-688BE7EBE586}"/>
              </a:ext>
            </a:extLst>
          </p:cNvPr>
          <p:cNvSpPr/>
          <p:nvPr/>
        </p:nvSpPr>
        <p:spPr>
          <a:xfrm>
            <a:off x="1463488" y="564776"/>
            <a:ext cx="9265024" cy="5647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Program </a:t>
            </a:r>
            <a:r>
              <a:rPr lang="en-US" sz="3200" b="1">
                <a:sym typeface="Wingdings" pitchFamily="2" charset="2"/>
              </a:rPr>
              <a:t>Process</a:t>
            </a:r>
            <a:endParaRPr lang="en-US" sz="3200"/>
          </a:p>
        </p:txBody>
      </p:sp>
      <p:pic>
        <p:nvPicPr>
          <p:cNvPr id="7" name="Picture 2">
            <a:extLst>
              <a:ext uri="{FF2B5EF4-FFF2-40B4-BE49-F238E27FC236}">
                <a16:creationId xmlns:a16="http://schemas.microsoft.com/office/drawing/2014/main" id="{A68888D0-E43D-D8D1-9F35-2525E3388CC7}"/>
              </a:ext>
            </a:extLst>
          </p:cNvPr>
          <p:cNvPicPr>
            <a:picLocks noGrp="1" noChangeAspect="1" noChangeArrowheads="1"/>
          </p:cNvPicPr>
          <p:nvPr>
            <p:ph idx="1"/>
          </p:nvPr>
        </p:nvPicPr>
        <p:blipFill>
          <a:blip r:embed="rId2"/>
          <a:srcRect/>
          <a:stretch>
            <a:fillRect/>
          </a:stretch>
        </p:blipFill>
        <p:spPr bwMode="auto">
          <a:xfrm>
            <a:off x="1075768" y="1341895"/>
            <a:ext cx="5056094" cy="3566282"/>
          </a:xfrm>
          <a:prstGeom prst="rect">
            <a:avLst/>
          </a:prstGeom>
          <a:noFill/>
          <a:ln w="9525">
            <a:noFill/>
            <a:miter lim="800000"/>
            <a:headEnd/>
            <a:tailEnd/>
          </a:ln>
          <a:effectLst/>
        </p:spPr>
      </p:pic>
      <p:pic>
        <p:nvPicPr>
          <p:cNvPr id="8" name="Picture 2">
            <a:extLst>
              <a:ext uri="{FF2B5EF4-FFF2-40B4-BE49-F238E27FC236}">
                <a16:creationId xmlns:a16="http://schemas.microsoft.com/office/drawing/2014/main" id="{0C65D66E-EDB0-0216-BA42-66397E1DD76C}"/>
              </a:ext>
            </a:extLst>
          </p:cNvPr>
          <p:cNvPicPr>
            <a:picLocks noChangeAspect="1" noChangeArrowheads="1"/>
          </p:cNvPicPr>
          <p:nvPr/>
        </p:nvPicPr>
        <p:blipFill>
          <a:blip r:embed="rId3"/>
          <a:srcRect/>
          <a:stretch>
            <a:fillRect/>
          </a:stretch>
        </p:blipFill>
        <p:spPr bwMode="auto">
          <a:xfrm>
            <a:off x="6333565" y="1524000"/>
            <a:ext cx="5432612" cy="3038475"/>
          </a:xfrm>
          <a:prstGeom prst="rect">
            <a:avLst/>
          </a:prstGeom>
          <a:noFill/>
          <a:ln w="9525">
            <a:noFill/>
            <a:miter lim="800000"/>
            <a:headEnd/>
            <a:tailEnd/>
          </a:ln>
          <a:effectLst/>
        </p:spPr>
      </p:pic>
    </p:spTree>
    <p:extLst>
      <p:ext uri="{BB962C8B-B14F-4D97-AF65-F5344CB8AC3E}">
        <p14:creationId xmlns:p14="http://schemas.microsoft.com/office/powerpoint/2010/main" val="2450899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D965CB1-FB9C-0EA0-ACD8-3C162ACA309A}"/>
              </a:ext>
            </a:extLst>
          </p:cNvPr>
          <p:cNvSpPr/>
          <p:nvPr/>
        </p:nvSpPr>
        <p:spPr>
          <a:xfrm>
            <a:off x="1546412" y="793376"/>
            <a:ext cx="8875059"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State Transition Diagram  </a:t>
            </a:r>
            <a:endParaRPr lang="en-US" sz="3200" b="1" dirty="0"/>
          </a:p>
        </p:txBody>
      </p:sp>
      <p:pic>
        <p:nvPicPr>
          <p:cNvPr id="1026" name="Picture 2" descr="Operating Systems: Processes">
            <a:extLst>
              <a:ext uri="{FF2B5EF4-FFF2-40B4-BE49-F238E27FC236}">
                <a16:creationId xmlns:a16="http://schemas.microsoft.com/office/drawing/2014/main" id="{8D672C0A-B907-453D-D9A1-F2A8D9644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419" y="1586753"/>
            <a:ext cx="7463123" cy="4249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809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2301DDF-06AD-E91E-B3B4-CFEB7ADE7489}"/>
              </a:ext>
            </a:extLst>
          </p:cNvPr>
          <p:cNvSpPr/>
          <p:nvPr/>
        </p:nvSpPr>
        <p:spPr>
          <a:xfrm>
            <a:off x="1143000" y="457200"/>
            <a:ext cx="9493624"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OS Control Structures   </a:t>
            </a:r>
            <a:endParaRPr lang="en-US" sz="3200" b="1" dirty="0"/>
          </a:p>
        </p:txBody>
      </p:sp>
      <p:sp>
        <p:nvSpPr>
          <p:cNvPr id="6" name="TextBox 5">
            <a:extLst>
              <a:ext uri="{FF2B5EF4-FFF2-40B4-BE49-F238E27FC236}">
                <a16:creationId xmlns:a16="http://schemas.microsoft.com/office/drawing/2014/main" id="{1FDE9374-4424-1F6B-63AD-7DB12E288295}"/>
              </a:ext>
            </a:extLst>
          </p:cNvPr>
          <p:cNvSpPr txBox="1"/>
          <p:nvPr/>
        </p:nvSpPr>
        <p:spPr>
          <a:xfrm>
            <a:off x="1264024" y="1121113"/>
            <a:ext cx="8471647" cy="1631216"/>
          </a:xfrm>
          <a:prstGeom prst="rect">
            <a:avLst/>
          </a:prstGeom>
          <a:noFill/>
        </p:spPr>
        <p:txBody>
          <a:bodyPr wrap="square">
            <a:spAutoFit/>
          </a:bodyPr>
          <a:lstStyle/>
          <a:p>
            <a:pPr marL="0" indent="0" eaLnBrk="1" hangingPunct="1">
              <a:buClr>
                <a:srgbClr val="0000CC"/>
              </a:buClr>
              <a:buNone/>
            </a:pPr>
            <a:r>
              <a:rPr lang="en-US" sz="2000" dirty="0"/>
              <a:t>An OS maintains the following tables for managing processes and resources:</a:t>
            </a:r>
          </a:p>
          <a:p>
            <a:pPr lvl="1" eaLnBrk="1" hangingPunct="1">
              <a:buClr>
                <a:srgbClr val="0000CC"/>
              </a:buClr>
              <a:buFont typeface="Wingdings" pitchFamily="2" charset="2"/>
              <a:buChar char="§"/>
            </a:pPr>
            <a:r>
              <a:rPr lang="en-US" sz="2000" dirty="0"/>
              <a:t>Memory tables </a:t>
            </a:r>
          </a:p>
          <a:p>
            <a:pPr lvl="1" eaLnBrk="1" hangingPunct="1">
              <a:buClr>
                <a:srgbClr val="0000CC"/>
              </a:buClr>
              <a:buFont typeface="Wingdings" pitchFamily="2" charset="2"/>
              <a:buChar char="§"/>
            </a:pPr>
            <a:r>
              <a:rPr lang="en-US" sz="2000" dirty="0"/>
              <a:t>I/O tables</a:t>
            </a:r>
          </a:p>
          <a:p>
            <a:pPr lvl="1" eaLnBrk="1" hangingPunct="1">
              <a:buClr>
                <a:srgbClr val="0000CC"/>
              </a:buClr>
              <a:buFont typeface="Wingdings" pitchFamily="2" charset="2"/>
              <a:buChar char="§"/>
            </a:pPr>
            <a:r>
              <a:rPr lang="en-US" sz="2000" dirty="0"/>
              <a:t>File tables</a:t>
            </a:r>
          </a:p>
          <a:p>
            <a:pPr lvl="1" eaLnBrk="1" hangingPunct="1">
              <a:buClr>
                <a:srgbClr val="0000CC"/>
              </a:buClr>
              <a:buFont typeface="Wingdings" pitchFamily="2" charset="2"/>
              <a:buChar char="§"/>
            </a:pPr>
            <a:r>
              <a:rPr lang="en-US" sz="2000" dirty="0"/>
              <a:t>Process tables</a:t>
            </a:r>
          </a:p>
        </p:txBody>
      </p:sp>
      <p:sp>
        <p:nvSpPr>
          <p:cNvPr id="8" name="TextBox 7">
            <a:extLst>
              <a:ext uri="{FF2B5EF4-FFF2-40B4-BE49-F238E27FC236}">
                <a16:creationId xmlns:a16="http://schemas.microsoft.com/office/drawing/2014/main" id="{9B68B1FC-812B-6FBA-24F1-84A19423197B}"/>
              </a:ext>
            </a:extLst>
          </p:cNvPr>
          <p:cNvSpPr txBox="1"/>
          <p:nvPr/>
        </p:nvSpPr>
        <p:spPr>
          <a:xfrm>
            <a:off x="1264024" y="3685929"/>
            <a:ext cx="9829800" cy="2560701"/>
          </a:xfrm>
          <a:prstGeom prst="rect">
            <a:avLst/>
          </a:prstGeom>
          <a:noFill/>
        </p:spPr>
        <p:txBody>
          <a:bodyPr wrap="square">
            <a:spAutoFit/>
          </a:bodyPr>
          <a:lstStyle/>
          <a:p>
            <a:pPr marL="342900" indent="-342900" eaLnBrk="1" hangingPunct="1">
              <a:buClr>
                <a:srgbClr val="0000CC"/>
              </a:buClr>
              <a:buFont typeface="Wingdings" panose="05000000000000000000" pitchFamily="2" charset="2"/>
              <a:buChar char="Ø"/>
            </a:pPr>
            <a:r>
              <a:rPr lang="en-US" sz="2000" b="1" dirty="0"/>
              <a:t>Process management:</a:t>
            </a:r>
            <a:r>
              <a:rPr lang="en-US" sz="2000" dirty="0"/>
              <a:t> Process creation, termination, scheduling, dispatching, switching, synchronization, IPC support, management of PCBs</a:t>
            </a:r>
          </a:p>
          <a:p>
            <a:pPr marL="285750" indent="-285750" eaLnBrk="1" hangingPunct="1">
              <a:buClr>
                <a:srgbClr val="0000CC"/>
              </a:buClr>
              <a:buFont typeface="Wingdings" panose="05000000000000000000" pitchFamily="2" charset="2"/>
              <a:buChar char="Ø"/>
            </a:pPr>
            <a:endParaRPr lang="en-US" sz="1400" dirty="0"/>
          </a:p>
          <a:p>
            <a:pPr marL="342900" indent="-342900" eaLnBrk="1" hangingPunct="1">
              <a:buClr>
                <a:srgbClr val="0000CC"/>
              </a:buClr>
              <a:buFont typeface="Wingdings" panose="05000000000000000000" pitchFamily="2" charset="2"/>
              <a:buChar char="Ø"/>
            </a:pPr>
            <a:r>
              <a:rPr lang="en-US" sz="2000" b="1" dirty="0"/>
              <a:t>Memory management:</a:t>
            </a:r>
            <a:r>
              <a:rPr lang="en-US" sz="2000" dirty="0"/>
              <a:t> Allocation of address space to processes, swapping, page and segment management.</a:t>
            </a:r>
          </a:p>
          <a:p>
            <a:pPr marL="285750" indent="-285750" eaLnBrk="1" hangingPunct="1">
              <a:buClr>
                <a:srgbClr val="0000CC"/>
              </a:buClr>
              <a:buFont typeface="Wingdings" panose="05000000000000000000" pitchFamily="2" charset="2"/>
              <a:buChar char="Ø"/>
            </a:pPr>
            <a:endParaRPr lang="en-US" sz="1400" dirty="0"/>
          </a:p>
          <a:p>
            <a:pPr marL="342900" indent="-342900" eaLnBrk="1" hangingPunct="1">
              <a:buClr>
                <a:srgbClr val="0000CC"/>
              </a:buClr>
              <a:buFont typeface="Wingdings" panose="05000000000000000000" pitchFamily="2" charset="2"/>
              <a:buChar char="Ø"/>
            </a:pPr>
            <a:r>
              <a:rPr lang="en-US" sz="2000" b="1" dirty="0"/>
              <a:t>IO management:</a:t>
            </a:r>
            <a:r>
              <a:rPr lang="en-US" sz="2000" dirty="0"/>
              <a:t> Buffer management, allocation of IO channels and devices to processes.</a:t>
            </a:r>
          </a:p>
          <a:p>
            <a:pPr marL="342900" indent="-342900" eaLnBrk="1" hangingPunct="1">
              <a:lnSpc>
                <a:spcPct val="80000"/>
              </a:lnSpc>
              <a:buClr>
                <a:srgbClr val="0000CC"/>
              </a:buClr>
              <a:buFont typeface="Wingdings" panose="05000000000000000000" pitchFamily="2" charset="2"/>
              <a:buChar char="Ø"/>
            </a:pPr>
            <a:endParaRPr lang="en-US" sz="2000" dirty="0"/>
          </a:p>
          <a:p>
            <a:pPr marL="342900" indent="-342900" eaLnBrk="1" hangingPunct="1">
              <a:lnSpc>
                <a:spcPct val="80000"/>
              </a:lnSpc>
              <a:buClr>
                <a:srgbClr val="0000CC"/>
              </a:buClr>
              <a:buFont typeface="Wingdings" panose="05000000000000000000" pitchFamily="2" charset="2"/>
              <a:buChar char="Ø"/>
            </a:pPr>
            <a:r>
              <a:rPr lang="en-US" sz="2000" b="1" dirty="0"/>
              <a:t>Support functions:</a:t>
            </a:r>
            <a:r>
              <a:rPr lang="en-US" sz="2000" dirty="0"/>
              <a:t> Interrupt handling, accounting, monitoring.</a:t>
            </a:r>
          </a:p>
        </p:txBody>
      </p:sp>
      <p:sp>
        <p:nvSpPr>
          <p:cNvPr id="9" name="Rectangle: Rounded Corners 8">
            <a:extLst>
              <a:ext uri="{FF2B5EF4-FFF2-40B4-BE49-F238E27FC236}">
                <a16:creationId xmlns:a16="http://schemas.microsoft.com/office/drawing/2014/main" id="{38730C2E-F497-9BF7-9E62-61BA156CDD13}"/>
              </a:ext>
            </a:extLst>
          </p:cNvPr>
          <p:cNvSpPr/>
          <p:nvPr/>
        </p:nvSpPr>
        <p:spPr>
          <a:xfrm>
            <a:off x="1134036" y="2976277"/>
            <a:ext cx="9493624"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OS Functions related to Processes</a:t>
            </a:r>
          </a:p>
        </p:txBody>
      </p:sp>
    </p:spTree>
    <p:extLst>
      <p:ext uri="{BB962C8B-B14F-4D97-AF65-F5344CB8AC3E}">
        <p14:creationId xmlns:p14="http://schemas.microsoft.com/office/powerpoint/2010/main" val="3390633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2FCD05-A1AE-8880-6A6C-362E27271E80}"/>
              </a:ext>
            </a:extLst>
          </p:cNvPr>
          <p:cNvSpPr/>
          <p:nvPr/>
        </p:nvSpPr>
        <p:spPr>
          <a:xfrm>
            <a:off x="874059" y="524435"/>
            <a:ext cx="10179423" cy="443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Process Control Block (PCB)  or  Process Descriptor</a:t>
            </a:r>
            <a:endParaRPr lang="en-US" sz="3200" dirty="0"/>
          </a:p>
        </p:txBody>
      </p:sp>
      <p:sp>
        <p:nvSpPr>
          <p:cNvPr id="6" name="TextBox 5">
            <a:extLst>
              <a:ext uri="{FF2B5EF4-FFF2-40B4-BE49-F238E27FC236}">
                <a16:creationId xmlns:a16="http://schemas.microsoft.com/office/drawing/2014/main" id="{22D0AF49-A7DF-E28C-E203-5A7E915345AF}"/>
              </a:ext>
            </a:extLst>
          </p:cNvPr>
          <p:cNvSpPr txBox="1"/>
          <p:nvPr/>
        </p:nvSpPr>
        <p:spPr>
          <a:xfrm>
            <a:off x="874059" y="1436776"/>
            <a:ext cx="6938682" cy="3374770"/>
          </a:xfrm>
          <a:prstGeom prst="rect">
            <a:avLst/>
          </a:prstGeom>
          <a:noFill/>
        </p:spPr>
        <p:txBody>
          <a:bodyPr wrap="square">
            <a:spAutoFit/>
          </a:bodyPr>
          <a:lstStyle/>
          <a:p>
            <a:pPr marL="400050" indent="-400050" algn="just">
              <a:spcBef>
                <a:spcPct val="20000"/>
              </a:spcBef>
              <a:buClr>
                <a:srgbClr val="0000CC"/>
              </a:buClr>
              <a:buFont typeface="Wingdings" pitchFamily="2" charset="2"/>
              <a:buNone/>
            </a:pPr>
            <a:r>
              <a:rPr lang="en-US" sz="2800" b="1" dirty="0"/>
              <a:t>It's a data structure holding:</a:t>
            </a:r>
          </a:p>
          <a:p>
            <a:pPr marL="400050" indent="-400050" algn="just">
              <a:spcBef>
                <a:spcPct val="20000"/>
              </a:spcBef>
              <a:buClr>
                <a:srgbClr val="0000CC"/>
              </a:buClr>
              <a:buFont typeface="Wingdings" pitchFamily="2" charset="2"/>
              <a:buNone/>
            </a:pPr>
            <a:endParaRPr lang="en-US" sz="400" dirty="0"/>
          </a:p>
          <a:p>
            <a:pPr marL="400050" indent="-400050" algn="just">
              <a:lnSpc>
                <a:spcPct val="110000"/>
              </a:lnSpc>
              <a:spcBef>
                <a:spcPct val="20000"/>
              </a:spcBef>
              <a:buClr>
                <a:srgbClr val="0000CC"/>
              </a:buClr>
              <a:buFont typeface="Wingdings" pitchFamily="2" charset="2"/>
              <a:buChar char="§"/>
            </a:pPr>
            <a:r>
              <a:rPr lang="en-US" sz="2000" dirty="0"/>
              <a:t>PC, CPU registers,</a:t>
            </a:r>
          </a:p>
          <a:p>
            <a:pPr marL="400050" indent="-400050" algn="just">
              <a:lnSpc>
                <a:spcPct val="110000"/>
              </a:lnSpc>
              <a:spcBef>
                <a:spcPct val="20000"/>
              </a:spcBef>
              <a:buClr>
                <a:srgbClr val="0000CC"/>
              </a:buClr>
              <a:buFont typeface="Wingdings" pitchFamily="2" charset="2"/>
              <a:buChar char="§"/>
            </a:pPr>
            <a:r>
              <a:rPr lang="en-US" sz="2000" dirty="0"/>
              <a:t>memory management information,</a:t>
            </a:r>
          </a:p>
          <a:p>
            <a:pPr marL="400050" indent="-400050" algn="just">
              <a:lnSpc>
                <a:spcPct val="110000"/>
              </a:lnSpc>
              <a:spcBef>
                <a:spcPct val="20000"/>
              </a:spcBef>
              <a:buClr>
                <a:srgbClr val="0000CC"/>
              </a:buClr>
              <a:buFont typeface="Wingdings" pitchFamily="2" charset="2"/>
              <a:buChar char="§"/>
            </a:pPr>
            <a:r>
              <a:rPr lang="en-US" sz="2000" dirty="0"/>
              <a:t>accounting ( time used, ID, ... )</a:t>
            </a:r>
          </a:p>
          <a:p>
            <a:pPr marL="400050" indent="-400050" algn="just">
              <a:lnSpc>
                <a:spcPct val="110000"/>
              </a:lnSpc>
              <a:spcBef>
                <a:spcPct val="20000"/>
              </a:spcBef>
              <a:buClr>
                <a:srgbClr val="0000CC"/>
              </a:buClr>
              <a:buFont typeface="Wingdings" pitchFamily="2" charset="2"/>
              <a:buChar char="§"/>
            </a:pPr>
            <a:r>
              <a:rPr lang="en-US" sz="2000" dirty="0"/>
              <a:t>I/O status ( such as file resources ),</a:t>
            </a:r>
          </a:p>
          <a:p>
            <a:pPr marL="400050" indent="-400050" algn="just">
              <a:lnSpc>
                <a:spcPct val="110000"/>
              </a:lnSpc>
              <a:spcBef>
                <a:spcPct val="20000"/>
              </a:spcBef>
              <a:buClr>
                <a:srgbClr val="0000CC"/>
              </a:buClr>
              <a:buFont typeface="Wingdings" pitchFamily="2" charset="2"/>
              <a:buChar char="§"/>
            </a:pPr>
            <a:r>
              <a:rPr lang="en-US" sz="2000" dirty="0"/>
              <a:t>scheduling data ( relative priority, etc. )</a:t>
            </a:r>
          </a:p>
          <a:p>
            <a:pPr marL="400050" indent="-400050" algn="just">
              <a:lnSpc>
                <a:spcPct val="110000"/>
              </a:lnSpc>
              <a:spcBef>
                <a:spcPct val="20000"/>
              </a:spcBef>
              <a:buClr>
                <a:srgbClr val="0000CC"/>
              </a:buClr>
              <a:buFont typeface="Wingdings" pitchFamily="2" charset="2"/>
              <a:buChar char="§"/>
            </a:pPr>
            <a:r>
              <a:rPr lang="en-US" sz="2000" dirty="0"/>
              <a:t>Process State (running, suspended, etc. is simply a field in the PCB ).</a:t>
            </a:r>
            <a:endParaRPr lang="en-US" sz="2000" b="1" dirty="0"/>
          </a:p>
        </p:txBody>
      </p:sp>
      <p:pic>
        <p:nvPicPr>
          <p:cNvPr id="7" name="Picture 5">
            <a:extLst>
              <a:ext uri="{FF2B5EF4-FFF2-40B4-BE49-F238E27FC236}">
                <a16:creationId xmlns:a16="http://schemas.microsoft.com/office/drawing/2014/main" id="{DAE79890-EAB8-6934-1410-5DCBC8A55E18}"/>
              </a:ext>
            </a:extLst>
          </p:cNvPr>
          <p:cNvPicPr>
            <a:picLocks noChangeAspect="1" noChangeArrowheads="1"/>
          </p:cNvPicPr>
          <p:nvPr/>
        </p:nvPicPr>
        <p:blipFill>
          <a:blip r:embed="rId2" cstate="print"/>
          <a:srcRect l="28017" t="731" r="28017" b="540"/>
          <a:stretch>
            <a:fillRect/>
          </a:stretch>
        </p:blipFill>
        <p:spPr bwMode="auto">
          <a:xfrm>
            <a:off x="8178817" y="1389938"/>
            <a:ext cx="2820877" cy="4943627"/>
          </a:xfrm>
          <a:prstGeom prst="rect">
            <a:avLst/>
          </a:prstGeom>
          <a:noFill/>
          <a:ln w="9525">
            <a:noFill/>
            <a:miter lim="800000"/>
            <a:headEnd/>
            <a:tailEnd/>
          </a:ln>
        </p:spPr>
      </p:pic>
    </p:spTree>
    <p:extLst>
      <p:ext uri="{BB962C8B-B14F-4D97-AF65-F5344CB8AC3E}">
        <p14:creationId xmlns:p14="http://schemas.microsoft.com/office/powerpoint/2010/main" val="1556595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9F9FB4-50AA-DA51-30D1-4B06A061AE23}"/>
              </a:ext>
            </a:extLst>
          </p:cNvPr>
          <p:cNvSpPr txBox="1"/>
          <p:nvPr/>
        </p:nvSpPr>
        <p:spPr>
          <a:xfrm>
            <a:off x="793376" y="1028343"/>
            <a:ext cx="10475259" cy="5416868"/>
          </a:xfrm>
          <a:prstGeom prst="rect">
            <a:avLst/>
          </a:prstGeom>
          <a:noFill/>
        </p:spPr>
        <p:txBody>
          <a:bodyPr wrap="square">
            <a:spAutoFit/>
          </a:bodyPr>
          <a:lstStyle/>
          <a:p>
            <a:pPr marL="342900" indent="-342900" algn="l" fontAlgn="base">
              <a:buFont typeface="Arial" panose="020B0604020202020204" pitchFamily="34" charset="0"/>
              <a:buChar char="•"/>
            </a:pPr>
            <a:r>
              <a:rPr lang="en-IN" sz="2000" b="1" i="0" dirty="0">
                <a:solidFill>
                  <a:srgbClr val="273239"/>
                </a:solidFill>
                <a:effectLst/>
                <a:latin typeface="urw-din"/>
              </a:rPr>
              <a:t>Pointer –</a:t>
            </a:r>
            <a:r>
              <a:rPr lang="en-IN" sz="2000" b="0" i="0" dirty="0">
                <a:solidFill>
                  <a:srgbClr val="273239"/>
                </a:solidFill>
                <a:effectLst/>
                <a:latin typeface="urw-din"/>
              </a:rPr>
              <a:t> It is a stack pointer which is required to be saved when the process is switched from one state to another to retain the current position of the process.</a:t>
            </a:r>
          </a:p>
          <a:p>
            <a:pPr marL="342900" indent="-342900" algn="l" fontAlgn="base">
              <a:buFont typeface="Arial" panose="020B0604020202020204" pitchFamily="34" charset="0"/>
              <a:buChar char="•"/>
            </a:pPr>
            <a:endParaRPr lang="en-IN" sz="1400" b="0"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Process state –</a:t>
            </a:r>
            <a:r>
              <a:rPr lang="en-IN" sz="2000" b="0" i="0" dirty="0">
                <a:solidFill>
                  <a:srgbClr val="273239"/>
                </a:solidFill>
                <a:effectLst/>
                <a:latin typeface="urw-din"/>
              </a:rPr>
              <a:t> It stores the respective state of the process.</a:t>
            </a:r>
          </a:p>
          <a:p>
            <a:pPr marL="342900" indent="-342900" algn="l" fontAlgn="base">
              <a:buFont typeface="Arial" panose="020B0604020202020204" pitchFamily="34" charset="0"/>
              <a:buChar char="•"/>
            </a:pPr>
            <a:endParaRPr lang="en-IN" sz="12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Process number –</a:t>
            </a:r>
            <a:r>
              <a:rPr lang="en-IN" sz="2000" b="0" i="0" dirty="0">
                <a:solidFill>
                  <a:srgbClr val="273239"/>
                </a:solidFill>
                <a:effectLst/>
                <a:latin typeface="urw-din"/>
              </a:rPr>
              <a:t> Every process is assigned with a unique id known as process ID or PID which stores the process identifier.</a:t>
            </a:r>
          </a:p>
          <a:p>
            <a:pPr marL="342900" indent="-342900" algn="l" fontAlgn="base">
              <a:buFont typeface="Arial" panose="020B0604020202020204" pitchFamily="34" charset="0"/>
              <a:buChar char="•"/>
            </a:pPr>
            <a:endParaRPr lang="en-IN" sz="12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Program counter –</a:t>
            </a:r>
            <a:r>
              <a:rPr lang="en-IN" sz="2000" b="0" i="0" dirty="0">
                <a:solidFill>
                  <a:srgbClr val="273239"/>
                </a:solidFill>
                <a:effectLst/>
                <a:latin typeface="urw-din"/>
              </a:rPr>
              <a:t> It stores the counter which contains the address of the next instruction that is to be executed for the process.</a:t>
            </a:r>
          </a:p>
          <a:p>
            <a:pPr marL="342900" indent="-342900" algn="l" fontAlgn="base">
              <a:buFont typeface="Arial" panose="020B0604020202020204" pitchFamily="34" charset="0"/>
              <a:buChar char="•"/>
            </a:pPr>
            <a:endParaRPr lang="en-IN" sz="14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Register –</a:t>
            </a:r>
            <a:r>
              <a:rPr lang="en-IN" sz="2000" b="0" i="0" dirty="0">
                <a:solidFill>
                  <a:srgbClr val="273239"/>
                </a:solidFill>
                <a:effectLst/>
                <a:latin typeface="urw-din"/>
              </a:rPr>
              <a:t> These are the CPU registers which includes: accumulator, base, registers and general purpose registers.</a:t>
            </a:r>
          </a:p>
          <a:p>
            <a:pPr marL="342900" indent="-342900" algn="l" fontAlgn="base">
              <a:buFont typeface="Arial" panose="020B0604020202020204" pitchFamily="34" charset="0"/>
              <a:buChar char="•"/>
            </a:pPr>
            <a:endParaRPr lang="en-IN" sz="12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Memory limits –</a:t>
            </a:r>
            <a:r>
              <a:rPr lang="en-IN" sz="2000" b="0" i="0" dirty="0">
                <a:solidFill>
                  <a:srgbClr val="273239"/>
                </a:solidFill>
                <a:effectLst/>
                <a:latin typeface="urw-din"/>
              </a:rPr>
              <a:t> This field contains the information about memory management system used by operating system. This may include the page tables, segment tables etc.</a:t>
            </a:r>
          </a:p>
          <a:p>
            <a:pPr marL="342900" indent="-342900" algn="l" fontAlgn="base">
              <a:buFont typeface="Arial" panose="020B0604020202020204" pitchFamily="34" charset="0"/>
              <a:buChar char="•"/>
            </a:pPr>
            <a:endParaRPr lang="en-IN" sz="12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Open files list –</a:t>
            </a:r>
            <a:r>
              <a:rPr lang="en-IN" sz="2000" b="0" i="0" dirty="0">
                <a:solidFill>
                  <a:srgbClr val="273239"/>
                </a:solidFill>
                <a:effectLst/>
                <a:latin typeface="urw-din"/>
              </a:rPr>
              <a:t> This information includes the list of files opened for a process.</a:t>
            </a:r>
          </a:p>
          <a:p>
            <a:endParaRPr lang="en-US" sz="2000" dirty="0"/>
          </a:p>
        </p:txBody>
      </p:sp>
    </p:spTree>
    <p:extLst>
      <p:ext uri="{BB962C8B-B14F-4D97-AF65-F5344CB8AC3E}">
        <p14:creationId xmlns:p14="http://schemas.microsoft.com/office/powerpoint/2010/main" val="1891461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F619CC7-4C5B-1553-DAAE-AD0B25CD4FA6}"/>
              </a:ext>
            </a:extLst>
          </p:cNvPr>
          <p:cNvSpPr/>
          <p:nvPr/>
        </p:nvSpPr>
        <p:spPr>
          <a:xfrm>
            <a:off x="995082" y="524435"/>
            <a:ext cx="10058400" cy="443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Process Table Entry (PCB)  </a:t>
            </a:r>
            <a:endParaRPr lang="en-US" sz="3200" b="1" dirty="0"/>
          </a:p>
        </p:txBody>
      </p:sp>
      <p:pic>
        <p:nvPicPr>
          <p:cNvPr id="5" name="Picture 4">
            <a:extLst>
              <a:ext uri="{FF2B5EF4-FFF2-40B4-BE49-F238E27FC236}">
                <a16:creationId xmlns:a16="http://schemas.microsoft.com/office/drawing/2014/main" id="{25E742D9-4A7E-CE22-09EF-A78662E9824F}"/>
              </a:ext>
            </a:extLst>
          </p:cNvPr>
          <p:cNvPicPr>
            <a:picLocks noChangeAspect="1" noChangeArrowheads="1"/>
          </p:cNvPicPr>
          <p:nvPr/>
        </p:nvPicPr>
        <p:blipFill>
          <a:blip r:embed="rId2" cstate="print"/>
          <a:srcRect/>
          <a:stretch>
            <a:fillRect/>
          </a:stretch>
        </p:blipFill>
        <p:spPr bwMode="auto">
          <a:xfrm>
            <a:off x="1519512" y="990599"/>
            <a:ext cx="9170900" cy="5342965"/>
          </a:xfrm>
          <a:prstGeom prst="rect">
            <a:avLst/>
          </a:prstGeom>
          <a:noFill/>
          <a:ln w="9525">
            <a:noFill/>
            <a:miter lim="800000"/>
            <a:headEnd/>
            <a:tailEnd/>
          </a:ln>
        </p:spPr>
      </p:pic>
    </p:spTree>
    <p:extLst>
      <p:ext uri="{BB962C8B-B14F-4D97-AF65-F5344CB8AC3E}">
        <p14:creationId xmlns:p14="http://schemas.microsoft.com/office/powerpoint/2010/main" val="476599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BFFC79A4-293F-8FD4-AAB3-EF2460D250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1547" y="857250"/>
            <a:ext cx="82296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80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F94BC3D-599E-07B3-1672-41AD200A6FD8}"/>
              </a:ext>
            </a:extLst>
          </p:cNvPr>
          <p:cNvSpPr/>
          <p:nvPr/>
        </p:nvSpPr>
        <p:spPr>
          <a:xfrm>
            <a:off x="1035423" y="484094"/>
            <a:ext cx="9923929" cy="4034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Process Hierarchy  </a:t>
            </a:r>
            <a:endParaRPr lang="en-US" sz="3200" b="1" dirty="0"/>
          </a:p>
        </p:txBody>
      </p:sp>
      <p:pic>
        <p:nvPicPr>
          <p:cNvPr id="7" name="Picture 2">
            <a:extLst>
              <a:ext uri="{FF2B5EF4-FFF2-40B4-BE49-F238E27FC236}">
                <a16:creationId xmlns:a16="http://schemas.microsoft.com/office/drawing/2014/main" id="{FD473B98-A248-FCC9-CDC9-56339DAA1A41}"/>
              </a:ext>
            </a:extLst>
          </p:cNvPr>
          <p:cNvPicPr>
            <a:picLocks noGrp="1" noChangeAspect="1" noChangeArrowheads="1"/>
          </p:cNvPicPr>
          <p:nvPr>
            <p:ph idx="1"/>
          </p:nvPr>
        </p:nvPicPr>
        <p:blipFill>
          <a:blip r:embed="rId2" cstate="print"/>
          <a:srcRect/>
          <a:stretch>
            <a:fillRect/>
          </a:stretch>
        </p:blipFill>
        <p:spPr bwMode="auto">
          <a:xfrm>
            <a:off x="1990166" y="914400"/>
            <a:ext cx="8323728" cy="5943600"/>
          </a:xfrm>
          <a:prstGeom prst="rect">
            <a:avLst/>
          </a:prstGeom>
          <a:noFill/>
          <a:ln w="9525">
            <a:noFill/>
            <a:miter lim="800000"/>
            <a:headEnd/>
            <a:tailEnd/>
          </a:ln>
          <a:effectLst/>
        </p:spPr>
      </p:pic>
    </p:spTree>
    <p:extLst>
      <p:ext uri="{BB962C8B-B14F-4D97-AF65-F5344CB8AC3E}">
        <p14:creationId xmlns:p14="http://schemas.microsoft.com/office/powerpoint/2010/main" val="1672572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2F510FA-48EF-7619-317B-97114809DA61}"/>
              </a:ext>
            </a:extLst>
          </p:cNvPr>
          <p:cNvSpPr/>
          <p:nvPr/>
        </p:nvSpPr>
        <p:spPr>
          <a:xfrm>
            <a:off x="1304365" y="537882"/>
            <a:ext cx="938604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Process ID   </a:t>
            </a:r>
            <a:endParaRPr lang="en-US" sz="3200" b="1" dirty="0"/>
          </a:p>
        </p:txBody>
      </p:sp>
      <p:pic>
        <p:nvPicPr>
          <p:cNvPr id="5" name="Picture 2">
            <a:extLst>
              <a:ext uri="{FF2B5EF4-FFF2-40B4-BE49-F238E27FC236}">
                <a16:creationId xmlns:a16="http://schemas.microsoft.com/office/drawing/2014/main" id="{320B3193-BEE1-F5B7-AB93-4C8A9E30C77D}"/>
              </a:ext>
            </a:extLst>
          </p:cNvPr>
          <p:cNvPicPr>
            <a:picLocks noGrp="1" noChangeAspect="1" noChangeArrowheads="1"/>
          </p:cNvPicPr>
          <p:nvPr>
            <p:ph idx="1"/>
          </p:nvPr>
        </p:nvPicPr>
        <p:blipFill>
          <a:blip r:embed="rId2"/>
          <a:srcRect/>
          <a:stretch>
            <a:fillRect/>
          </a:stretch>
        </p:blipFill>
        <p:spPr bwMode="auto">
          <a:xfrm>
            <a:off x="1515030" y="1147482"/>
            <a:ext cx="8812311" cy="4648200"/>
          </a:xfrm>
          <a:prstGeom prst="rect">
            <a:avLst/>
          </a:prstGeom>
          <a:noFill/>
          <a:ln w="9525">
            <a:noFill/>
            <a:miter lim="800000"/>
            <a:headEnd/>
            <a:tailEnd/>
          </a:ln>
          <a:effectLst/>
        </p:spPr>
      </p:pic>
    </p:spTree>
    <p:extLst>
      <p:ext uri="{BB962C8B-B14F-4D97-AF65-F5344CB8AC3E}">
        <p14:creationId xmlns:p14="http://schemas.microsoft.com/office/powerpoint/2010/main" val="589839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F6B28E-66A7-8EDA-924B-64C15F15B719}"/>
              </a:ext>
            </a:extLst>
          </p:cNvPr>
          <p:cNvSpPr txBox="1"/>
          <p:nvPr/>
        </p:nvSpPr>
        <p:spPr>
          <a:xfrm>
            <a:off x="927846" y="1060188"/>
            <a:ext cx="10394576" cy="419961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000" dirty="0"/>
              <a:t>The process that spawns a new process is known as the </a:t>
            </a:r>
            <a:r>
              <a:rPr lang="en-IN" sz="2000" b="1" dirty="0"/>
              <a:t>parent </a:t>
            </a:r>
            <a:r>
              <a:rPr lang="en-IN" sz="2000" dirty="0"/>
              <a:t>process.</a:t>
            </a:r>
          </a:p>
          <a:p>
            <a:pPr marL="342900" indent="-342900">
              <a:lnSpc>
                <a:spcPct val="150000"/>
              </a:lnSpc>
              <a:buFont typeface="Arial" panose="020B0604020202020204" pitchFamily="34" charset="0"/>
              <a:buChar char="•"/>
            </a:pPr>
            <a:r>
              <a:rPr lang="en-IN" sz="2000" dirty="0"/>
              <a:t>The new process is known as the </a:t>
            </a:r>
            <a:r>
              <a:rPr lang="en-IN" sz="2000" b="1" dirty="0"/>
              <a:t>child</a:t>
            </a:r>
            <a:r>
              <a:rPr lang="en-IN" sz="2000" dirty="0"/>
              <a:t> process.</a:t>
            </a:r>
          </a:p>
          <a:p>
            <a:pPr marL="342900" indent="-342900">
              <a:lnSpc>
                <a:spcPct val="150000"/>
              </a:lnSpc>
              <a:buFont typeface="Arial" panose="020B0604020202020204" pitchFamily="34" charset="0"/>
              <a:buChar char="•"/>
            </a:pPr>
            <a:r>
              <a:rPr lang="en-IN" sz="2000" dirty="0"/>
              <a:t>Each process is represented by a unique identifier, the </a:t>
            </a:r>
            <a:r>
              <a:rPr lang="en-IN" sz="2000" b="1" dirty="0"/>
              <a:t>process ID </a:t>
            </a:r>
            <a:r>
              <a:rPr lang="en-IN" sz="2000" dirty="0"/>
              <a:t>(frequently shortened to </a:t>
            </a:r>
            <a:r>
              <a:rPr lang="en-IN" sz="2000" dirty="0" err="1"/>
              <a:t>pid</a:t>
            </a:r>
            <a:r>
              <a:rPr lang="en-IN" sz="2000" dirty="0"/>
              <a:t>)</a:t>
            </a:r>
          </a:p>
          <a:p>
            <a:pPr marL="342900" indent="-342900">
              <a:lnSpc>
                <a:spcPct val="150000"/>
              </a:lnSpc>
              <a:buFont typeface="Arial" panose="020B0604020202020204" pitchFamily="34" charset="0"/>
              <a:buChar char="•"/>
            </a:pPr>
            <a:r>
              <a:rPr lang="en-IN" sz="2000" dirty="0"/>
              <a:t>The </a:t>
            </a:r>
            <a:r>
              <a:rPr lang="en-IN" sz="2000" b="1" dirty="0" err="1"/>
              <a:t>pid</a:t>
            </a:r>
            <a:r>
              <a:rPr lang="en-IN" sz="2000" dirty="0"/>
              <a:t> is guaranteed to be unique at any single point in time.</a:t>
            </a:r>
          </a:p>
          <a:p>
            <a:pPr marL="342900" indent="-342900">
              <a:lnSpc>
                <a:spcPct val="150000"/>
              </a:lnSpc>
              <a:buFont typeface="Arial" panose="020B0604020202020204" pitchFamily="34" charset="0"/>
              <a:buChar char="•"/>
            </a:pPr>
            <a:r>
              <a:rPr lang="en-IN" sz="2000" dirty="0"/>
              <a:t>The </a:t>
            </a:r>
            <a:r>
              <a:rPr lang="en-IN" sz="2000" b="1" dirty="0"/>
              <a:t>idle process</a:t>
            </a:r>
            <a:r>
              <a:rPr lang="en-IN" sz="2000" dirty="0"/>
              <a:t>, which is the process that the kernel “runs” when there are no other runnable processes, has the </a:t>
            </a:r>
            <a:r>
              <a:rPr lang="en-IN" sz="2000" b="1" dirty="0" err="1"/>
              <a:t>pid</a:t>
            </a:r>
            <a:r>
              <a:rPr lang="en-IN" sz="2000" b="1" dirty="0"/>
              <a:t> 0</a:t>
            </a:r>
            <a:r>
              <a:rPr lang="en-IN" sz="2000" dirty="0"/>
              <a:t>. </a:t>
            </a:r>
          </a:p>
          <a:p>
            <a:pPr marL="342900" indent="-342900">
              <a:lnSpc>
                <a:spcPct val="150000"/>
              </a:lnSpc>
              <a:buFont typeface="Arial" panose="020B0604020202020204" pitchFamily="34" charset="0"/>
              <a:buChar char="•"/>
            </a:pPr>
            <a:r>
              <a:rPr lang="en-IN" sz="2000" dirty="0"/>
              <a:t>The </a:t>
            </a:r>
            <a:r>
              <a:rPr lang="en-IN" sz="2000" b="1" dirty="0"/>
              <a:t>first process </a:t>
            </a:r>
            <a:r>
              <a:rPr lang="en-IN" sz="2000" dirty="0"/>
              <a:t>that the kernel executes after booting the system, called the </a:t>
            </a:r>
            <a:r>
              <a:rPr lang="en-IN" sz="2000" b="1" dirty="0" err="1"/>
              <a:t>init</a:t>
            </a:r>
            <a:r>
              <a:rPr lang="en-IN" sz="2000" dirty="0"/>
              <a:t> process, has the </a:t>
            </a:r>
            <a:r>
              <a:rPr lang="en-IN" sz="2000" b="1" dirty="0" err="1"/>
              <a:t>pid</a:t>
            </a:r>
            <a:r>
              <a:rPr lang="en-IN" sz="2000" b="1" dirty="0"/>
              <a:t> 1</a:t>
            </a:r>
          </a:p>
          <a:p>
            <a:pPr marL="342900" indent="-342900">
              <a:lnSpc>
                <a:spcPct val="150000"/>
              </a:lnSpc>
              <a:buFont typeface="Arial" panose="020B0604020202020204" pitchFamily="34" charset="0"/>
              <a:buChar char="•"/>
            </a:pPr>
            <a:r>
              <a:rPr lang="en-IN" sz="2000" dirty="0"/>
              <a:t>By default, the kernel imposes a </a:t>
            </a:r>
            <a:r>
              <a:rPr lang="en-IN" sz="2000" b="1" dirty="0"/>
              <a:t>maximum</a:t>
            </a:r>
            <a:r>
              <a:rPr lang="en-IN" sz="2000" dirty="0"/>
              <a:t> process ID value of </a:t>
            </a:r>
            <a:r>
              <a:rPr lang="en-IN" sz="2000" b="1" dirty="0"/>
              <a:t>32768</a:t>
            </a:r>
            <a:endParaRPr lang="en-US" sz="2000" b="1" dirty="0"/>
          </a:p>
        </p:txBody>
      </p:sp>
    </p:spTree>
    <p:extLst>
      <p:ext uri="{BB962C8B-B14F-4D97-AF65-F5344CB8AC3E}">
        <p14:creationId xmlns:p14="http://schemas.microsoft.com/office/powerpoint/2010/main" val="2400196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C5D522E-4D64-A8AD-1F6A-D5F9DB82340D}"/>
              </a:ext>
            </a:extLst>
          </p:cNvPr>
          <p:cNvSpPr/>
          <p:nvPr/>
        </p:nvSpPr>
        <p:spPr>
          <a:xfrm>
            <a:off x="1143000" y="551329"/>
            <a:ext cx="9776012" cy="53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APIs to get </a:t>
            </a:r>
            <a:r>
              <a:rPr lang="en-US" sz="2400" b="1" dirty="0"/>
              <a:t>Process and Parent Process ID  </a:t>
            </a:r>
          </a:p>
        </p:txBody>
      </p:sp>
      <p:sp>
        <p:nvSpPr>
          <p:cNvPr id="6" name="TextBox 5">
            <a:extLst>
              <a:ext uri="{FF2B5EF4-FFF2-40B4-BE49-F238E27FC236}">
                <a16:creationId xmlns:a16="http://schemas.microsoft.com/office/drawing/2014/main" id="{D21E9548-FB4D-6269-0587-ED9DFA1AFD19}"/>
              </a:ext>
            </a:extLst>
          </p:cNvPr>
          <p:cNvSpPr txBox="1"/>
          <p:nvPr/>
        </p:nvSpPr>
        <p:spPr>
          <a:xfrm>
            <a:off x="1344706" y="1170607"/>
            <a:ext cx="7960659" cy="1938992"/>
          </a:xfrm>
          <a:prstGeom prst="rect">
            <a:avLst/>
          </a:prstGeom>
          <a:noFill/>
        </p:spPr>
        <p:txBody>
          <a:bodyPr wrap="square">
            <a:spAutoFit/>
          </a:bodyPr>
          <a:lstStyle/>
          <a:p>
            <a:pPr eaLnBrk="1" hangingPunct="1">
              <a:buClr>
                <a:srgbClr val="0000CC"/>
              </a:buClr>
              <a:buFont typeface="Wingdings" pitchFamily="2" charset="2"/>
              <a:buChar char="Ø"/>
            </a:pPr>
            <a:r>
              <a:rPr lang="en-US" sz="2000" b="1" dirty="0" err="1"/>
              <a:t>getpid</a:t>
            </a:r>
            <a:r>
              <a:rPr lang="en-US" sz="2000" b="1" dirty="0"/>
              <a:t>() </a:t>
            </a:r>
            <a:r>
              <a:rPr lang="en-US" sz="2000" dirty="0"/>
              <a:t>return the process id of current process</a:t>
            </a:r>
          </a:p>
          <a:p>
            <a:pPr eaLnBrk="1" hangingPunct="1">
              <a:buClr>
                <a:srgbClr val="0000CC"/>
              </a:buClr>
            </a:pPr>
            <a:r>
              <a:rPr lang="en-US" sz="2000" dirty="0"/>
              <a:t>	</a:t>
            </a:r>
            <a:r>
              <a:rPr lang="en-US" sz="2000" dirty="0" err="1"/>
              <a:t>pid_t</a:t>
            </a:r>
            <a:r>
              <a:rPr lang="en-US" sz="2000" dirty="0"/>
              <a:t> </a:t>
            </a:r>
            <a:r>
              <a:rPr lang="en-US" sz="2000" dirty="0" err="1"/>
              <a:t>getpid</a:t>
            </a:r>
            <a:r>
              <a:rPr lang="en-US" sz="2000" dirty="0"/>
              <a:t>(void)</a:t>
            </a:r>
          </a:p>
          <a:p>
            <a:pPr eaLnBrk="1" hangingPunct="1">
              <a:buClr>
                <a:srgbClr val="0000CC"/>
              </a:buClr>
              <a:buFont typeface="Wingdings" pitchFamily="2" charset="2"/>
              <a:buNone/>
            </a:pPr>
            <a:endParaRPr lang="en-US" sz="2000" dirty="0"/>
          </a:p>
          <a:p>
            <a:pPr eaLnBrk="1" hangingPunct="1">
              <a:buClr>
                <a:srgbClr val="0000CC"/>
              </a:buClr>
              <a:buFont typeface="Wingdings" pitchFamily="2" charset="2"/>
              <a:buChar char="Ø"/>
            </a:pPr>
            <a:r>
              <a:rPr lang="en-US" sz="2000" b="1" dirty="0" err="1"/>
              <a:t>getppid</a:t>
            </a:r>
            <a:r>
              <a:rPr lang="en-US" sz="2000" b="1" dirty="0"/>
              <a:t>() </a:t>
            </a:r>
            <a:r>
              <a:rPr lang="en-US" sz="2000" dirty="0"/>
              <a:t>returns the process id of parent of the current process</a:t>
            </a:r>
          </a:p>
          <a:p>
            <a:pPr eaLnBrk="1" hangingPunct="1">
              <a:buClr>
                <a:srgbClr val="0000CC"/>
              </a:buClr>
            </a:pPr>
            <a:r>
              <a:rPr lang="en-US" sz="2000" dirty="0"/>
              <a:t>	</a:t>
            </a:r>
            <a:r>
              <a:rPr lang="en-US" sz="2000" dirty="0" err="1"/>
              <a:t>pid_t</a:t>
            </a:r>
            <a:r>
              <a:rPr lang="en-US" sz="2000" dirty="0"/>
              <a:t> </a:t>
            </a:r>
            <a:r>
              <a:rPr lang="en-US" sz="2000" dirty="0" err="1"/>
              <a:t>getppid</a:t>
            </a:r>
            <a:r>
              <a:rPr lang="en-US" sz="2000" dirty="0"/>
              <a:t>(void)</a:t>
            </a:r>
          </a:p>
          <a:p>
            <a:pPr eaLnBrk="1" hangingPunct="1">
              <a:buClr>
                <a:srgbClr val="0000CC"/>
              </a:buClr>
              <a:buFont typeface="Wingdings" pitchFamily="2" charset="2"/>
              <a:buChar char="Ø"/>
            </a:pPr>
            <a:endParaRPr lang="en-US" sz="2000" dirty="0"/>
          </a:p>
        </p:txBody>
      </p:sp>
      <p:sp>
        <p:nvSpPr>
          <p:cNvPr id="7" name="Rectangle: Rounded Corners 6">
            <a:extLst>
              <a:ext uri="{FF2B5EF4-FFF2-40B4-BE49-F238E27FC236}">
                <a16:creationId xmlns:a16="http://schemas.microsoft.com/office/drawing/2014/main" id="{486004AA-0F76-BC9B-2D8D-1F9E44CE0606}"/>
              </a:ext>
            </a:extLst>
          </p:cNvPr>
          <p:cNvSpPr/>
          <p:nvPr/>
        </p:nvSpPr>
        <p:spPr>
          <a:xfrm>
            <a:off x="1143000" y="3109599"/>
            <a:ext cx="9776012" cy="53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t>Command to Check Processes Running on Linux System</a:t>
            </a:r>
            <a:endParaRPr lang="en-US" sz="2000" b="1" dirty="0"/>
          </a:p>
        </p:txBody>
      </p:sp>
      <p:pic>
        <p:nvPicPr>
          <p:cNvPr id="9" name="Picture 8">
            <a:extLst>
              <a:ext uri="{FF2B5EF4-FFF2-40B4-BE49-F238E27FC236}">
                <a16:creationId xmlns:a16="http://schemas.microsoft.com/office/drawing/2014/main" id="{12E0E867-731E-A7D3-4171-0F51B722CC67}"/>
              </a:ext>
            </a:extLst>
          </p:cNvPr>
          <p:cNvPicPr>
            <a:picLocks noChangeAspect="1"/>
          </p:cNvPicPr>
          <p:nvPr/>
        </p:nvPicPr>
        <p:blipFill>
          <a:blip r:embed="rId2"/>
          <a:stretch>
            <a:fillRect/>
          </a:stretch>
        </p:blipFill>
        <p:spPr>
          <a:xfrm>
            <a:off x="2142573" y="4279631"/>
            <a:ext cx="7906853" cy="2467319"/>
          </a:xfrm>
          <a:prstGeom prst="rect">
            <a:avLst/>
          </a:prstGeom>
        </p:spPr>
      </p:pic>
      <p:sp>
        <p:nvSpPr>
          <p:cNvPr id="10" name="TextBox 9">
            <a:extLst>
              <a:ext uri="{FF2B5EF4-FFF2-40B4-BE49-F238E27FC236}">
                <a16:creationId xmlns:a16="http://schemas.microsoft.com/office/drawing/2014/main" id="{A44C4CD7-2CAF-F568-0218-3692EE8FBCE5}"/>
              </a:ext>
            </a:extLst>
          </p:cNvPr>
          <p:cNvSpPr txBox="1"/>
          <p:nvPr/>
        </p:nvSpPr>
        <p:spPr>
          <a:xfrm>
            <a:off x="1143000" y="3751729"/>
            <a:ext cx="9776012" cy="400110"/>
          </a:xfrm>
          <a:prstGeom prst="rect">
            <a:avLst/>
          </a:prstGeom>
          <a:noFill/>
        </p:spPr>
        <p:txBody>
          <a:bodyPr wrap="square" rtlCol="0">
            <a:spAutoFit/>
          </a:bodyPr>
          <a:lstStyle/>
          <a:p>
            <a:r>
              <a:rPr lang="en-IN" sz="2000" b="1" dirty="0" err="1"/>
              <a:t>ps</a:t>
            </a:r>
            <a:r>
              <a:rPr lang="en-IN" sz="2000" dirty="0"/>
              <a:t> command displays the processes running on Linux System</a:t>
            </a:r>
            <a:endParaRPr lang="en-US" sz="2000" dirty="0"/>
          </a:p>
        </p:txBody>
      </p:sp>
    </p:spTree>
    <p:extLst>
      <p:ext uri="{BB962C8B-B14F-4D97-AF65-F5344CB8AC3E}">
        <p14:creationId xmlns:p14="http://schemas.microsoft.com/office/powerpoint/2010/main" val="1175055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454DEA7-02C9-B6F1-5C49-4DCB1C48E285}"/>
              </a:ext>
            </a:extLst>
          </p:cNvPr>
          <p:cNvSpPr/>
          <p:nvPr/>
        </p:nvSpPr>
        <p:spPr>
          <a:xfrm>
            <a:off x="1116106" y="618565"/>
            <a:ext cx="10004612"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Context Switching</a:t>
            </a:r>
            <a:endParaRPr lang="en-US" sz="2400" b="1" dirty="0"/>
          </a:p>
        </p:txBody>
      </p:sp>
      <p:sp>
        <p:nvSpPr>
          <p:cNvPr id="6" name="TextBox 5">
            <a:extLst>
              <a:ext uri="{FF2B5EF4-FFF2-40B4-BE49-F238E27FC236}">
                <a16:creationId xmlns:a16="http://schemas.microsoft.com/office/drawing/2014/main" id="{CF385866-0302-D91C-C2AE-12DB8B1B5FFD}"/>
              </a:ext>
            </a:extLst>
          </p:cNvPr>
          <p:cNvSpPr txBox="1"/>
          <p:nvPr/>
        </p:nvSpPr>
        <p:spPr>
          <a:xfrm>
            <a:off x="1116106" y="1181602"/>
            <a:ext cx="10004612" cy="2154436"/>
          </a:xfrm>
          <a:prstGeom prst="rect">
            <a:avLst/>
          </a:prstGeom>
          <a:noFill/>
        </p:spPr>
        <p:txBody>
          <a:bodyPr wrap="square">
            <a:spAutoFit/>
          </a:bodyPr>
          <a:lstStyle/>
          <a:p>
            <a:pPr marL="285750" indent="-285750">
              <a:buFont typeface="Arial" panose="020B0604020202020204" pitchFamily="34" charset="0"/>
              <a:buChar char="•"/>
            </a:pPr>
            <a:r>
              <a:rPr lang="en-IN" sz="2000" dirty="0"/>
              <a:t>Switching the CPU to another task requires saving the state of the old task and loading the saved state for the new task is called context switching.</a:t>
            </a:r>
          </a:p>
          <a:p>
            <a:endParaRPr lang="en-IN" sz="1600" dirty="0"/>
          </a:p>
          <a:p>
            <a:pPr marL="285750" indent="-285750">
              <a:buFont typeface="Arial" panose="020B0604020202020204" pitchFamily="34" charset="0"/>
              <a:buChar char="•"/>
            </a:pPr>
            <a:r>
              <a:rPr lang="en-IN" sz="2000" dirty="0"/>
              <a:t>The time wasted to switch from one task to another without any disturbance is called scheduling jitter</a:t>
            </a:r>
          </a:p>
          <a:p>
            <a:endParaRPr lang="en-IN" sz="1600" dirty="0"/>
          </a:p>
          <a:p>
            <a:pPr marL="285750" indent="-285750">
              <a:buFont typeface="Arial" panose="020B0604020202020204" pitchFamily="34" charset="0"/>
              <a:buChar char="•"/>
            </a:pPr>
            <a:r>
              <a:rPr lang="en-IN" sz="2000" dirty="0"/>
              <a:t>After scheduling, the new process gets hold of the processor for its execution</a:t>
            </a:r>
            <a:endParaRPr lang="en-US" sz="2000" dirty="0"/>
          </a:p>
        </p:txBody>
      </p:sp>
    </p:spTree>
    <p:extLst>
      <p:ext uri="{BB962C8B-B14F-4D97-AF65-F5344CB8AC3E}">
        <p14:creationId xmlns:p14="http://schemas.microsoft.com/office/powerpoint/2010/main" val="4277735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3239EBC-9BC6-473D-3C7E-B787C4E3B754}"/>
              </a:ext>
            </a:extLst>
          </p:cNvPr>
          <p:cNvSpPr/>
          <p:nvPr/>
        </p:nvSpPr>
        <p:spPr>
          <a:xfrm>
            <a:off x="968188" y="443753"/>
            <a:ext cx="9937377" cy="5109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Process Creation</a:t>
            </a:r>
            <a:endParaRPr lang="en-US" sz="2400" b="1" dirty="0"/>
          </a:p>
        </p:txBody>
      </p:sp>
      <p:sp>
        <p:nvSpPr>
          <p:cNvPr id="5" name="TextBox 4">
            <a:extLst>
              <a:ext uri="{FF2B5EF4-FFF2-40B4-BE49-F238E27FC236}">
                <a16:creationId xmlns:a16="http://schemas.microsoft.com/office/drawing/2014/main" id="{BD24DC82-BE2E-6D83-7CDD-50F8171F271D}"/>
              </a:ext>
            </a:extLst>
          </p:cNvPr>
          <p:cNvSpPr txBox="1"/>
          <p:nvPr/>
        </p:nvSpPr>
        <p:spPr>
          <a:xfrm>
            <a:off x="995083" y="995084"/>
            <a:ext cx="2541494" cy="707886"/>
          </a:xfrm>
          <a:prstGeom prst="rect">
            <a:avLst/>
          </a:prstGeom>
          <a:noFill/>
        </p:spPr>
        <p:txBody>
          <a:bodyPr wrap="square" rtlCol="0">
            <a:spAutoFit/>
          </a:bodyPr>
          <a:lstStyle/>
          <a:p>
            <a:r>
              <a:rPr lang="en-IN" sz="4000" b="1" dirty="0"/>
              <a:t>fork</a:t>
            </a:r>
            <a:endParaRPr lang="en-US" sz="4000" b="1" dirty="0"/>
          </a:p>
        </p:txBody>
      </p:sp>
      <p:pic>
        <p:nvPicPr>
          <p:cNvPr id="6" name="Content Placeholder 5">
            <a:extLst>
              <a:ext uri="{FF2B5EF4-FFF2-40B4-BE49-F238E27FC236}">
                <a16:creationId xmlns:a16="http://schemas.microsoft.com/office/drawing/2014/main" id="{DFBA78B7-2113-80B7-5DA0-2B9DC4977A90}"/>
              </a:ext>
            </a:extLst>
          </p:cNvPr>
          <p:cNvPicPr>
            <a:picLocks/>
          </p:cNvPicPr>
          <p:nvPr/>
        </p:nvPicPr>
        <p:blipFill>
          <a:blip r:embed="rId2" cstate="print"/>
          <a:srcRect/>
          <a:stretch>
            <a:fillRect/>
          </a:stretch>
        </p:blipFill>
        <p:spPr bwMode="auto">
          <a:xfrm>
            <a:off x="8122020" y="1771563"/>
            <a:ext cx="4102098" cy="3297976"/>
          </a:xfrm>
          <a:prstGeom prst="rect">
            <a:avLst/>
          </a:prstGeom>
          <a:noFill/>
          <a:ln w="9525">
            <a:noFill/>
            <a:miter lim="800000"/>
            <a:headEnd/>
            <a:tailEnd/>
          </a:ln>
        </p:spPr>
      </p:pic>
      <p:sp>
        <p:nvSpPr>
          <p:cNvPr id="9" name="TextBox 8">
            <a:extLst>
              <a:ext uri="{FF2B5EF4-FFF2-40B4-BE49-F238E27FC236}">
                <a16:creationId xmlns:a16="http://schemas.microsoft.com/office/drawing/2014/main" id="{7A891380-249C-0238-E156-8386909824CB}"/>
              </a:ext>
            </a:extLst>
          </p:cNvPr>
          <p:cNvSpPr txBox="1"/>
          <p:nvPr/>
        </p:nvSpPr>
        <p:spPr>
          <a:xfrm>
            <a:off x="981637" y="1610594"/>
            <a:ext cx="7883337" cy="5109091"/>
          </a:xfrm>
          <a:prstGeom prst="rect">
            <a:avLst/>
          </a:prstGeom>
          <a:noFill/>
        </p:spPr>
        <p:txBody>
          <a:bodyPr wrap="square">
            <a:spAutoFit/>
          </a:bodyPr>
          <a:lstStyle/>
          <a:p>
            <a:pPr marL="285750" indent="-285750">
              <a:buFont typeface="Arial" panose="020B0604020202020204" pitchFamily="34" charset="0"/>
              <a:buChar char="•"/>
            </a:pPr>
            <a:r>
              <a:rPr lang="en-US" sz="2000" b="1" dirty="0"/>
              <a:t>fork()</a:t>
            </a:r>
            <a:r>
              <a:rPr lang="en-US" sz="2000" dirty="0"/>
              <a:t> creates a new process by </a:t>
            </a:r>
            <a:r>
              <a:rPr lang="en-US" sz="2000" b="1" dirty="0"/>
              <a:t>duplicating</a:t>
            </a:r>
            <a:r>
              <a:rPr lang="en-US" sz="2000" dirty="0"/>
              <a:t> the calling process.</a:t>
            </a:r>
          </a:p>
          <a:p>
            <a:pPr marL="285750" indent="-285750">
              <a:buFont typeface="Arial" panose="020B0604020202020204" pitchFamily="34" charset="0"/>
              <a:buChar char="•"/>
            </a:pPr>
            <a:r>
              <a:rPr lang="en-US" sz="2000" dirty="0"/>
              <a:t>The new process is referred to as the </a:t>
            </a:r>
            <a:r>
              <a:rPr lang="en-US" sz="2000" b="1" dirty="0"/>
              <a:t>child</a:t>
            </a:r>
            <a:r>
              <a:rPr lang="en-US" sz="2000" dirty="0"/>
              <a:t> process. </a:t>
            </a:r>
          </a:p>
          <a:p>
            <a:pPr marL="285750" indent="-285750">
              <a:buFont typeface="Arial" panose="020B0604020202020204" pitchFamily="34" charset="0"/>
              <a:buChar char="•"/>
            </a:pPr>
            <a:r>
              <a:rPr lang="en-US" sz="2000" dirty="0"/>
              <a:t>The calling process is referred to as the </a:t>
            </a:r>
            <a:r>
              <a:rPr lang="en-US" sz="2000" b="1" dirty="0"/>
              <a:t>parent</a:t>
            </a:r>
            <a:r>
              <a:rPr lang="en-US" sz="2000" dirty="0"/>
              <a:t> process.</a:t>
            </a:r>
          </a:p>
          <a:p>
            <a:pPr marL="285750" indent="-285750">
              <a:buFont typeface="Arial" panose="020B0604020202020204" pitchFamily="34" charset="0"/>
              <a:buChar char="•"/>
            </a:pPr>
            <a:r>
              <a:rPr lang="en-US" sz="2000" dirty="0"/>
              <a:t>Both parent and child process execute the same program after fork() is called and both run parallelly</a:t>
            </a:r>
          </a:p>
          <a:p>
            <a:endParaRPr lang="en-US" sz="1200" dirty="0"/>
          </a:p>
          <a:p>
            <a:pPr marL="285750" indent="-285750">
              <a:buFont typeface="Wingdings" panose="05000000000000000000" pitchFamily="2" charset="2"/>
              <a:buChar char="Ø"/>
            </a:pPr>
            <a:r>
              <a:rPr lang="en-US" sz="2000" dirty="0"/>
              <a:t>The child process and the parent process run in separate memory spaces.  </a:t>
            </a:r>
          </a:p>
          <a:p>
            <a:pPr marL="285750" indent="-285750">
              <a:buFont typeface="Wingdings" panose="05000000000000000000" pitchFamily="2" charset="2"/>
              <a:buChar char="Ø"/>
            </a:pPr>
            <a:r>
              <a:rPr lang="en-US" sz="2000" dirty="0"/>
              <a:t>At the time of fork() both memory spaces have the same content. </a:t>
            </a:r>
          </a:p>
          <a:p>
            <a:pPr marL="285750" indent="-285750">
              <a:buFont typeface="Wingdings" panose="05000000000000000000" pitchFamily="2" charset="2"/>
              <a:buChar char="Ø"/>
            </a:pPr>
            <a:r>
              <a:rPr lang="en-US" sz="2000" dirty="0"/>
              <a:t>Memory writes, file mappings (</a:t>
            </a:r>
            <a:r>
              <a:rPr lang="en-US" sz="2000" dirty="0" err="1"/>
              <a:t>mmap</a:t>
            </a:r>
            <a:r>
              <a:rPr lang="en-US" sz="2000" dirty="0"/>
              <a:t>()), and </a:t>
            </a:r>
            <a:r>
              <a:rPr lang="en-US" sz="2000" dirty="0" err="1"/>
              <a:t>unmappings</a:t>
            </a:r>
            <a:r>
              <a:rPr lang="en-US" sz="2000" dirty="0"/>
              <a:t> (</a:t>
            </a:r>
            <a:r>
              <a:rPr lang="en-US" sz="2000" dirty="0" err="1"/>
              <a:t>munmap</a:t>
            </a:r>
            <a:r>
              <a:rPr lang="en-US" sz="2000" dirty="0"/>
              <a:t>()) performed by one of the processes do not affect the other.</a:t>
            </a:r>
          </a:p>
          <a:p>
            <a:endParaRPr lang="en-US" sz="1100" dirty="0"/>
          </a:p>
          <a:p>
            <a:r>
              <a:rPr lang="en-US" sz="2000" dirty="0"/>
              <a:t>The child process is an exact duplicate of the parent process except for </a:t>
            </a:r>
          </a:p>
          <a:p>
            <a:r>
              <a:rPr lang="en-US" sz="2000" dirty="0"/>
              <a:t>the following points:</a:t>
            </a:r>
          </a:p>
          <a:p>
            <a:pPr marL="285750" indent="-285750">
              <a:buFont typeface="Wingdings" panose="05000000000000000000" pitchFamily="2" charset="2"/>
              <a:buChar char="v"/>
            </a:pPr>
            <a:r>
              <a:rPr lang="en-IN" sz="2000" dirty="0"/>
              <a:t>The child has its own unique process ID</a:t>
            </a:r>
          </a:p>
          <a:p>
            <a:pPr marL="285750" indent="-285750">
              <a:buFont typeface="Wingdings" panose="05000000000000000000" pitchFamily="2" charset="2"/>
              <a:buChar char="v"/>
            </a:pPr>
            <a:r>
              <a:rPr lang="en-IN" sz="2000" dirty="0"/>
              <a:t>The child's parent process ID is the same as the parent's process ID.</a:t>
            </a:r>
          </a:p>
          <a:p>
            <a:pPr marL="285750" indent="-285750">
              <a:buFont typeface="Wingdings" panose="05000000000000000000" pitchFamily="2" charset="2"/>
              <a:buChar char="v"/>
            </a:pPr>
            <a:r>
              <a:rPr lang="en-IN" sz="2000" dirty="0"/>
              <a:t>The child does not inherit its parent's memory locks</a:t>
            </a:r>
            <a:endParaRPr lang="en-US" sz="2000" dirty="0"/>
          </a:p>
        </p:txBody>
      </p:sp>
    </p:spTree>
    <p:extLst>
      <p:ext uri="{BB962C8B-B14F-4D97-AF65-F5344CB8AC3E}">
        <p14:creationId xmlns:p14="http://schemas.microsoft.com/office/powerpoint/2010/main" val="1016243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E34031-2961-ECFD-BDD9-E48289F48901}"/>
              </a:ext>
            </a:extLst>
          </p:cNvPr>
          <p:cNvSpPr txBox="1"/>
          <p:nvPr/>
        </p:nvSpPr>
        <p:spPr>
          <a:xfrm>
            <a:off x="1048871" y="295835"/>
            <a:ext cx="4007223" cy="523220"/>
          </a:xfrm>
          <a:prstGeom prst="rect">
            <a:avLst/>
          </a:prstGeom>
          <a:noFill/>
        </p:spPr>
        <p:txBody>
          <a:bodyPr wrap="square" rtlCol="0">
            <a:spAutoFit/>
          </a:bodyPr>
          <a:lstStyle/>
          <a:p>
            <a:r>
              <a:rPr lang="en-IN" sz="2800" dirty="0"/>
              <a:t>fork continue….</a:t>
            </a:r>
            <a:endParaRPr lang="en-US" sz="2800" dirty="0"/>
          </a:p>
        </p:txBody>
      </p:sp>
      <p:pic>
        <p:nvPicPr>
          <p:cNvPr id="5" name="Content Placeholder 3" descr="QQ截图20130712140302">
            <a:extLst>
              <a:ext uri="{FF2B5EF4-FFF2-40B4-BE49-F238E27FC236}">
                <a16:creationId xmlns:a16="http://schemas.microsoft.com/office/drawing/2014/main" id="{5A2E7A91-29B6-F9AC-EEC9-4B5C1253E852}"/>
              </a:ext>
            </a:extLst>
          </p:cNvPr>
          <p:cNvPicPr>
            <a:picLocks noGrp="1"/>
          </p:cNvPicPr>
          <p:nvPr>
            <p:ph idx="1"/>
          </p:nvPr>
        </p:nvPicPr>
        <p:blipFill>
          <a:blip r:embed="rId2" cstate="print"/>
          <a:srcRect/>
          <a:stretch>
            <a:fillRect/>
          </a:stretch>
        </p:blipFill>
        <p:spPr bwMode="auto">
          <a:xfrm>
            <a:off x="941295" y="1219200"/>
            <a:ext cx="3439915" cy="3211223"/>
          </a:xfrm>
          <a:prstGeom prst="rect">
            <a:avLst/>
          </a:prstGeom>
          <a:noFill/>
          <a:ln w="9525">
            <a:noFill/>
            <a:miter lim="800000"/>
            <a:headEnd/>
            <a:tailEnd/>
          </a:ln>
        </p:spPr>
      </p:pic>
      <p:pic>
        <p:nvPicPr>
          <p:cNvPr id="6" name="Content Placeholder 5">
            <a:extLst>
              <a:ext uri="{FF2B5EF4-FFF2-40B4-BE49-F238E27FC236}">
                <a16:creationId xmlns:a16="http://schemas.microsoft.com/office/drawing/2014/main" id="{8A68729A-2308-AE61-6071-C73B63A95757}"/>
              </a:ext>
            </a:extLst>
          </p:cNvPr>
          <p:cNvPicPr>
            <a:picLocks/>
          </p:cNvPicPr>
          <p:nvPr/>
        </p:nvPicPr>
        <p:blipFill>
          <a:blip r:embed="rId3" cstate="print"/>
          <a:srcRect/>
          <a:stretch>
            <a:fillRect/>
          </a:stretch>
        </p:blipFill>
        <p:spPr bwMode="auto">
          <a:xfrm>
            <a:off x="5198752" y="726141"/>
            <a:ext cx="5563377" cy="2743200"/>
          </a:xfrm>
          <a:prstGeom prst="rect">
            <a:avLst/>
          </a:prstGeom>
          <a:noFill/>
          <a:ln w="9525">
            <a:noFill/>
            <a:miter lim="800000"/>
            <a:headEnd/>
            <a:tailEnd/>
          </a:ln>
        </p:spPr>
      </p:pic>
      <p:pic>
        <p:nvPicPr>
          <p:cNvPr id="7" name="Content Placeholder 4">
            <a:extLst>
              <a:ext uri="{FF2B5EF4-FFF2-40B4-BE49-F238E27FC236}">
                <a16:creationId xmlns:a16="http://schemas.microsoft.com/office/drawing/2014/main" id="{54B4095D-A5BD-8F21-7D52-6A3A728C34AF}"/>
              </a:ext>
            </a:extLst>
          </p:cNvPr>
          <p:cNvPicPr>
            <a:picLocks/>
          </p:cNvPicPr>
          <p:nvPr/>
        </p:nvPicPr>
        <p:blipFill>
          <a:blip r:embed="rId4" cstate="print"/>
          <a:srcRect/>
          <a:stretch>
            <a:fillRect/>
          </a:stretch>
        </p:blipFill>
        <p:spPr bwMode="auto">
          <a:xfrm>
            <a:off x="5255900" y="3735578"/>
            <a:ext cx="5582429" cy="2934163"/>
          </a:xfrm>
          <a:prstGeom prst="rect">
            <a:avLst/>
          </a:prstGeom>
          <a:noFill/>
          <a:ln w="9525">
            <a:noFill/>
            <a:miter lim="800000"/>
            <a:headEnd/>
            <a:tailEnd/>
          </a:ln>
        </p:spPr>
      </p:pic>
    </p:spTree>
    <p:extLst>
      <p:ext uri="{BB962C8B-B14F-4D97-AF65-F5344CB8AC3E}">
        <p14:creationId xmlns:p14="http://schemas.microsoft.com/office/powerpoint/2010/main" val="2310352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7266747-5C02-998C-2A3B-DCE28F33AD7D}"/>
              </a:ext>
            </a:extLst>
          </p:cNvPr>
          <p:cNvSpPr/>
          <p:nvPr/>
        </p:nvSpPr>
        <p:spPr>
          <a:xfrm>
            <a:off x="1116106" y="430306"/>
            <a:ext cx="9789459" cy="4303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Inherited by the child from parent</a:t>
            </a:r>
            <a:endParaRPr lang="en-US" sz="2800"/>
          </a:p>
        </p:txBody>
      </p:sp>
      <p:sp>
        <p:nvSpPr>
          <p:cNvPr id="8" name="TextBox 7">
            <a:extLst>
              <a:ext uri="{FF2B5EF4-FFF2-40B4-BE49-F238E27FC236}">
                <a16:creationId xmlns:a16="http://schemas.microsoft.com/office/drawing/2014/main" id="{A552E585-A860-5AEF-7E73-1A8FD5ADD9B2}"/>
              </a:ext>
            </a:extLst>
          </p:cNvPr>
          <p:cNvSpPr txBox="1"/>
          <p:nvPr/>
        </p:nvSpPr>
        <p:spPr>
          <a:xfrm>
            <a:off x="1143001" y="904816"/>
            <a:ext cx="9762564" cy="5324535"/>
          </a:xfrm>
          <a:prstGeom prst="rect">
            <a:avLst/>
          </a:prstGeom>
          <a:noFill/>
        </p:spPr>
        <p:txBody>
          <a:bodyPr wrap="square">
            <a:spAutoFit/>
          </a:bodyPr>
          <a:lstStyle/>
          <a:p>
            <a:pPr marL="342900" indent="-342900" eaLnBrk="1" hangingPunct="1">
              <a:buFont typeface="Arial" panose="020B0604020202020204" pitchFamily="34" charset="0"/>
              <a:buChar char="•"/>
            </a:pPr>
            <a:r>
              <a:rPr lang="en-US" sz="2000" dirty="0"/>
              <a:t>process credentials (real/effective/saved UIDs and GIDs) </a:t>
            </a:r>
          </a:p>
          <a:p>
            <a:pPr marL="342900" indent="-342900" eaLnBrk="1" hangingPunct="1">
              <a:buFont typeface="Arial" panose="020B0604020202020204" pitchFamily="34" charset="0"/>
              <a:buChar char="•"/>
            </a:pPr>
            <a:r>
              <a:rPr lang="en-US" sz="2000" dirty="0"/>
              <a:t>environment </a:t>
            </a:r>
          </a:p>
          <a:p>
            <a:pPr marL="342900" indent="-342900" eaLnBrk="1" hangingPunct="1">
              <a:buFont typeface="Arial" panose="020B0604020202020204" pitchFamily="34" charset="0"/>
              <a:buChar char="•"/>
            </a:pPr>
            <a:r>
              <a:rPr lang="en-US" sz="2000" dirty="0"/>
              <a:t>stack </a:t>
            </a:r>
          </a:p>
          <a:p>
            <a:pPr marL="342900" indent="-342900" eaLnBrk="1" hangingPunct="1">
              <a:buFont typeface="Arial" panose="020B0604020202020204" pitchFamily="34" charset="0"/>
              <a:buChar char="•"/>
            </a:pPr>
            <a:r>
              <a:rPr lang="en-US" sz="2000" dirty="0"/>
              <a:t>memory </a:t>
            </a:r>
          </a:p>
          <a:p>
            <a:pPr marL="342900" indent="-342900" eaLnBrk="1" hangingPunct="1">
              <a:buFont typeface="Arial" panose="020B0604020202020204" pitchFamily="34" charset="0"/>
              <a:buChar char="•"/>
            </a:pPr>
            <a:r>
              <a:rPr lang="en-US" sz="2000" dirty="0"/>
              <a:t>open file descriptors (note that the underlying file positions are shared between the parent and child, which can be confusing) </a:t>
            </a:r>
          </a:p>
          <a:p>
            <a:pPr marL="342900" indent="-342900" eaLnBrk="1" hangingPunct="1">
              <a:buFont typeface="Arial" panose="020B0604020202020204" pitchFamily="34" charset="0"/>
              <a:buChar char="•"/>
            </a:pPr>
            <a:r>
              <a:rPr lang="en-US" sz="2000" dirty="0"/>
              <a:t>close-on-exec flags </a:t>
            </a:r>
          </a:p>
          <a:p>
            <a:pPr marL="342900" indent="-342900" eaLnBrk="1" hangingPunct="1">
              <a:buFont typeface="Arial" panose="020B0604020202020204" pitchFamily="34" charset="0"/>
              <a:buChar char="•"/>
            </a:pPr>
            <a:r>
              <a:rPr lang="en-US" sz="2000" dirty="0"/>
              <a:t>signal handling settings </a:t>
            </a:r>
          </a:p>
          <a:p>
            <a:pPr marL="342900" indent="-342900" eaLnBrk="1" hangingPunct="1">
              <a:buFont typeface="Arial" panose="020B0604020202020204" pitchFamily="34" charset="0"/>
              <a:buChar char="•"/>
            </a:pPr>
            <a:r>
              <a:rPr lang="en-US" sz="2000" dirty="0"/>
              <a:t>nice value </a:t>
            </a:r>
          </a:p>
          <a:p>
            <a:pPr marL="342900" indent="-342900" eaLnBrk="1" hangingPunct="1">
              <a:buFont typeface="Arial" panose="020B0604020202020204" pitchFamily="34" charset="0"/>
              <a:buChar char="•"/>
            </a:pPr>
            <a:r>
              <a:rPr lang="en-US" sz="2000" dirty="0"/>
              <a:t>scheduler class </a:t>
            </a:r>
          </a:p>
          <a:p>
            <a:pPr marL="342900" indent="-342900" eaLnBrk="1" hangingPunct="1">
              <a:buFont typeface="Arial" panose="020B0604020202020204" pitchFamily="34" charset="0"/>
              <a:buChar char="•"/>
            </a:pPr>
            <a:r>
              <a:rPr lang="en-US" sz="2000" dirty="0"/>
              <a:t>process group ID </a:t>
            </a:r>
          </a:p>
          <a:p>
            <a:pPr marL="342900" indent="-342900" eaLnBrk="1" hangingPunct="1">
              <a:buFont typeface="Arial" panose="020B0604020202020204" pitchFamily="34" charset="0"/>
              <a:buChar char="•"/>
            </a:pPr>
            <a:r>
              <a:rPr lang="en-US" sz="2000" dirty="0"/>
              <a:t>session ID </a:t>
            </a:r>
          </a:p>
          <a:p>
            <a:pPr marL="342900" indent="-342900" eaLnBrk="1" hangingPunct="1">
              <a:buFont typeface="Arial" panose="020B0604020202020204" pitchFamily="34" charset="0"/>
              <a:buChar char="•"/>
            </a:pPr>
            <a:r>
              <a:rPr lang="en-US" sz="2000" dirty="0"/>
              <a:t>current working directory </a:t>
            </a:r>
          </a:p>
          <a:p>
            <a:pPr marL="342900" indent="-342900" eaLnBrk="1" hangingPunct="1">
              <a:buFont typeface="Arial" panose="020B0604020202020204" pitchFamily="34" charset="0"/>
              <a:buChar char="•"/>
            </a:pPr>
            <a:r>
              <a:rPr lang="en-US" sz="2000" dirty="0"/>
              <a:t>root directory </a:t>
            </a:r>
          </a:p>
          <a:p>
            <a:pPr marL="342900" indent="-342900" eaLnBrk="1" hangingPunct="1">
              <a:buFont typeface="Arial" panose="020B0604020202020204" pitchFamily="34" charset="0"/>
              <a:buChar char="•"/>
            </a:pPr>
            <a:r>
              <a:rPr lang="en-US" sz="2000" dirty="0"/>
              <a:t>file mode creation mask (</a:t>
            </a:r>
            <a:r>
              <a:rPr lang="en-US" sz="2000" dirty="0" err="1"/>
              <a:t>umask</a:t>
            </a:r>
            <a:r>
              <a:rPr lang="en-US" sz="2000" dirty="0"/>
              <a:t>) </a:t>
            </a:r>
          </a:p>
          <a:p>
            <a:pPr marL="342900" indent="-342900" eaLnBrk="1" hangingPunct="1">
              <a:buFont typeface="Arial" panose="020B0604020202020204" pitchFamily="34" charset="0"/>
              <a:buChar char="•"/>
            </a:pPr>
            <a:r>
              <a:rPr lang="en-US" sz="2000" dirty="0"/>
              <a:t>resource limits </a:t>
            </a:r>
          </a:p>
          <a:p>
            <a:pPr marL="342900" indent="-342900" eaLnBrk="1" hangingPunct="1">
              <a:buFont typeface="Arial" panose="020B0604020202020204" pitchFamily="34" charset="0"/>
              <a:buChar char="•"/>
            </a:pPr>
            <a:r>
              <a:rPr lang="en-US" sz="2000" dirty="0"/>
              <a:t>controlling terminal </a:t>
            </a:r>
          </a:p>
        </p:txBody>
      </p:sp>
    </p:spTree>
    <p:extLst>
      <p:ext uri="{BB962C8B-B14F-4D97-AF65-F5344CB8AC3E}">
        <p14:creationId xmlns:p14="http://schemas.microsoft.com/office/powerpoint/2010/main" val="1131994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28F86F8-527D-6718-8CB1-2EE4FD3483C9}"/>
              </a:ext>
            </a:extLst>
          </p:cNvPr>
          <p:cNvSpPr/>
          <p:nvPr/>
        </p:nvSpPr>
        <p:spPr>
          <a:xfrm>
            <a:off x="1062318" y="443753"/>
            <a:ext cx="984324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Unique to the child  </a:t>
            </a:r>
            <a:endParaRPr lang="en-US" sz="3200" b="1" dirty="0"/>
          </a:p>
        </p:txBody>
      </p:sp>
      <p:sp>
        <p:nvSpPr>
          <p:cNvPr id="6" name="TextBox 5">
            <a:extLst>
              <a:ext uri="{FF2B5EF4-FFF2-40B4-BE49-F238E27FC236}">
                <a16:creationId xmlns:a16="http://schemas.microsoft.com/office/drawing/2014/main" id="{C3D51372-12C9-856D-C449-0D5A90CD613D}"/>
              </a:ext>
            </a:extLst>
          </p:cNvPr>
          <p:cNvSpPr txBox="1"/>
          <p:nvPr/>
        </p:nvSpPr>
        <p:spPr>
          <a:xfrm>
            <a:off x="1233769" y="1010417"/>
            <a:ext cx="8891866" cy="2862322"/>
          </a:xfrm>
          <a:prstGeom prst="rect">
            <a:avLst/>
          </a:prstGeom>
          <a:noFill/>
        </p:spPr>
        <p:txBody>
          <a:bodyPr wrap="square">
            <a:spAutoFit/>
          </a:bodyPr>
          <a:lstStyle/>
          <a:p>
            <a:pPr marL="342900" indent="-342900" eaLnBrk="1" hangingPunct="1">
              <a:buFont typeface="Arial" panose="020B0604020202020204" pitchFamily="34" charset="0"/>
              <a:buChar char="•"/>
            </a:pPr>
            <a:r>
              <a:rPr lang="en-US" sz="2000" dirty="0"/>
              <a:t>process ID </a:t>
            </a:r>
          </a:p>
          <a:p>
            <a:pPr marL="342900" indent="-342900" eaLnBrk="1" hangingPunct="1">
              <a:buFont typeface="Arial" panose="020B0604020202020204" pitchFamily="34" charset="0"/>
              <a:buChar char="•"/>
            </a:pPr>
            <a:r>
              <a:rPr lang="en-US" sz="2000" dirty="0"/>
              <a:t>different parent process ID </a:t>
            </a:r>
          </a:p>
          <a:p>
            <a:pPr marL="342900" indent="-342900" eaLnBrk="1" hangingPunct="1">
              <a:buFont typeface="Arial" panose="020B0604020202020204" pitchFamily="34" charset="0"/>
              <a:buChar char="•"/>
            </a:pPr>
            <a:r>
              <a:rPr lang="en-US" sz="2000" dirty="0"/>
              <a:t>Own copy of file descriptors and directory streams. </a:t>
            </a:r>
          </a:p>
          <a:p>
            <a:pPr marL="342900" indent="-342900" eaLnBrk="1" hangingPunct="1">
              <a:buFont typeface="Arial" panose="020B0604020202020204" pitchFamily="34" charset="0"/>
              <a:buChar char="•"/>
            </a:pPr>
            <a:r>
              <a:rPr lang="en-US" sz="2000" dirty="0"/>
              <a:t>process, text, data and other memory locks are NOT inherited. </a:t>
            </a:r>
          </a:p>
          <a:p>
            <a:pPr marL="342900" indent="-342900" eaLnBrk="1" hangingPunct="1">
              <a:buFont typeface="Arial" panose="020B0604020202020204" pitchFamily="34" charset="0"/>
              <a:buChar char="•"/>
            </a:pPr>
            <a:r>
              <a:rPr lang="en-US" sz="2000" dirty="0"/>
              <a:t>process times, in the </a:t>
            </a:r>
            <a:r>
              <a:rPr lang="en-US" sz="2000" dirty="0" err="1"/>
              <a:t>tms</a:t>
            </a:r>
            <a:r>
              <a:rPr lang="en-US" sz="2000" dirty="0"/>
              <a:t> struct </a:t>
            </a:r>
          </a:p>
          <a:p>
            <a:pPr marL="342900" indent="-342900" eaLnBrk="1" hangingPunct="1">
              <a:buFont typeface="Arial" panose="020B0604020202020204" pitchFamily="34" charset="0"/>
              <a:buChar char="•"/>
            </a:pPr>
            <a:r>
              <a:rPr lang="en-US" sz="2000" dirty="0"/>
              <a:t>resource utilizations are set to 0 </a:t>
            </a:r>
          </a:p>
          <a:p>
            <a:pPr marL="342900" indent="-342900" eaLnBrk="1" hangingPunct="1">
              <a:buFont typeface="Arial" panose="020B0604020202020204" pitchFamily="34" charset="0"/>
              <a:buChar char="•"/>
            </a:pPr>
            <a:r>
              <a:rPr lang="en-US" sz="2000" dirty="0"/>
              <a:t>pending signals initialized to the empty set </a:t>
            </a:r>
          </a:p>
          <a:p>
            <a:pPr marL="342900" indent="-342900" eaLnBrk="1" hangingPunct="1">
              <a:buFont typeface="Arial" panose="020B0604020202020204" pitchFamily="34" charset="0"/>
              <a:buChar char="•"/>
            </a:pPr>
            <a:r>
              <a:rPr lang="en-US" sz="2000" dirty="0"/>
              <a:t>timers created by </a:t>
            </a:r>
            <a:r>
              <a:rPr lang="en-US" sz="2000" dirty="0" err="1"/>
              <a:t>timer_create</a:t>
            </a:r>
            <a:r>
              <a:rPr lang="en-US" sz="2000" dirty="0"/>
              <a:t> not inherited </a:t>
            </a:r>
          </a:p>
          <a:p>
            <a:pPr marL="342900" indent="-342900" eaLnBrk="1" hangingPunct="1">
              <a:buFont typeface="Arial" panose="020B0604020202020204" pitchFamily="34" charset="0"/>
              <a:buChar char="•"/>
            </a:pPr>
            <a:r>
              <a:rPr lang="en-US" sz="2000" dirty="0"/>
              <a:t>asynchronous input or output operations not inherited </a:t>
            </a:r>
          </a:p>
        </p:txBody>
      </p:sp>
    </p:spTree>
    <p:extLst>
      <p:ext uri="{BB962C8B-B14F-4D97-AF65-F5344CB8AC3E}">
        <p14:creationId xmlns:p14="http://schemas.microsoft.com/office/powerpoint/2010/main" val="1176681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2E3716B-F2F8-4A5E-284C-20143DB0354E}"/>
              </a:ext>
            </a:extLst>
          </p:cNvPr>
          <p:cNvSpPr/>
          <p:nvPr/>
        </p:nvSpPr>
        <p:spPr>
          <a:xfrm>
            <a:off x="1048871" y="457199"/>
            <a:ext cx="9923929"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Sample code using fork system call  </a:t>
            </a:r>
          </a:p>
        </p:txBody>
      </p:sp>
      <p:sp>
        <p:nvSpPr>
          <p:cNvPr id="6" name="TextBox 5">
            <a:extLst>
              <a:ext uri="{FF2B5EF4-FFF2-40B4-BE49-F238E27FC236}">
                <a16:creationId xmlns:a16="http://schemas.microsoft.com/office/drawing/2014/main" id="{9E42CEB7-5173-EB41-8A3E-C46FCA139529}"/>
              </a:ext>
            </a:extLst>
          </p:cNvPr>
          <p:cNvSpPr txBox="1"/>
          <p:nvPr/>
        </p:nvSpPr>
        <p:spPr>
          <a:xfrm>
            <a:off x="1048871" y="1089344"/>
            <a:ext cx="9762564" cy="5305427"/>
          </a:xfrm>
          <a:prstGeom prst="rect">
            <a:avLst/>
          </a:prstGeom>
          <a:noFill/>
        </p:spPr>
        <p:txBody>
          <a:bodyPr wrap="square">
            <a:spAutoFit/>
          </a:bodyPr>
          <a:lstStyle/>
          <a:p>
            <a:pPr eaLnBrk="1" hangingPunct="1">
              <a:lnSpc>
                <a:spcPct val="80000"/>
              </a:lnSpc>
              <a:buFontTx/>
              <a:buNone/>
            </a:pPr>
            <a:r>
              <a:rPr lang="en-US" sz="1800" dirty="0"/>
              <a:t>int main(void)</a:t>
            </a:r>
          </a:p>
          <a:p>
            <a:pPr eaLnBrk="1" hangingPunct="1">
              <a:lnSpc>
                <a:spcPct val="80000"/>
              </a:lnSpc>
              <a:buFontTx/>
              <a:buNone/>
            </a:pPr>
            <a:r>
              <a:rPr lang="en-US" sz="1800" dirty="0"/>
              <a:t>{</a:t>
            </a:r>
          </a:p>
          <a:p>
            <a:pPr eaLnBrk="1" hangingPunct="1">
              <a:lnSpc>
                <a:spcPct val="80000"/>
              </a:lnSpc>
              <a:buFontTx/>
              <a:buNone/>
            </a:pPr>
            <a:r>
              <a:rPr lang="en-US" sz="1800" dirty="0"/>
              <a:t>	  </a:t>
            </a:r>
            <a:r>
              <a:rPr lang="en-US" sz="1800" dirty="0" err="1"/>
              <a:t>pid_t</a:t>
            </a:r>
            <a:r>
              <a:rPr lang="en-US" sz="1800" dirty="0"/>
              <a:t> </a:t>
            </a:r>
            <a:r>
              <a:rPr lang="en-US" sz="1800" dirty="0" err="1"/>
              <a:t>pid</a:t>
            </a:r>
            <a:r>
              <a:rPr lang="en-US" sz="1800" dirty="0"/>
              <a:t>;</a:t>
            </a:r>
          </a:p>
          <a:p>
            <a:pPr eaLnBrk="1" hangingPunct="1">
              <a:lnSpc>
                <a:spcPct val="80000"/>
              </a:lnSpc>
              <a:buFontTx/>
              <a:buNone/>
            </a:pPr>
            <a:endParaRPr lang="en-US" sz="1800" dirty="0"/>
          </a:p>
          <a:p>
            <a:pPr eaLnBrk="1" hangingPunct="1">
              <a:lnSpc>
                <a:spcPct val="80000"/>
              </a:lnSpc>
              <a:buFontTx/>
              <a:buNone/>
            </a:pPr>
            <a:r>
              <a:rPr lang="en-US" sz="1800" b="1" dirty="0"/>
              <a:t>	  </a:t>
            </a:r>
            <a:r>
              <a:rPr lang="en-US" sz="1800" b="1" dirty="0" err="1"/>
              <a:t>pid</a:t>
            </a:r>
            <a:r>
              <a:rPr lang="en-US" sz="1800" b="1" dirty="0"/>
              <a:t>=fork();</a:t>
            </a:r>
          </a:p>
          <a:p>
            <a:pPr eaLnBrk="1" hangingPunct="1">
              <a:lnSpc>
                <a:spcPct val="80000"/>
              </a:lnSpc>
              <a:buFontTx/>
              <a:buNone/>
            </a:pPr>
            <a:endParaRPr lang="en-US" sz="1800" dirty="0"/>
          </a:p>
          <a:p>
            <a:pPr eaLnBrk="1" hangingPunct="1">
              <a:lnSpc>
                <a:spcPct val="80000"/>
              </a:lnSpc>
              <a:buFontTx/>
              <a:buNone/>
            </a:pPr>
            <a:r>
              <a:rPr lang="en-US" sz="1800" dirty="0"/>
              <a:t>                   if (</a:t>
            </a:r>
            <a:r>
              <a:rPr lang="en-US" sz="1800" dirty="0" err="1"/>
              <a:t>pid</a:t>
            </a:r>
            <a:r>
              <a:rPr lang="en-US" sz="1800" dirty="0"/>
              <a:t>==0)</a:t>
            </a:r>
          </a:p>
          <a:p>
            <a:pPr eaLnBrk="1" hangingPunct="1">
              <a:lnSpc>
                <a:spcPct val="80000"/>
              </a:lnSpc>
              <a:buFontTx/>
              <a:buNone/>
            </a:pPr>
            <a:r>
              <a:rPr lang="en-US" sz="1800" dirty="0"/>
              <a:t>	  {</a:t>
            </a:r>
          </a:p>
          <a:p>
            <a:pPr>
              <a:buNone/>
            </a:pPr>
            <a:r>
              <a:rPr lang="en-US" sz="1800" dirty="0"/>
              <a:t>	 	        </a:t>
            </a:r>
            <a:r>
              <a:rPr lang="en-US" sz="1800" dirty="0" err="1"/>
              <a:t>printf</a:t>
            </a:r>
            <a:r>
              <a:rPr lang="en-US" sz="1800" dirty="0"/>
              <a:t>("I am a child process\n");</a:t>
            </a:r>
          </a:p>
          <a:p>
            <a:pPr>
              <a:buNone/>
            </a:pPr>
            <a:r>
              <a:rPr lang="en-US" sz="1800" dirty="0"/>
              <a:t>	         	        </a:t>
            </a:r>
            <a:r>
              <a:rPr lang="en-US" sz="1800" dirty="0" err="1"/>
              <a:t>printf</a:t>
            </a:r>
            <a:r>
              <a:rPr lang="en-US" sz="1800" dirty="0"/>
              <a:t>(“Child process ID : %d \n", </a:t>
            </a:r>
            <a:r>
              <a:rPr lang="en-US" sz="1800" dirty="0" err="1"/>
              <a:t>getpid</a:t>
            </a:r>
            <a:r>
              <a:rPr lang="en-US" sz="1800" dirty="0"/>
              <a:t>());</a:t>
            </a:r>
          </a:p>
          <a:p>
            <a:pPr>
              <a:buNone/>
            </a:pPr>
            <a:r>
              <a:rPr lang="en-US" sz="1800" dirty="0"/>
              <a:t>	         	        </a:t>
            </a:r>
            <a:r>
              <a:rPr lang="en-US" sz="1800" dirty="0" err="1"/>
              <a:t>printf</a:t>
            </a:r>
            <a:r>
              <a:rPr lang="en-US" sz="1800" dirty="0"/>
              <a:t>("Child's Parent process ID : %d ",</a:t>
            </a:r>
            <a:r>
              <a:rPr lang="en-US" sz="1800" dirty="0" err="1"/>
              <a:t>getppid</a:t>
            </a:r>
            <a:r>
              <a:rPr lang="en-US" sz="1800" dirty="0"/>
              <a:t>());</a:t>
            </a:r>
          </a:p>
          <a:p>
            <a:pPr>
              <a:buNone/>
            </a:pPr>
            <a:r>
              <a:rPr lang="en-US" sz="1800" dirty="0"/>
              <a:t>                    }  </a:t>
            </a:r>
          </a:p>
          <a:p>
            <a:pPr eaLnBrk="1" hangingPunct="1">
              <a:lnSpc>
                <a:spcPct val="80000"/>
              </a:lnSpc>
              <a:buFontTx/>
              <a:buNone/>
            </a:pPr>
            <a:r>
              <a:rPr lang="en-US" sz="1800" dirty="0"/>
              <a:t>                   else</a:t>
            </a:r>
          </a:p>
          <a:p>
            <a:pPr>
              <a:buNone/>
            </a:pPr>
            <a:r>
              <a:rPr lang="en-US" sz="1800" dirty="0"/>
              <a:t>                    {</a:t>
            </a:r>
          </a:p>
          <a:p>
            <a:pPr>
              <a:buNone/>
            </a:pPr>
            <a:r>
              <a:rPr lang="en-US" sz="1800" dirty="0"/>
              <a:t>	 	     </a:t>
            </a:r>
            <a:r>
              <a:rPr lang="en-US" sz="1800" dirty="0" err="1"/>
              <a:t>printf</a:t>
            </a:r>
            <a:r>
              <a:rPr lang="en-US" sz="1800" dirty="0"/>
              <a:t>("I am a parent process\n");</a:t>
            </a:r>
          </a:p>
          <a:p>
            <a:pPr>
              <a:buNone/>
            </a:pPr>
            <a:r>
              <a:rPr lang="en-US" sz="1800" dirty="0"/>
              <a:t>		     </a:t>
            </a:r>
            <a:r>
              <a:rPr lang="en-US" sz="1800" dirty="0" err="1"/>
              <a:t>printf</a:t>
            </a:r>
            <a:r>
              <a:rPr lang="en-US" sz="1800" dirty="0"/>
              <a:t>(“Parent process ID : %d \n",</a:t>
            </a:r>
            <a:r>
              <a:rPr lang="en-US" sz="1800" dirty="0" err="1"/>
              <a:t>getpid</a:t>
            </a:r>
            <a:r>
              <a:rPr lang="en-US" sz="1800" dirty="0"/>
              <a:t>());</a:t>
            </a:r>
          </a:p>
          <a:p>
            <a:pPr>
              <a:buNone/>
            </a:pPr>
            <a:r>
              <a:rPr lang="en-US" sz="1800" dirty="0"/>
              <a:t>		     </a:t>
            </a:r>
            <a:r>
              <a:rPr lang="en-US" sz="1800" dirty="0" err="1"/>
              <a:t>printf</a:t>
            </a:r>
            <a:r>
              <a:rPr lang="en-US" sz="1800" dirty="0"/>
              <a:t>("Parent's parent ID(Shell id) : %d\n",</a:t>
            </a:r>
            <a:r>
              <a:rPr lang="en-US" sz="1800" dirty="0" err="1"/>
              <a:t>getppid</a:t>
            </a:r>
            <a:r>
              <a:rPr lang="en-US" sz="1800" dirty="0"/>
              <a:t>());</a:t>
            </a:r>
          </a:p>
          <a:p>
            <a:pPr>
              <a:buNone/>
            </a:pPr>
            <a:r>
              <a:rPr lang="en-US" sz="1800" dirty="0"/>
              <a:t> 	   }</a:t>
            </a:r>
          </a:p>
          <a:p>
            <a:pPr>
              <a:buNone/>
            </a:pPr>
            <a:r>
              <a:rPr lang="en-US" sz="1800" dirty="0"/>
              <a:t>}</a:t>
            </a:r>
          </a:p>
          <a:p>
            <a:pPr eaLnBrk="1" hangingPunct="1">
              <a:lnSpc>
                <a:spcPct val="80000"/>
              </a:lnSpc>
              <a:buFontTx/>
              <a:buNone/>
            </a:pPr>
            <a:r>
              <a:rPr lang="en-US" sz="1800" dirty="0"/>
              <a:t>	</a:t>
            </a:r>
          </a:p>
          <a:p>
            <a:pPr eaLnBrk="1" hangingPunct="1">
              <a:lnSpc>
                <a:spcPct val="80000"/>
              </a:lnSpc>
              <a:buFontTx/>
              <a:buNone/>
            </a:pPr>
            <a:endParaRPr lang="en-US" sz="1800" dirty="0"/>
          </a:p>
        </p:txBody>
      </p:sp>
    </p:spTree>
    <p:extLst>
      <p:ext uri="{BB962C8B-B14F-4D97-AF65-F5344CB8AC3E}">
        <p14:creationId xmlns:p14="http://schemas.microsoft.com/office/powerpoint/2010/main" val="731493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1B16028-1C37-4FC8-AE01-EB9FA790A368}"/>
              </a:ext>
            </a:extLst>
          </p:cNvPr>
          <p:cNvSpPr/>
          <p:nvPr/>
        </p:nvSpPr>
        <p:spPr>
          <a:xfrm>
            <a:off x="1102659" y="322730"/>
            <a:ext cx="9829800" cy="4840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Types of Processes</a:t>
            </a:r>
            <a:endParaRPr lang="en-US" sz="2800" b="1" dirty="0"/>
          </a:p>
        </p:txBody>
      </p:sp>
      <p:sp>
        <p:nvSpPr>
          <p:cNvPr id="6" name="TextBox 5">
            <a:extLst>
              <a:ext uri="{FF2B5EF4-FFF2-40B4-BE49-F238E27FC236}">
                <a16:creationId xmlns:a16="http://schemas.microsoft.com/office/drawing/2014/main" id="{D1BE8A9F-C1FA-58D4-0791-9C419A48A375}"/>
              </a:ext>
            </a:extLst>
          </p:cNvPr>
          <p:cNvSpPr txBox="1"/>
          <p:nvPr/>
        </p:nvSpPr>
        <p:spPr>
          <a:xfrm>
            <a:off x="62754" y="1116116"/>
            <a:ext cx="5531220" cy="3046988"/>
          </a:xfrm>
          <a:prstGeom prst="rect">
            <a:avLst/>
          </a:prstGeom>
          <a:noFill/>
        </p:spPr>
        <p:txBody>
          <a:bodyPr wrap="square">
            <a:spAutoFit/>
          </a:bodyPr>
          <a:lstStyle/>
          <a:p>
            <a:pPr marL="0" indent="0" eaLnBrk="1" hangingPunct="1">
              <a:buClr>
                <a:srgbClr val="0000CC"/>
              </a:buClr>
              <a:buNone/>
            </a:pPr>
            <a:r>
              <a:rPr lang="en-US" sz="3200" b="1" dirty="0"/>
              <a:t>Orphan Process</a:t>
            </a:r>
          </a:p>
          <a:p>
            <a:pPr marL="457200" indent="-457200" eaLnBrk="1" hangingPunct="1">
              <a:buClr>
                <a:srgbClr val="0000CC"/>
              </a:buClr>
              <a:buFont typeface="Arial" panose="020B0604020202020204" pitchFamily="34" charset="0"/>
              <a:buChar char="•"/>
            </a:pPr>
            <a:r>
              <a:rPr lang="en-US" sz="2000" dirty="0"/>
              <a:t>After fork(), the time slice is given to parent process.  If the parent process terminates before the child process, then the child process becomes </a:t>
            </a:r>
            <a:r>
              <a:rPr lang="en-US" sz="2000" b="1" dirty="0"/>
              <a:t>orphan</a:t>
            </a:r>
            <a:r>
              <a:rPr lang="en-US" sz="2000" dirty="0"/>
              <a:t> process</a:t>
            </a:r>
          </a:p>
          <a:p>
            <a:pPr marL="457200" indent="-457200" eaLnBrk="1" hangingPunct="1">
              <a:buClr>
                <a:srgbClr val="0000CC"/>
              </a:buClr>
              <a:buFont typeface="Arial" panose="020B0604020202020204" pitchFamily="34" charset="0"/>
              <a:buChar char="•"/>
            </a:pPr>
            <a:r>
              <a:rPr lang="en-US" sz="2000" dirty="0"/>
              <a:t>When parent terminates then the child process will come into the picture of </a:t>
            </a:r>
            <a:r>
              <a:rPr lang="en-US" sz="2000" b="1" dirty="0" err="1"/>
              <a:t>init</a:t>
            </a:r>
            <a:r>
              <a:rPr lang="en-US" sz="2000" dirty="0"/>
              <a:t> process</a:t>
            </a:r>
          </a:p>
          <a:p>
            <a:pPr marL="457200" indent="-457200" eaLnBrk="1" hangingPunct="1">
              <a:buClr>
                <a:srgbClr val="0000CC"/>
              </a:buClr>
              <a:buFont typeface="Arial" panose="020B0604020202020204" pitchFamily="34" charset="0"/>
              <a:buChar char="•"/>
            </a:pPr>
            <a:r>
              <a:rPr lang="en-US" sz="2000" dirty="0"/>
              <a:t>For every orphan process </a:t>
            </a:r>
            <a:r>
              <a:rPr lang="en-US" sz="2000" b="1" dirty="0" err="1"/>
              <a:t>init</a:t>
            </a:r>
            <a:r>
              <a:rPr lang="en-US" sz="2000" dirty="0"/>
              <a:t> will become </a:t>
            </a:r>
            <a:r>
              <a:rPr lang="en-US" sz="2000" b="1" dirty="0"/>
              <a:t>father</a:t>
            </a:r>
          </a:p>
        </p:txBody>
      </p:sp>
      <p:sp>
        <p:nvSpPr>
          <p:cNvPr id="8" name="TextBox 7">
            <a:extLst>
              <a:ext uri="{FF2B5EF4-FFF2-40B4-BE49-F238E27FC236}">
                <a16:creationId xmlns:a16="http://schemas.microsoft.com/office/drawing/2014/main" id="{820AC810-33D9-2FC9-18DE-80A58D1F7580}"/>
              </a:ext>
            </a:extLst>
          </p:cNvPr>
          <p:cNvSpPr txBox="1"/>
          <p:nvPr/>
        </p:nvSpPr>
        <p:spPr>
          <a:xfrm>
            <a:off x="5567081" y="1116116"/>
            <a:ext cx="6575612" cy="5133713"/>
          </a:xfrm>
          <a:prstGeom prst="rect">
            <a:avLst/>
          </a:prstGeom>
          <a:noFill/>
          <a:ln>
            <a:solidFill>
              <a:schemeClr val="accent1"/>
            </a:solidFill>
          </a:ln>
        </p:spPr>
        <p:txBody>
          <a:bodyPr wrap="square">
            <a:spAutoFit/>
          </a:bodyPr>
          <a:lstStyle/>
          <a:p>
            <a:pPr>
              <a:lnSpc>
                <a:spcPct val="80000"/>
              </a:lnSpc>
              <a:buNone/>
            </a:pPr>
            <a:r>
              <a:rPr lang="en-US" dirty="0"/>
              <a:t>int main(void)</a:t>
            </a:r>
          </a:p>
          <a:p>
            <a:pPr>
              <a:lnSpc>
                <a:spcPct val="80000"/>
              </a:lnSpc>
              <a:buNone/>
            </a:pPr>
            <a:r>
              <a:rPr lang="en-US" dirty="0"/>
              <a:t>{</a:t>
            </a:r>
          </a:p>
          <a:p>
            <a:pPr>
              <a:lnSpc>
                <a:spcPct val="80000"/>
              </a:lnSpc>
              <a:buNone/>
            </a:pPr>
            <a:r>
              <a:rPr lang="en-US" dirty="0"/>
              <a:t>          </a:t>
            </a:r>
            <a:r>
              <a:rPr lang="en-US" dirty="0" err="1"/>
              <a:t>pid_t</a:t>
            </a:r>
            <a:r>
              <a:rPr lang="en-US" dirty="0"/>
              <a:t> </a:t>
            </a:r>
            <a:r>
              <a:rPr lang="en-US" dirty="0" err="1"/>
              <a:t>pid</a:t>
            </a:r>
            <a:r>
              <a:rPr lang="en-US" dirty="0"/>
              <a:t>;</a:t>
            </a:r>
          </a:p>
          <a:p>
            <a:pPr>
              <a:lnSpc>
                <a:spcPct val="80000"/>
              </a:lnSpc>
              <a:buNone/>
            </a:pPr>
            <a:endParaRPr lang="en-US" dirty="0"/>
          </a:p>
          <a:p>
            <a:pPr>
              <a:lnSpc>
                <a:spcPct val="80000"/>
              </a:lnSpc>
              <a:buNone/>
            </a:pPr>
            <a:r>
              <a:rPr lang="en-US" b="1" dirty="0"/>
              <a:t>          </a:t>
            </a:r>
            <a:r>
              <a:rPr lang="en-US" b="1" dirty="0" err="1"/>
              <a:t>pid</a:t>
            </a:r>
            <a:r>
              <a:rPr lang="en-US" b="1" dirty="0"/>
              <a:t>=fork();</a:t>
            </a:r>
          </a:p>
          <a:p>
            <a:pPr>
              <a:lnSpc>
                <a:spcPct val="80000"/>
              </a:lnSpc>
              <a:buNone/>
            </a:pPr>
            <a:endParaRPr lang="en-US" b="1" dirty="0"/>
          </a:p>
          <a:p>
            <a:pPr>
              <a:lnSpc>
                <a:spcPct val="80000"/>
              </a:lnSpc>
              <a:buNone/>
            </a:pPr>
            <a:r>
              <a:rPr lang="en-US" dirty="0"/>
              <a:t>          if (</a:t>
            </a:r>
            <a:r>
              <a:rPr lang="en-US" dirty="0" err="1"/>
              <a:t>pid</a:t>
            </a:r>
            <a:r>
              <a:rPr lang="en-US" dirty="0"/>
              <a:t>==0)</a:t>
            </a:r>
          </a:p>
          <a:p>
            <a:pPr>
              <a:lnSpc>
                <a:spcPct val="80000"/>
              </a:lnSpc>
              <a:buNone/>
            </a:pPr>
            <a:r>
              <a:rPr lang="en-US" dirty="0"/>
              <a:t>         {</a:t>
            </a:r>
          </a:p>
          <a:p>
            <a:pPr>
              <a:lnSpc>
                <a:spcPct val="80000"/>
              </a:lnSpc>
              <a:buNone/>
            </a:pPr>
            <a:r>
              <a:rPr lang="en-US" dirty="0"/>
              <a:t>	sleep(5);</a:t>
            </a:r>
          </a:p>
          <a:p>
            <a:pPr>
              <a:buNone/>
            </a:pPr>
            <a:r>
              <a:rPr lang="en-US" dirty="0"/>
              <a:t>	</a:t>
            </a:r>
            <a:r>
              <a:rPr lang="en-US" dirty="0" err="1"/>
              <a:t>printf</a:t>
            </a:r>
            <a:r>
              <a:rPr lang="en-US" dirty="0"/>
              <a:t>("I am a child process\n");</a:t>
            </a:r>
          </a:p>
          <a:p>
            <a:pPr>
              <a:buNone/>
            </a:pPr>
            <a:r>
              <a:rPr lang="en-US" dirty="0"/>
              <a:t>	</a:t>
            </a:r>
            <a:r>
              <a:rPr lang="en-US" dirty="0" err="1"/>
              <a:t>printf</a:t>
            </a:r>
            <a:r>
              <a:rPr lang="en-US" dirty="0"/>
              <a:t>(“Child process ID : %d \n", </a:t>
            </a:r>
            <a:r>
              <a:rPr lang="en-US" dirty="0" err="1"/>
              <a:t>getpid</a:t>
            </a:r>
            <a:r>
              <a:rPr lang="en-US" dirty="0"/>
              <a:t>());</a:t>
            </a:r>
          </a:p>
          <a:p>
            <a:pPr>
              <a:buNone/>
            </a:pPr>
            <a:r>
              <a:rPr lang="en-US" dirty="0"/>
              <a:t>	</a:t>
            </a:r>
            <a:r>
              <a:rPr lang="en-US" dirty="0" err="1"/>
              <a:t>printf</a:t>
            </a:r>
            <a:r>
              <a:rPr lang="en-US" dirty="0"/>
              <a:t>("Child's Parent process ID : %d ",</a:t>
            </a:r>
            <a:r>
              <a:rPr lang="en-US" dirty="0" err="1"/>
              <a:t>getppid</a:t>
            </a:r>
            <a:r>
              <a:rPr lang="en-US" dirty="0"/>
              <a:t>());</a:t>
            </a:r>
          </a:p>
          <a:p>
            <a:pPr>
              <a:buNone/>
            </a:pPr>
            <a:r>
              <a:rPr lang="en-US" dirty="0"/>
              <a:t>         }  </a:t>
            </a:r>
          </a:p>
          <a:p>
            <a:pPr>
              <a:buNone/>
            </a:pPr>
            <a:r>
              <a:rPr lang="en-US" dirty="0"/>
              <a:t>         else</a:t>
            </a:r>
          </a:p>
          <a:p>
            <a:pPr>
              <a:buNone/>
            </a:pPr>
            <a:r>
              <a:rPr lang="en-US" dirty="0"/>
              <a:t>         {</a:t>
            </a:r>
          </a:p>
          <a:p>
            <a:pPr>
              <a:buNone/>
            </a:pPr>
            <a:r>
              <a:rPr lang="en-US" dirty="0"/>
              <a:t>	 </a:t>
            </a:r>
            <a:r>
              <a:rPr lang="en-US" dirty="0" err="1"/>
              <a:t>printf</a:t>
            </a:r>
            <a:r>
              <a:rPr lang="en-US" dirty="0"/>
              <a:t>("I am a parent process\n");</a:t>
            </a:r>
          </a:p>
          <a:p>
            <a:pPr>
              <a:buNone/>
            </a:pPr>
            <a:r>
              <a:rPr lang="en-US" dirty="0"/>
              <a:t>	 </a:t>
            </a:r>
            <a:r>
              <a:rPr lang="en-US" dirty="0" err="1"/>
              <a:t>printf</a:t>
            </a:r>
            <a:r>
              <a:rPr lang="en-US" dirty="0"/>
              <a:t>(“Parent process ID : %d \n",</a:t>
            </a:r>
            <a:r>
              <a:rPr lang="en-US" dirty="0" err="1"/>
              <a:t>getpid</a:t>
            </a:r>
            <a:r>
              <a:rPr lang="en-US" dirty="0"/>
              <a:t>());</a:t>
            </a:r>
          </a:p>
          <a:p>
            <a:pPr>
              <a:buNone/>
            </a:pPr>
            <a:r>
              <a:rPr lang="en-US" dirty="0"/>
              <a:t>	 </a:t>
            </a:r>
            <a:r>
              <a:rPr lang="en-US" dirty="0" err="1"/>
              <a:t>printf</a:t>
            </a:r>
            <a:r>
              <a:rPr lang="en-US" dirty="0"/>
              <a:t>("Parent's parent ID(Shell id) : %d\n",</a:t>
            </a:r>
            <a:r>
              <a:rPr lang="en-US" dirty="0" err="1"/>
              <a:t>getppid</a:t>
            </a:r>
            <a:r>
              <a:rPr lang="en-US" dirty="0"/>
              <a:t>());</a:t>
            </a:r>
          </a:p>
          <a:p>
            <a:pPr>
              <a:buNone/>
            </a:pPr>
            <a:r>
              <a:rPr lang="en-US" dirty="0"/>
              <a:t>          }</a:t>
            </a:r>
          </a:p>
          <a:p>
            <a:pPr>
              <a:buNone/>
            </a:pPr>
            <a:r>
              <a:rPr lang="en-US" dirty="0"/>
              <a:t>}</a:t>
            </a:r>
          </a:p>
        </p:txBody>
      </p:sp>
    </p:spTree>
    <p:extLst>
      <p:ext uri="{BB962C8B-B14F-4D97-AF65-F5344CB8AC3E}">
        <p14:creationId xmlns:p14="http://schemas.microsoft.com/office/powerpoint/2010/main" val="1237865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64597E-6A4A-5725-CBE4-4400B30EDF5E}"/>
              </a:ext>
            </a:extLst>
          </p:cNvPr>
          <p:cNvSpPr txBox="1"/>
          <p:nvPr/>
        </p:nvSpPr>
        <p:spPr>
          <a:xfrm>
            <a:off x="618565" y="180115"/>
            <a:ext cx="10650070" cy="1200329"/>
          </a:xfrm>
          <a:prstGeom prst="rect">
            <a:avLst/>
          </a:prstGeom>
          <a:noFill/>
        </p:spPr>
        <p:txBody>
          <a:bodyPr wrap="square">
            <a:spAutoFit/>
          </a:bodyPr>
          <a:lstStyle/>
          <a:p>
            <a:pPr marL="0" indent="0" eaLnBrk="1" hangingPunct="1">
              <a:buClr>
                <a:srgbClr val="0000CC"/>
              </a:buClr>
              <a:buNone/>
            </a:pPr>
            <a:r>
              <a:rPr lang="en-US" sz="3200" b="1" dirty="0"/>
              <a:t>Zombie Process</a:t>
            </a:r>
          </a:p>
          <a:p>
            <a:pPr marL="0" indent="0" eaLnBrk="1" hangingPunct="1">
              <a:buClr>
                <a:srgbClr val="0000CC"/>
              </a:buClr>
              <a:buNone/>
            </a:pPr>
            <a:r>
              <a:rPr lang="en-US" sz="2000" dirty="0"/>
              <a:t>A </a:t>
            </a:r>
            <a:r>
              <a:rPr lang="en-US" sz="2000" b="1" dirty="0"/>
              <a:t>zombie process</a:t>
            </a:r>
            <a:r>
              <a:rPr lang="en-US" sz="2000" dirty="0"/>
              <a:t> (also called a </a:t>
            </a:r>
            <a:r>
              <a:rPr lang="en-US" sz="2000" b="1" dirty="0"/>
              <a:t>defunct process</a:t>
            </a:r>
            <a:r>
              <a:rPr lang="en-US" sz="2000" dirty="0"/>
              <a:t>) in Linux is a </a:t>
            </a:r>
            <a:r>
              <a:rPr lang="en-US" sz="2000" b="1" dirty="0"/>
              <a:t>child process that has completed execution</a:t>
            </a:r>
            <a:r>
              <a:rPr lang="en-US" sz="2000" dirty="0"/>
              <a:t>, but </a:t>
            </a:r>
            <a:r>
              <a:rPr lang="en-US" sz="2000" b="1" dirty="0"/>
              <a:t>still has an entry in the process table</a:t>
            </a:r>
            <a:r>
              <a:rPr lang="en-US" sz="2000" dirty="0"/>
              <a:t> because its </a:t>
            </a:r>
            <a:r>
              <a:rPr lang="en-US" sz="2000" b="1" dirty="0"/>
              <a:t>parent hasn't read its exit status</a:t>
            </a:r>
            <a:r>
              <a:rPr lang="en-US" sz="2000" dirty="0"/>
              <a:t>.</a:t>
            </a:r>
          </a:p>
        </p:txBody>
      </p:sp>
      <p:sp>
        <p:nvSpPr>
          <p:cNvPr id="6" name="Rectangle 3">
            <a:extLst>
              <a:ext uri="{FF2B5EF4-FFF2-40B4-BE49-F238E27FC236}">
                <a16:creationId xmlns:a16="http://schemas.microsoft.com/office/drawing/2014/main" id="{9B05BD04-1F96-E373-6678-AE25A61C0D79}"/>
              </a:ext>
            </a:extLst>
          </p:cNvPr>
          <p:cNvSpPr>
            <a:spLocks noGrp="1" noChangeArrowheads="1"/>
          </p:cNvSpPr>
          <p:nvPr>
            <p:ph idx="1"/>
          </p:nvPr>
        </p:nvSpPr>
        <p:spPr>
          <a:xfrm>
            <a:off x="623047" y="1393891"/>
            <a:ext cx="5437094" cy="5401235"/>
          </a:xfrm>
          <a:ln>
            <a:solidFill>
              <a:schemeClr val="accent1"/>
            </a:solidFill>
          </a:ln>
        </p:spPr>
        <p:txBody>
          <a:bodyPr>
            <a:noAutofit/>
          </a:bodyPr>
          <a:lstStyle/>
          <a:p>
            <a:pPr>
              <a:lnSpc>
                <a:spcPct val="80000"/>
              </a:lnSpc>
              <a:buNone/>
            </a:pPr>
            <a:r>
              <a:rPr lang="en-US" sz="1200" dirty="0" err="1"/>
              <a:t>int</a:t>
            </a:r>
            <a:r>
              <a:rPr lang="en-US" sz="1200" dirty="0"/>
              <a:t> main(void)</a:t>
            </a:r>
          </a:p>
          <a:p>
            <a:pPr>
              <a:lnSpc>
                <a:spcPct val="80000"/>
              </a:lnSpc>
              <a:buNone/>
            </a:pPr>
            <a:r>
              <a:rPr lang="en-US" sz="1200" dirty="0"/>
              <a:t>{</a:t>
            </a:r>
          </a:p>
          <a:p>
            <a:pPr>
              <a:lnSpc>
                <a:spcPct val="80000"/>
              </a:lnSpc>
              <a:buNone/>
            </a:pPr>
            <a:r>
              <a:rPr lang="en-US" sz="1200" dirty="0"/>
              <a:t>	  </a:t>
            </a:r>
            <a:r>
              <a:rPr lang="en-US" sz="1200" dirty="0" err="1"/>
              <a:t>pid_t</a:t>
            </a:r>
            <a:r>
              <a:rPr lang="en-US" sz="1200" dirty="0"/>
              <a:t> </a:t>
            </a:r>
            <a:r>
              <a:rPr lang="en-US" sz="1200" dirty="0" err="1"/>
              <a:t>pid</a:t>
            </a:r>
            <a:r>
              <a:rPr lang="en-US" sz="1200" dirty="0"/>
              <a:t>;</a:t>
            </a:r>
          </a:p>
          <a:p>
            <a:pPr>
              <a:lnSpc>
                <a:spcPct val="80000"/>
              </a:lnSpc>
              <a:buNone/>
            </a:pPr>
            <a:r>
              <a:rPr lang="en-US" sz="1200" dirty="0"/>
              <a:t>	  </a:t>
            </a:r>
            <a:r>
              <a:rPr lang="en-US" sz="1200" dirty="0" err="1"/>
              <a:t>pid</a:t>
            </a:r>
            <a:r>
              <a:rPr lang="en-US" sz="1200" dirty="0"/>
              <a:t>=fork();</a:t>
            </a:r>
          </a:p>
          <a:p>
            <a:pPr>
              <a:lnSpc>
                <a:spcPct val="80000"/>
              </a:lnSpc>
              <a:buNone/>
            </a:pPr>
            <a:r>
              <a:rPr lang="en-US" sz="1200" dirty="0"/>
              <a:t>       if (</a:t>
            </a:r>
            <a:r>
              <a:rPr lang="en-US" sz="1200" dirty="0" err="1"/>
              <a:t>pid</a:t>
            </a:r>
            <a:r>
              <a:rPr lang="en-US" sz="1200" dirty="0"/>
              <a:t>==0)</a:t>
            </a:r>
          </a:p>
          <a:p>
            <a:pPr>
              <a:lnSpc>
                <a:spcPct val="80000"/>
              </a:lnSpc>
              <a:buNone/>
            </a:pPr>
            <a:r>
              <a:rPr lang="en-US" sz="1200" dirty="0"/>
              <a:t>	  {</a:t>
            </a:r>
          </a:p>
          <a:p>
            <a:pPr>
              <a:buNone/>
            </a:pPr>
            <a:r>
              <a:rPr lang="en-US" sz="1200" dirty="0"/>
              <a:t>	 	      </a:t>
            </a:r>
            <a:r>
              <a:rPr lang="en-US" sz="1200" dirty="0" err="1"/>
              <a:t>printf</a:t>
            </a:r>
            <a:r>
              <a:rPr lang="en-US" sz="1200" dirty="0"/>
              <a:t>("I am a child process\n");</a:t>
            </a:r>
          </a:p>
          <a:p>
            <a:pPr>
              <a:buNone/>
            </a:pPr>
            <a:r>
              <a:rPr lang="en-US" sz="1200" dirty="0"/>
              <a:t>	         	      </a:t>
            </a:r>
            <a:r>
              <a:rPr lang="en-US" sz="1200" dirty="0" err="1"/>
              <a:t>printf</a:t>
            </a:r>
            <a:r>
              <a:rPr lang="en-US" sz="1200" dirty="0"/>
              <a:t>(“Child process ID : %d \n", </a:t>
            </a:r>
            <a:r>
              <a:rPr lang="en-US" sz="1200" dirty="0" err="1"/>
              <a:t>getpid</a:t>
            </a:r>
            <a:r>
              <a:rPr lang="en-US" sz="1200" dirty="0"/>
              <a:t>());</a:t>
            </a:r>
          </a:p>
          <a:p>
            <a:pPr>
              <a:buNone/>
            </a:pPr>
            <a:r>
              <a:rPr lang="en-US" sz="1200" dirty="0"/>
              <a:t>	         	      </a:t>
            </a:r>
            <a:r>
              <a:rPr lang="en-US" sz="1200" dirty="0" err="1"/>
              <a:t>printf</a:t>
            </a:r>
            <a:r>
              <a:rPr lang="en-US" sz="1200" dirty="0"/>
              <a:t>("Child's Parent process ID : %d ",</a:t>
            </a:r>
            <a:r>
              <a:rPr lang="en-US" sz="1200" dirty="0" err="1"/>
              <a:t>getppid</a:t>
            </a:r>
            <a:r>
              <a:rPr lang="en-US" sz="1200" dirty="0"/>
              <a:t>());</a:t>
            </a:r>
          </a:p>
          <a:p>
            <a:pPr>
              <a:buNone/>
            </a:pPr>
            <a:r>
              <a:rPr lang="en-US" sz="1200" dirty="0"/>
              <a:t>	   }  </a:t>
            </a:r>
          </a:p>
          <a:p>
            <a:pPr>
              <a:lnSpc>
                <a:spcPct val="80000"/>
              </a:lnSpc>
              <a:buNone/>
            </a:pPr>
            <a:r>
              <a:rPr lang="en-US" sz="1200" dirty="0"/>
              <a:t>        else</a:t>
            </a:r>
          </a:p>
          <a:p>
            <a:pPr>
              <a:buNone/>
            </a:pPr>
            <a:r>
              <a:rPr lang="en-US" sz="1200" dirty="0"/>
              <a:t>         {</a:t>
            </a:r>
          </a:p>
          <a:p>
            <a:pPr>
              <a:buNone/>
            </a:pPr>
            <a:r>
              <a:rPr lang="en-US" sz="1200" b="1" dirty="0"/>
              <a:t>                   </a:t>
            </a:r>
            <a:r>
              <a:rPr lang="en-US" sz="1200" b="1" dirty="0" err="1"/>
              <a:t>getchar</a:t>
            </a:r>
            <a:r>
              <a:rPr lang="en-US" sz="1200" b="1" dirty="0"/>
              <a:t>();</a:t>
            </a:r>
          </a:p>
          <a:p>
            <a:pPr>
              <a:buNone/>
            </a:pPr>
            <a:r>
              <a:rPr lang="en-US" sz="1200" dirty="0"/>
              <a:t>	 	    </a:t>
            </a:r>
            <a:r>
              <a:rPr lang="en-US" sz="1200" dirty="0" err="1"/>
              <a:t>printf</a:t>
            </a:r>
            <a:r>
              <a:rPr lang="en-US" sz="1200" dirty="0"/>
              <a:t>("I am a parent process\n");</a:t>
            </a:r>
          </a:p>
          <a:p>
            <a:pPr>
              <a:buNone/>
            </a:pPr>
            <a:r>
              <a:rPr lang="en-US" sz="1200" b="1" dirty="0"/>
              <a:t>		 </a:t>
            </a:r>
            <a:r>
              <a:rPr lang="en-US" sz="1200" dirty="0"/>
              <a:t>   </a:t>
            </a:r>
            <a:r>
              <a:rPr lang="en-US" sz="1200" dirty="0" err="1"/>
              <a:t>printf</a:t>
            </a:r>
            <a:r>
              <a:rPr lang="en-US" sz="1200" dirty="0"/>
              <a:t>(“Parent process ID : %d \n",</a:t>
            </a:r>
            <a:r>
              <a:rPr lang="en-US" sz="1200" dirty="0" err="1"/>
              <a:t>getpid</a:t>
            </a:r>
            <a:r>
              <a:rPr lang="en-US" sz="1200" dirty="0"/>
              <a:t>());</a:t>
            </a:r>
          </a:p>
          <a:p>
            <a:pPr>
              <a:buNone/>
            </a:pPr>
            <a:r>
              <a:rPr lang="en-US" sz="1200" dirty="0"/>
              <a:t>		    </a:t>
            </a:r>
            <a:r>
              <a:rPr lang="en-US" sz="1200" dirty="0" err="1"/>
              <a:t>printf</a:t>
            </a:r>
            <a:r>
              <a:rPr lang="en-US" sz="1200" dirty="0"/>
              <a:t>("Parent's parent ID(Shell id) : %d\</a:t>
            </a:r>
            <a:r>
              <a:rPr lang="en-US" sz="1200" dirty="0" err="1"/>
              <a:t>n",getppid</a:t>
            </a:r>
            <a:r>
              <a:rPr lang="en-US" sz="1200" dirty="0"/>
              <a:t>());</a:t>
            </a:r>
          </a:p>
          <a:p>
            <a:pPr>
              <a:buNone/>
            </a:pPr>
            <a:r>
              <a:rPr lang="en-US" sz="1200" dirty="0"/>
              <a:t> 	  }</a:t>
            </a:r>
          </a:p>
          <a:p>
            <a:pPr>
              <a:buNone/>
            </a:pPr>
            <a:r>
              <a:rPr lang="en-US" sz="1200" dirty="0"/>
              <a:t>}</a:t>
            </a:r>
          </a:p>
          <a:p>
            <a:pPr>
              <a:lnSpc>
                <a:spcPct val="80000"/>
              </a:lnSpc>
              <a:buNone/>
            </a:pPr>
            <a:r>
              <a:rPr lang="en-US" sz="1200" dirty="0"/>
              <a:t>$ </a:t>
            </a:r>
            <a:r>
              <a:rPr lang="en-US" sz="1200" dirty="0" err="1"/>
              <a:t>gcc</a:t>
            </a:r>
            <a:r>
              <a:rPr lang="en-US" sz="1200" dirty="0"/>
              <a:t> </a:t>
            </a:r>
            <a:r>
              <a:rPr lang="en-US" sz="1200" dirty="0" err="1"/>
              <a:t>zombie.c</a:t>
            </a:r>
            <a:r>
              <a:rPr lang="en-US" sz="1200" dirty="0"/>
              <a:t> 	$./</a:t>
            </a:r>
            <a:r>
              <a:rPr lang="en-US" sz="1200" dirty="0" err="1"/>
              <a:t>a.out</a:t>
            </a:r>
            <a:r>
              <a:rPr lang="en-US" sz="1200" dirty="0"/>
              <a:t> &amp;		$ </a:t>
            </a:r>
            <a:r>
              <a:rPr lang="en-US" sz="1200" dirty="0" err="1"/>
              <a:t>ps</a:t>
            </a:r>
            <a:r>
              <a:rPr lang="en-US" sz="1200" dirty="0"/>
              <a:t>  –</a:t>
            </a:r>
            <a:r>
              <a:rPr lang="en-US" sz="1200" dirty="0" err="1"/>
              <a:t>el</a:t>
            </a:r>
            <a:r>
              <a:rPr lang="en-US" sz="1200" dirty="0"/>
              <a:t> </a:t>
            </a:r>
          </a:p>
        </p:txBody>
      </p:sp>
      <p:pic>
        <p:nvPicPr>
          <p:cNvPr id="11" name="Picture 10">
            <a:extLst>
              <a:ext uri="{FF2B5EF4-FFF2-40B4-BE49-F238E27FC236}">
                <a16:creationId xmlns:a16="http://schemas.microsoft.com/office/drawing/2014/main" id="{8B8A29D4-F2B2-1EC4-6878-2B62F38C814E}"/>
              </a:ext>
            </a:extLst>
          </p:cNvPr>
          <p:cNvPicPr>
            <a:picLocks noChangeAspect="1"/>
          </p:cNvPicPr>
          <p:nvPr/>
        </p:nvPicPr>
        <p:blipFill>
          <a:blip r:embed="rId2"/>
          <a:stretch>
            <a:fillRect/>
          </a:stretch>
        </p:blipFill>
        <p:spPr>
          <a:xfrm>
            <a:off x="6229499" y="1437997"/>
            <a:ext cx="5811061" cy="3982006"/>
          </a:xfrm>
          <a:prstGeom prst="rect">
            <a:avLst/>
          </a:prstGeom>
        </p:spPr>
      </p:pic>
    </p:spTree>
    <p:extLst>
      <p:ext uri="{BB962C8B-B14F-4D97-AF65-F5344CB8AC3E}">
        <p14:creationId xmlns:p14="http://schemas.microsoft.com/office/powerpoint/2010/main" val="3748510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79656C-B383-D07A-389C-30D22C48FF55}"/>
              </a:ext>
            </a:extLst>
          </p:cNvPr>
          <p:cNvSpPr txBox="1"/>
          <p:nvPr/>
        </p:nvSpPr>
        <p:spPr>
          <a:xfrm>
            <a:off x="510989" y="612845"/>
            <a:ext cx="11344835" cy="3816429"/>
          </a:xfrm>
          <a:prstGeom prst="rect">
            <a:avLst/>
          </a:prstGeom>
          <a:noFill/>
        </p:spPr>
        <p:txBody>
          <a:bodyPr wrap="square">
            <a:spAutoFit/>
          </a:bodyPr>
          <a:lstStyle/>
          <a:p>
            <a:pPr eaLnBrk="1" hangingPunct="1">
              <a:buClr>
                <a:srgbClr val="0000CC"/>
              </a:buClr>
            </a:pPr>
            <a:r>
              <a:rPr lang="en-US" sz="3600" dirty="0"/>
              <a:t>    Daemon Process</a:t>
            </a:r>
          </a:p>
          <a:p>
            <a:pPr eaLnBrk="1" hangingPunct="1">
              <a:buClr>
                <a:srgbClr val="0000CC"/>
              </a:buClr>
            </a:pPr>
            <a:endParaRPr lang="en-US" sz="600" dirty="0"/>
          </a:p>
          <a:p>
            <a:pPr lvl="1" eaLnBrk="1" hangingPunct="1">
              <a:lnSpc>
                <a:spcPct val="150000"/>
              </a:lnSpc>
              <a:buClr>
                <a:srgbClr val="0000CC"/>
              </a:buClr>
              <a:buFont typeface="Wingdings" pitchFamily="2" charset="2"/>
              <a:buChar char="§"/>
            </a:pPr>
            <a:r>
              <a:rPr lang="en-US" sz="2000" dirty="0"/>
              <a:t>Daemon are processes that live for a long time .  </a:t>
            </a:r>
          </a:p>
          <a:p>
            <a:pPr lvl="1" eaLnBrk="1" hangingPunct="1">
              <a:lnSpc>
                <a:spcPct val="150000"/>
              </a:lnSpc>
              <a:buClr>
                <a:srgbClr val="0000CC"/>
              </a:buClr>
              <a:buFont typeface="Wingdings" pitchFamily="2" charset="2"/>
              <a:buChar char="§"/>
            </a:pPr>
            <a:r>
              <a:rPr lang="en-US" sz="2000" dirty="0"/>
              <a:t>They run in the background</a:t>
            </a:r>
          </a:p>
          <a:p>
            <a:pPr lvl="1" eaLnBrk="1" hangingPunct="1">
              <a:lnSpc>
                <a:spcPct val="150000"/>
              </a:lnSpc>
              <a:buClr>
                <a:srgbClr val="0000CC"/>
              </a:buClr>
              <a:buFont typeface="Wingdings" pitchFamily="2" charset="2"/>
              <a:buChar char="§"/>
            </a:pPr>
            <a:r>
              <a:rPr lang="en-US" sz="2000" dirty="0"/>
              <a:t>They don’t have controlling terminal</a:t>
            </a:r>
          </a:p>
          <a:p>
            <a:pPr lvl="1" eaLnBrk="1" hangingPunct="1">
              <a:lnSpc>
                <a:spcPct val="150000"/>
              </a:lnSpc>
              <a:buClr>
                <a:srgbClr val="0000CC"/>
              </a:buClr>
              <a:buFont typeface="Wingdings" pitchFamily="2" charset="2"/>
              <a:buChar char="§"/>
            </a:pPr>
            <a:r>
              <a:rPr lang="en-US" sz="2000" dirty="0"/>
              <a:t>Daemons doesn’t want to get killed when the shell exits</a:t>
            </a:r>
          </a:p>
          <a:p>
            <a:pPr lvl="1" eaLnBrk="1" hangingPunct="1">
              <a:buClr>
                <a:srgbClr val="0000CC"/>
              </a:buClr>
              <a:buNone/>
            </a:pPr>
            <a:endParaRPr lang="en-US" sz="2000" dirty="0"/>
          </a:p>
          <a:p>
            <a:pPr lvl="1" eaLnBrk="1" hangingPunct="1">
              <a:buClr>
                <a:srgbClr val="0000CC"/>
              </a:buClr>
              <a:buNone/>
            </a:pPr>
            <a:r>
              <a:rPr lang="en-US" sz="2000" dirty="0"/>
              <a:t>$ ./</a:t>
            </a:r>
            <a:r>
              <a:rPr lang="en-US" sz="2000" dirty="0" err="1"/>
              <a:t>a.out</a:t>
            </a:r>
            <a:r>
              <a:rPr lang="en-US" sz="2000" dirty="0"/>
              <a:t> &amp;</a:t>
            </a:r>
          </a:p>
          <a:p>
            <a:pPr lvl="1" eaLnBrk="1" hangingPunct="1">
              <a:buClr>
                <a:srgbClr val="0000CC"/>
              </a:buClr>
              <a:buNone/>
            </a:pPr>
            <a:endParaRPr lang="en-US" sz="2000" dirty="0"/>
          </a:p>
          <a:p>
            <a:pPr lvl="1" eaLnBrk="1" hangingPunct="1">
              <a:buClr>
                <a:srgbClr val="0000CC"/>
              </a:buClr>
              <a:buNone/>
            </a:pPr>
            <a:r>
              <a:rPr lang="en-US" sz="2000" dirty="0"/>
              <a:t>Example : INIT PROCESS =1</a:t>
            </a:r>
          </a:p>
        </p:txBody>
      </p:sp>
    </p:spTree>
    <p:extLst>
      <p:ext uri="{BB962C8B-B14F-4D97-AF65-F5344CB8AC3E}">
        <p14:creationId xmlns:p14="http://schemas.microsoft.com/office/powerpoint/2010/main" val="1208884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D0B139-9091-06BD-8EC4-1102964D05B7}"/>
              </a:ext>
            </a:extLst>
          </p:cNvPr>
          <p:cNvSpPr txBox="1"/>
          <p:nvPr/>
        </p:nvSpPr>
        <p:spPr>
          <a:xfrm>
            <a:off x="965946" y="291622"/>
            <a:ext cx="10490947" cy="2456057"/>
          </a:xfrm>
          <a:prstGeom prst="rect">
            <a:avLst/>
          </a:prstGeom>
          <a:noFill/>
        </p:spPr>
        <p:txBody>
          <a:bodyPr wrap="square">
            <a:spAutoFit/>
          </a:bodyPr>
          <a:lstStyle/>
          <a:p>
            <a:pPr eaLnBrk="1" hangingPunct="1">
              <a:lnSpc>
                <a:spcPct val="80000"/>
              </a:lnSpc>
              <a:buClr>
                <a:srgbClr val="0000CC"/>
              </a:buClr>
            </a:pPr>
            <a:r>
              <a:rPr lang="en-US" sz="3600" b="1" dirty="0"/>
              <a:t>Exec system call</a:t>
            </a:r>
          </a:p>
          <a:p>
            <a:pPr eaLnBrk="1" hangingPunct="1">
              <a:lnSpc>
                <a:spcPct val="80000"/>
              </a:lnSpc>
              <a:buClr>
                <a:srgbClr val="0000CC"/>
              </a:buClr>
            </a:pPr>
            <a:endParaRPr lang="en-US" sz="600" b="1" dirty="0"/>
          </a:p>
          <a:p>
            <a:pPr eaLnBrk="1" hangingPunct="1">
              <a:buClr>
                <a:srgbClr val="0000CC"/>
              </a:buClr>
              <a:buFont typeface="Wingdings" pitchFamily="2" charset="2"/>
              <a:buChar char="Ø"/>
            </a:pPr>
            <a:r>
              <a:rPr lang="en-US" sz="2000" b="1" dirty="0"/>
              <a:t>exec</a:t>
            </a:r>
            <a:r>
              <a:rPr lang="en-US" sz="2000" dirty="0"/>
              <a:t> replaces the current process image with a new process image</a:t>
            </a:r>
          </a:p>
          <a:p>
            <a:pPr eaLnBrk="1" hangingPunct="1">
              <a:buClr>
                <a:srgbClr val="0000CC"/>
              </a:buClr>
              <a:buFont typeface="Wingdings" pitchFamily="2" charset="2"/>
              <a:buChar char="Ø"/>
            </a:pPr>
            <a:r>
              <a:rPr lang="en-US" sz="2000" dirty="0"/>
              <a:t>Text, Data, BSS and stack of the calling process are overwritten by that of the program loaded</a:t>
            </a:r>
          </a:p>
          <a:p>
            <a:pPr eaLnBrk="1" hangingPunct="1">
              <a:buClr>
                <a:srgbClr val="0000CC"/>
              </a:buClr>
              <a:buFont typeface="Wingdings" pitchFamily="2" charset="2"/>
              <a:buChar char="Ø"/>
            </a:pPr>
            <a:r>
              <a:rPr lang="en-US" sz="2000" dirty="0"/>
              <a:t>The program invoked inherits the calling process’s PID and any open file descriptors that are not </a:t>
            </a:r>
          </a:p>
          <a:p>
            <a:pPr eaLnBrk="1" hangingPunct="1">
              <a:buClr>
                <a:srgbClr val="0000CC"/>
              </a:buClr>
            </a:pPr>
            <a:r>
              <a:rPr lang="en-US" sz="2000" dirty="0"/>
              <a:t>    set to close on exec</a:t>
            </a:r>
          </a:p>
          <a:p>
            <a:pPr eaLnBrk="1" hangingPunct="1">
              <a:buClr>
                <a:srgbClr val="0000CC"/>
              </a:buClr>
              <a:buFont typeface="Wingdings" pitchFamily="2" charset="2"/>
              <a:buChar char="Ø"/>
            </a:pPr>
            <a:r>
              <a:rPr lang="en-US" sz="2000" dirty="0"/>
              <a:t>Signals pending on the calling process are cleared</a:t>
            </a:r>
          </a:p>
          <a:p>
            <a:pPr eaLnBrk="1" hangingPunct="1">
              <a:buClr>
                <a:srgbClr val="0000CC"/>
              </a:buClr>
              <a:buFont typeface="Wingdings" pitchFamily="2" charset="2"/>
              <a:buChar char="Ø"/>
            </a:pPr>
            <a:r>
              <a:rPr lang="en-US" sz="2000" dirty="0"/>
              <a:t>Any signals set to be caught by the calling process are reset to their default behavior</a:t>
            </a:r>
            <a:endParaRPr lang="en-US" sz="3600" dirty="0"/>
          </a:p>
        </p:txBody>
      </p:sp>
      <p:sp>
        <p:nvSpPr>
          <p:cNvPr id="8" name="Rectangle 3">
            <a:extLst>
              <a:ext uri="{FF2B5EF4-FFF2-40B4-BE49-F238E27FC236}">
                <a16:creationId xmlns:a16="http://schemas.microsoft.com/office/drawing/2014/main" id="{07C5FBA4-2861-031E-2A98-42B72802E1A1}"/>
              </a:ext>
            </a:extLst>
          </p:cNvPr>
          <p:cNvSpPr>
            <a:spLocks noGrp="1" noChangeArrowheads="1"/>
          </p:cNvSpPr>
          <p:nvPr>
            <p:ph idx="1"/>
          </p:nvPr>
        </p:nvSpPr>
        <p:spPr>
          <a:xfrm>
            <a:off x="2162728" y="2720785"/>
            <a:ext cx="6241679" cy="4110321"/>
          </a:xfrm>
          <a:ln>
            <a:solidFill>
              <a:schemeClr val="accent1"/>
            </a:solidFill>
          </a:ln>
        </p:spPr>
        <p:txBody>
          <a:bodyPr>
            <a:noAutofit/>
          </a:bodyPr>
          <a:lstStyle/>
          <a:p>
            <a:pPr eaLnBrk="1" hangingPunct="1">
              <a:lnSpc>
                <a:spcPct val="80000"/>
              </a:lnSpc>
              <a:buFontTx/>
              <a:buNone/>
            </a:pPr>
            <a:r>
              <a:rPr lang="en-US" sz="1800" dirty="0" err="1"/>
              <a:t>int</a:t>
            </a:r>
            <a:r>
              <a:rPr lang="en-US" sz="1800" dirty="0"/>
              <a:t> main(void)</a:t>
            </a:r>
          </a:p>
          <a:p>
            <a:pPr eaLnBrk="1" hangingPunct="1">
              <a:lnSpc>
                <a:spcPct val="80000"/>
              </a:lnSpc>
              <a:buFontTx/>
              <a:buNone/>
            </a:pPr>
            <a:r>
              <a:rPr lang="en-US" sz="1800" dirty="0"/>
              <a:t>{</a:t>
            </a:r>
          </a:p>
          <a:p>
            <a:pPr eaLnBrk="1" hangingPunct="1">
              <a:lnSpc>
                <a:spcPct val="80000"/>
              </a:lnSpc>
              <a:buFontTx/>
              <a:buNone/>
            </a:pPr>
            <a:r>
              <a:rPr lang="en-US" sz="1800" dirty="0"/>
              <a:t>	</a:t>
            </a:r>
            <a:r>
              <a:rPr lang="en-US" sz="1800" dirty="0" err="1"/>
              <a:t>pid_t</a:t>
            </a:r>
            <a:r>
              <a:rPr lang="en-US" sz="1800" dirty="0"/>
              <a:t> </a:t>
            </a:r>
            <a:r>
              <a:rPr lang="en-US" sz="1800" dirty="0" err="1"/>
              <a:t>pid</a:t>
            </a:r>
            <a:r>
              <a:rPr lang="en-US" sz="1800" dirty="0"/>
              <a:t>;</a:t>
            </a:r>
          </a:p>
          <a:p>
            <a:pPr eaLnBrk="1" hangingPunct="1">
              <a:lnSpc>
                <a:spcPct val="80000"/>
              </a:lnSpc>
              <a:buFontTx/>
              <a:buNone/>
            </a:pPr>
            <a:r>
              <a:rPr lang="en-US" sz="1800" dirty="0"/>
              <a:t>	</a:t>
            </a:r>
            <a:r>
              <a:rPr lang="en-US" sz="1800" dirty="0" err="1"/>
              <a:t>pid</a:t>
            </a:r>
            <a:r>
              <a:rPr lang="en-US" sz="1800" dirty="0"/>
              <a:t> = fork();</a:t>
            </a:r>
          </a:p>
          <a:p>
            <a:pPr eaLnBrk="1" hangingPunct="1">
              <a:lnSpc>
                <a:spcPct val="80000"/>
              </a:lnSpc>
              <a:buFontTx/>
              <a:buNone/>
            </a:pPr>
            <a:r>
              <a:rPr lang="en-US" sz="1800" dirty="0"/>
              <a:t>	if (</a:t>
            </a:r>
            <a:r>
              <a:rPr lang="en-US" sz="1800" dirty="0" err="1"/>
              <a:t>pid</a:t>
            </a:r>
            <a:r>
              <a:rPr lang="en-US" sz="1800" dirty="0"/>
              <a:t> == 0) {</a:t>
            </a:r>
          </a:p>
          <a:p>
            <a:pPr eaLnBrk="1" hangingPunct="1">
              <a:lnSpc>
                <a:spcPct val="80000"/>
              </a:lnSpc>
              <a:buFontTx/>
              <a:buNone/>
            </a:pPr>
            <a:r>
              <a:rPr lang="en-US" sz="1800" dirty="0"/>
              <a:t>		</a:t>
            </a:r>
            <a:r>
              <a:rPr lang="en-US" sz="1800" dirty="0" err="1"/>
              <a:t>printf</a:t>
            </a:r>
            <a:r>
              <a:rPr lang="en-US" sz="1800" dirty="0"/>
              <a:t>("Child Process\n");</a:t>
            </a:r>
          </a:p>
          <a:p>
            <a:pPr eaLnBrk="1" hangingPunct="1">
              <a:lnSpc>
                <a:spcPct val="80000"/>
              </a:lnSpc>
              <a:buFontTx/>
              <a:buNone/>
            </a:pPr>
            <a:r>
              <a:rPr lang="en-US" sz="1800" dirty="0"/>
              <a:t>		</a:t>
            </a:r>
            <a:r>
              <a:rPr lang="en-US" sz="1800" dirty="0" err="1"/>
              <a:t>exec</a:t>
            </a:r>
            <a:r>
              <a:rPr lang="en-US" sz="1800" dirty="0" err="1">
                <a:solidFill>
                  <a:srgbClr val="FF0000"/>
                </a:solidFill>
              </a:rPr>
              <a:t>l</a:t>
            </a:r>
            <a:r>
              <a:rPr lang="en-US" sz="1800" dirty="0"/>
              <a:t>("/bin/</a:t>
            </a:r>
            <a:r>
              <a:rPr lang="en-US" sz="1800" dirty="0" err="1"/>
              <a:t>ls","ls</a:t>
            </a:r>
            <a:r>
              <a:rPr lang="en-US" sz="1800" dirty="0"/>
              <a:t>","-l",(char *)0);	</a:t>
            </a:r>
          </a:p>
          <a:p>
            <a:pPr eaLnBrk="1" hangingPunct="1">
              <a:lnSpc>
                <a:spcPct val="80000"/>
              </a:lnSpc>
              <a:buFontTx/>
              <a:buNone/>
            </a:pPr>
            <a:r>
              <a:rPr lang="en-US" sz="1800" dirty="0"/>
              <a:t>		</a:t>
            </a:r>
            <a:r>
              <a:rPr lang="en-US" sz="1800" dirty="0" err="1"/>
              <a:t>printf</a:t>
            </a:r>
            <a:r>
              <a:rPr lang="en-US" sz="1800" dirty="0"/>
              <a:t> (“This won’t Print”);</a:t>
            </a:r>
          </a:p>
          <a:p>
            <a:pPr eaLnBrk="1" hangingPunct="1">
              <a:lnSpc>
                <a:spcPct val="80000"/>
              </a:lnSpc>
              <a:buFontTx/>
              <a:buNone/>
            </a:pPr>
            <a:r>
              <a:rPr lang="en-US" sz="1800" dirty="0"/>
              <a:t>    }</a:t>
            </a:r>
          </a:p>
          <a:p>
            <a:pPr eaLnBrk="1" hangingPunct="1">
              <a:lnSpc>
                <a:spcPct val="80000"/>
              </a:lnSpc>
              <a:buFontTx/>
              <a:buNone/>
            </a:pPr>
            <a:r>
              <a:rPr lang="en-US" sz="1800" dirty="0"/>
              <a:t>	else</a:t>
            </a:r>
          </a:p>
          <a:p>
            <a:pPr eaLnBrk="1" hangingPunct="1">
              <a:lnSpc>
                <a:spcPct val="80000"/>
              </a:lnSpc>
              <a:buFontTx/>
              <a:buNone/>
            </a:pPr>
            <a:r>
              <a:rPr lang="en-US" sz="1800" dirty="0"/>
              <a:t>		</a:t>
            </a:r>
            <a:r>
              <a:rPr lang="en-US" sz="1800" dirty="0" err="1"/>
              <a:t>printf</a:t>
            </a:r>
            <a:r>
              <a:rPr lang="en-US" sz="1800" dirty="0"/>
              <a:t>("Parent Process\n");</a:t>
            </a:r>
          </a:p>
          <a:p>
            <a:pPr eaLnBrk="1" hangingPunct="1">
              <a:lnSpc>
                <a:spcPct val="80000"/>
              </a:lnSpc>
              <a:buFontTx/>
              <a:buNone/>
            </a:pPr>
            <a:r>
              <a:rPr lang="en-US" sz="1800" dirty="0"/>
              <a:t>}</a:t>
            </a:r>
          </a:p>
        </p:txBody>
      </p:sp>
    </p:spTree>
    <p:extLst>
      <p:ext uri="{BB962C8B-B14F-4D97-AF65-F5344CB8AC3E}">
        <p14:creationId xmlns:p14="http://schemas.microsoft.com/office/powerpoint/2010/main" val="2048548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DD87B3-7B67-ECE1-6B86-18BE6341D46E}"/>
              </a:ext>
            </a:extLst>
          </p:cNvPr>
          <p:cNvSpPr txBox="1"/>
          <p:nvPr/>
        </p:nvSpPr>
        <p:spPr>
          <a:xfrm>
            <a:off x="1048872" y="528643"/>
            <a:ext cx="10693768" cy="5140766"/>
          </a:xfrm>
          <a:prstGeom prst="rect">
            <a:avLst/>
          </a:prstGeom>
          <a:noFill/>
        </p:spPr>
        <p:txBody>
          <a:bodyPr wrap="square">
            <a:spAutoFit/>
          </a:bodyPr>
          <a:lstStyle/>
          <a:p>
            <a:pPr eaLnBrk="1" hangingPunct="1">
              <a:lnSpc>
                <a:spcPct val="80000"/>
              </a:lnSpc>
              <a:buClr>
                <a:srgbClr val="0000CC"/>
              </a:buClr>
            </a:pPr>
            <a:r>
              <a:rPr lang="en-US" sz="4800" b="1" dirty="0"/>
              <a:t>exec flavors</a:t>
            </a:r>
          </a:p>
          <a:p>
            <a:pPr eaLnBrk="1" hangingPunct="1">
              <a:lnSpc>
                <a:spcPct val="150000"/>
              </a:lnSpc>
              <a:buClr>
                <a:srgbClr val="0000CC"/>
              </a:buClr>
              <a:buFont typeface="Wingdings" pitchFamily="2" charset="2"/>
              <a:buChar char="Ø"/>
            </a:pPr>
            <a:r>
              <a:rPr lang="en-US" sz="2800" dirty="0"/>
              <a:t>int </a:t>
            </a:r>
            <a:r>
              <a:rPr lang="en-US" sz="2800" dirty="0" err="1"/>
              <a:t>exec</a:t>
            </a:r>
            <a:r>
              <a:rPr lang="en-US" sz="2800" dirty="0" err="1">
                <a:solidFill>
                  <a:srgbClr val="FF0000"/>
                </a:solidFill>
              </a:rPr>
              <a:t>l</a:t>
            </a:r>
            <a:r>
              <a:rPr lang="en-US" sz="2800" dirty="0"/>
              <a:t>(char * pathname, char*arg0, …, (char *)0)</a:t>
            </a:r>
          </a:p>
          <a:p>
            <a:pPr eaLnBrk="1" hangingPunct="1">
              <a:lnSpc>
                <a:spcPct val="150000"/>
              </a:lnSpc>
              <a:buClr>
                <a:srgbClr val="0000CC"/>
              </a:buClr>
              <a:buFont typeface="Wingdings" pitchFamily="2" charset="2"/>
              <a:buChar char="Ø"/>
            </a:pPr>
            <a:r>
              <a:rPr lang="en-US" sz="2800" dirty="0"/>
              <a:t>int </a:t>
            </a:r>
            <a:r>
              <a:rPr lang="en-US" sz="2800" dirty="0" err="1"/>
              <a:t>execl</a:t>
            </a:r>
            <a:r>
              <a:rPr lang="en-US" sz="2800" dirty="0" err="1">
                <a:solidFill>
                  <a:srgbClr val="FF0000"/>
                </a:solidFill>
              </a:rPr>
              <a:t>e</a:t>
            </a:r>
            <a:r>
              <a:rPr lang="en-US" sz="2800" dirty="0"/>
              <a:t>(char * pathname, char*arg0, …,(char *)0)</a:t>
            </a:r>
          </a:p>
          <a:p>
            <a:pPr eaLnBrk="1" hangingPunct="1">
              <a:lnSpc>
                <a:spcPct val="150000"/>
              </a:lnSpc>
              <a:buClr>
                <a:srgbClr val="0000CC"/>
              </a:buClr>
              <a:buFont typeface="Wingdings" pitchFamily="2" charset="2"/>
              <a:buChar char="Ø"/>
            </a:pPr>
            <a:r>
              <a:rPr lang="en-US" sz="2800" dirty="0"/>
              <a:t>int </a:t>
            </a:r>
            <a:r>
              <a:rPr lang="en-US" sz="2800" dirty="0" err="1"/>
              <a:t>exec</a:t>
            </a:r>
            <a:r>
              <a:rPr lang="en-US" sz="2800" dirty="0" err="1">
                <a:solidFill>
                  <a:srgbClr val="FF0000"/>
                </a:solidFill>
              </a:rPr>
              <a:t>v</a:t>
            </a:r>
            <a:r>
              <a:rPr lang="en-US" sz="2800" dirty="0"/>
              <a:t>(char * pathname, char*</a:t>
            </a:r>
            <a:r>
              <a:rPr lang="en-US" sz="2800" dirty="0" err="1"/>
              <a:t>argv</a:t>
            </a:r>
            <a:r>
              <a:rPr lang="en-US" sz="2800" dirty="0"/>
              <a:t>[])</a:t>
            </a:r>
          </a:p>
          <a:p>
            <a:pPr eaLnBrk="1" hangingPunct="1">
              <a:lnSpc>
                <a:spcPct val="150000"/>
              </a:lnSpc>
              <a:buClr>
                <a:srgbClr val="0000CC"/>
              </a:buClr>
              <a:buFont typeface="Wingdings" pitchFamily="2" charset="2"/>
              <a:buChar char="Ø"/>
            </a:pPr>
            <a:r>
              <a:rPr lang="en-US" sz="2800" dirty="0"/>
              <a:t>int </a:t>
            </a:r>
            <a:r>
              <a:rPr lang="en-US" sz="2800" dirty="0" err="1"/>
              <a:t>execv</a:t>
            </a:r>
            <a:r>
              <a:rPr lang="en-US" sz="2800" dirty="0" err="1">
                <a:solidFill>
                  <a:srgbClr val="FF0000"/>
                </a:solidFill>
              </a:rPr>
              <a:t>e</a:t>
            </a:r>
            <a:r>
              <a:rPr lang="en-US" sz="2800" dirty="0"/>
              <a:t>(char * pathname, char*</a:t>
            </a:r>
            <a:r>
              <a:rPr lang="en-US" sz="2800" dirty="0" err="1"/>
              <a:t>argv</a:t>
            </a:r>
            <a:r>
              <a:rPr lang="en-US" sz="2800" dirty="0"/>
              <a:t>[], char *</a:t>
            </a:r>
            <a:r>
              <a:rPr lang="en-US" sz="2800" dirty="0" err="1"/>
              <a:t>envp</a:t>
            </a:r>
            <a:r>
              <a:rPr lang="en-US" sz="2800" dirty="0"/>
              <a:t>[])</a:t>
            </a:r>
          </a:p>
          <a:p>
            <a:pPr eaLnBrk="1" hangingPunct="1">
              <a:lnSpc>
                <a:spcPct val="150000"/>
              </a:lnSpc>
              <a:buClr>
                <a:srgbClr val="0000CC"/>
              </a:buClr>
              <a:buFont typeface="Wingdings" pitchFamily="2" charset="2"/>
              <a:buChar char="Ø"/>
            </a:pPr>
            <a:r>
              <a:rPr lang="en-US" sz="2800" dirty="0"/>
              <a:t>int </a:t>
            </a:r>
            <a:r>
              <a:rPr lang="en-US" sz="2800" dirty="0" err="1"/>
              <a:t>execl</a:t>
            </a:r>
            <a:r>
              <a:rPr lang="en-US" sz="2800" dirty="0" err="1">
                <a:solidFill>
                  <a:srgbClr val="FF0000"/>
                </a:solidFill>
              </a:rPr>
              <a:t>p</a:t>
            </a:r>
            <a:r>
              <a:rPr lang="en-US" sz="2800" dirty="0"/>
              <a:t>(char *filename, char*arg0, …,(char *)0)</a:t>
            </a:r>
          </a:p>
          <a:p>
            <a:pPr eaLnBrk="1" hangingPunct="1">
              <a:lnSpc>
                <a:spcPct val="150000"/>
              </a:lnSpc>
              <a:buClr>
                <a:srgbClr val="0000CC"/>
              </a:buClr>
              <a:buFont typeface="Wingdings" pitchFamily="2" charset="2"/>
              <a:buChar char="Ø"/>
            </a:pPr>
            <a:r>
              <a:rPr lang="en-US" sz="2800" dirty="0"/>
              <a:t>int </a:t>
            </a:r>
            <a:r>
              <a:rPr lang="en-US" sz="2800" dirty="0" err="1"/>
              <a:t>execv</a:t>
            </a:r>
            <a:r>
              <a:rPr lang="en-US" sz="2800" dirty="0" err="1">
                <a:solidFill>
                  <a:srgbClr val="FF0000"/>
                </a:solidFill>
              </a:rPr>
              <a:t>p</a:t>
            </a:r>
            <a:r>
              <a:rPr lang="en-US" sz="2800" dirty="0"/>
              <a:t>(char *filename, char*</a:t>
            </a:r>
            <a:r>
              <a:rPr lang="en-US" sz="2800" dirty="0" err="1"/>
              <a:t>argv</a:t>
            </a:r>
            <a:r>
              <a:rPr lang="en-US" sz="2800" dirty="0"/>
              <a:t>[])</a:t>
            </a:r>
          </a:p>
          <a:p>
            <a:pPr eaLnBrk="1" hangingPunct="1">
              <a:lnSpc>
                <a:spcPct val="150000"/>
              </a:lnSpc>
              <a:buClr>
                <a:srgbClr val="0000CC"/>
              </a:buClr>
              <a:buFont typeface="Wingdings" pitchFamily="2" charset="2"/>
              <a:buNone/>
            </a:pPr>
            <a:r>
              <a:rPr lang="en-US" sz="2800" u="sng" dirty="0"/>
              <a:t>Note:</a:t>
            </a:r>
            <a:r>
              <a:rPr lang="en-US" sz="2800" dirty="0"/>
              <a:t> l – List &amp; v - Vector</a:t>
            </a:r>
          </a:p>
        </p:txBody>
      </p:sp>
    </p:spTree>
    <p:extLst>
      <p:ext uri="{BB962C8B-B14F-4D97-AF65-F5344CB8AC3E}">
        <p14:creationId xmlns:p14="http://schemas.microsoft.com/office/powerpoint/2010/main" val="574679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6DA6013-18E6-CCAA-A3CC-88D4294CBD31}"/>
              </a:ext>
            </a:extLst>
          </p:cNvPr>
          <p:cNvSpPr/>
          <p:nvPr/>
        </p:nvSpPr>
        <p:spPr>
          <a:xfrm>
            <a:off x="1116106" y="497541"/>
            <a:ext cx="9816353"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a:t>Process Termination  </a:t>
            </a:r>
            <a:endParaRPr lang="en-US" sz="4000" b="1" dirty="0"/>
          </a:p>
        </p:txBody>
      </p:sp>
      <p:sp>
        <p:nvSpPr>
          <p:cNvPr id="6" name="TextBox 5">
            <a:extLst>
              <a:ext uri="{FF2B5EF4-FFF2-40B4-BE49-F238E27FC236}">
                <a16:creationId xmlns:a16="http://schemas.microsoft.com/office/drawing/2014/main" id="{0B73DB9A-3076-35BF-46FE-A0F08F16BE2C}"/>
              </a:ext>
            </a:extLst>
          </p:cNvPr>
          <p:cNvSpPr txBox="1"/>
          <p:nvPr/>
        </p:nvSpPr>
        <p:spPr>
          <a:xfrm>
            <a:off x="2275354" y="1156446"/>
            <a:ext cx="7641291" cy="4339650"/>
          </a:xfrm>
          <a:prstGeom prst="rect">
            <a:avLst/>
          </a:prstGeom>
          <a:noFill/>
        </p:spPr>
        <p:txBody>
          <a:bodyPr wrap="square">
            <a:spAutoFit/>
          </a:bodyPr>
          <a:lstStyle/>
          <a:p>
            <a:pPr eaLnBrk="1" hangingPunct="1">
              <a:buClr>
                <a:srgbClr val="0000CC"/>
              </a:buClr>
              <a:buFont typeface="Wingdings" pitchFamily="2" charset="2"/>
              <a:buChar char="Ø"/>
            </a:pPr>
            <a:r>
              <a:rPr lang="en-US" sz="2800" dirty="0"/>
              <a:t>There are 3 ways for normal termination </a:t>
            </a:r>
          </a:p>
          <a:p>
            <a:pPr lvl="1" eaLnBrk="1" hangingPunct="1">
              <a:buClr>
                <a:srgbClr val="0000CC"/>
              </a:buClr>
              <a:buFont typeface="Wingdings" pitchFamily="2" charset="2"/>
              <a:buChar char="§"/>
            </a:pPr>
            <a:r>
              <a:rPr lang="en-US" sz="2400" dirty="0"/>
              <a:t>Executing a return from main</a:t>
            </a:r>
          </a:p>
          <a:p>
            <a:pPr lvl="1" eaLnBrk="1" hangingPunct="1">
              <a:buClr>
                <a:srgbClr val="0000CC"/>
              </a:buClr>
              <a:buFont typeface="Wingdings" pitchFamily="2" charset="2"/>
              <a:buChar char="§"/>
            </a:pPr>
            <a:r>
              <a:rPr lang="en-US" sz="2400" dirty="0"/>
              <a:t>Calling an exit function ( Library Call )</a:t>
            </a:r>
          </a:p>
          <a:p>
            <a:pPr lvl="1" eaLnBrk="1" hangingPunct="1">
              <a:buClr>
                <a:srgbClr val="0000CC"/>
              </a:buClr>
              <a:buFont typeface="Wingdings" pitchFamily="2" charset="2"/>
              <a:buChar char="§"/>
            </a:pPr>
            <a:r>
              <a:rPr lang="en-US" sz="2400" dirty="0"/>
              <a:t>Calling _exit function ( System Call )</a:t>
            </a:r>
          </a:p>
          <a:p>
            <a:pPr lvl="1" eaLnBrk="1" hangingPunct="1">
              <a:buClr>
                <a:srgbClr val="0000CC"/>
              </a:buClr>
              <a:buFont typeface="Wingdings" pitchFamily="2" charset="2"/>
              <a:buNone/>
            </a:pPr>
            <a:endParaRPr lang="en-US" sz="2400" dirty="0"/>
          </a:p>
          <a:p>
            <a:pPr eaLnBrk="1" hangingPunct="1">
              <a:buClr>
                <a:srgbClr val="0000CC"/>
              </a:buClr>
              <a:buFont typeface="Wingdings" pitchFamily="2" charset="2"/>
              <a:buChar char="Ø"/>
            </a:pPr>
            <a:r>
              <a:rPr lang="en-US" sz="2800" dirty="0"/>
              <a:t>There are 4 ways for an abnormal termination </a:t>
            </a:r>
          </a:p>
          <a:p>
            <a:pPr lvl="1" eaLnBrk="1" hangingPunct="1">
              <a:buClr>
                <a:srgbClr val="0000CC"/>
              </a:buClr>
              <a:buFont typeface="Wingdings" pitchFamily="2" charset="2"/>
              <a:buChar char="§"/>
            </a:pPr>
            <a:r>
              <a:rPr lang="en-US" sz="2400" dirty="0"/>
              <a:t>Suicide		:	Exit in the middle</a:t>
            </a:r>
          </a:p>
          <a:p>
            <a:pPr lvl="1" eaLnBrk="1" hangingPunct="1">
              <a:buClr>
                <a:srgbClr val="0000CC"/>
              </a:buClr>
              <a:buFont typeface="Wingdings" pitchFamily="2" charset="2"/>
              <a:buChar char="§"/>
            </a:pPr>
            <a:r>
              <a:rPr lang="en-US" sz="2400" dirty="0"/>
              <a:t>Accident		:	Segmentation Violation</a:t>
            </a:r>
          </a:p>
          <a:p>
            <a:pPr lvl="1" eaLnBrk="1" hangingPunct="1">
              <a:buClr>
                <a:srgbClr val="0000CC"/>
              </a:buClr>
              <a:buFont typeface="Wingdings" pitchFamily="2" charset="2"/>
              <a:buChar char="§"/>
            </a:pPr>
            <a:r>
              <a:rPr lang="en-US" sz="2400" dirty="0"/>
              <a:t>Murder		:	SIGKILL by Parent Process</a:t>
            </a:r>
          </a:p>
          <a:p>
            <a:pPr lvl="1" eaLnBrk="1" hangingPunct="1">
              <a:buClr>
                <a:srgbClr val="0000CC"/>
              </a:buClr>
              <a:buFont typeface="Wingdings" pitchFamily="2" charset="2"/>
              <a:buChar char="§"/>
            </a:pPr>
            <a:r>
              <a:rPr lang="en-US" sz="2400" dirty="0"/>
              <a:t>Massacre		:	During Shutdown</a:t>
            </a:r>
          </a:p>
          <a:p>
            <a:pPr eaLnBrk="1" hangingPunct="1">
              <a:buClr>
                <a:srgbClr val="0000CC"/>
              </a:buClr>
              <a:buFont typeface="Wingdings" pitchFamily="2" charset="2"/>
              <a:buChar char="Ø"/>
            </a:pPr>
            <a:endParaRPr lang="en-US" sz="2800" dirty="0"/>
          </a:p>
        </p:txBody>
      </p:sp>
    </p:spTree>
    <p:extLst>
      <p:ext uri="{BB962C8B-B14F-4D97-AF65-F5344CB8AC3E}">
        <p14:creationId xmlns:p14="http://schemas.microsoft.com/office/powerpoint/2010/main" val="402859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8E3D3FA-DD61-3044-584B-9752F2A5A0B0}"/>
              </a:ext>
            </a:extLst>
          </p:cNvPr>
          <p:cNvSpPr/>
          <p:nvPr/>
        </p:nvSpPr>
        <p:spPr>
          <a:xfrm>
            <a:off x="1129553" y="430307"/>
            <a:ext cx="9695330" cy="443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Wait &amp; Waitpid</a:t>
            </a:r>
            <a:endParaRPr lang="en-US" sz="3200"/>
          </a:p>
        </p:txBody>
      </p:sp>
      <p:sp>
        <p:nvSpPr>
          <p:cNvPr id="6" name="TextBox 5">
            <a:extLst>
              <a:ext uri="{FF2B5EF4-FFF2-40B4-BE49-F238E27FC236}">
                <a16:creationId xmlns:a16="http://schemas.microsoft.com/office/drawing/2014/main" id="{F72F7B48-86E4-1ED1-CE9E-11B792DAA795}"/>
              </a:ext>
            </a:extLst>
          </p:cNvPr>
          <p:cNvSpPr txBox="1"/>
          <p:nvPr/>
        </p:nvSpPr>
        <p:spPr>
          <a:xfrm>
            <a:off x="1129553" y="918050"/>
            <a:ext cx="9802906" cy="4431983"/>
          </a:xfrm>
          <a:prstGeom prst="rect">
            <a:avLst/>
          </a:prstGeom>
          <a:noFill/>
        </p:spPr>
        <p:txBody>
          <a:bodyPr wrap="square">
            <a:spAutoFit/>
          </a:bodyPr>
          <a:lstStyle/>
          <a:p>
            <a:pPr marL="342900" indent="-342900">
              <a:spcBef>
                <a:spcPct val="50000"/>
              </a:spcBef>
              <a:buClr>
                <a:srgbClr val="0000CC"/>
              </a:buClr>
              <a:buFont typeface="Wingdings" panose="05000000000000000000" pitchFamily="2" charset="2"/>
              <a:buChar char="Ø"/>
            </a:pPr>
            <a:r>
              <a:rPr lang="en-US" sz="2000" dirty="0">
                <a:solidFill>
                  <a:srgbClr val="FF0000"/>
                </a:solidFill>
              </a:rPr>
              <a:t>wait</a:t>
            </a:r>
            <a:r>
              <a:rPr lang="en-US" sz="2000" dirty="0"/>
              <a:t> function </a:t>
            </a:r>
            <a:r>
              <a:rPr lang="en-US" sz="2000" dirty="0">
                <a:solidFill>
                  <a:srgbClr val="FF0000"/>
                </a:solidFill>
              </a:rPr>
              <a:t>suspends execution of the current process</a:t>
            </a:r>
            <a:r>
              <a:rPr lang="en-US" sz="2000" dirty="0"/>
              <a:t> until a child has exited or until a signal is delivered whose action is to terminate the current process or call a signal handling function</a:t>
            </a:r>
          </a:p>
          <a:p>
            <a:pPr marL="342900" indent="-342900">
              <a:spcBef>
                <a:spcPct val="50000"/>
              </a:spcBef>
              <a:buClr>
                <a:srgbClr val="0000CC"/>
              </a:buClr>
              <a:buFont typeface="Wingdings" panose="05000000000000000000" pitchFamily="2" charset="2"/>
              <a:buChar char="Ø"/>
            </a:pPr>
            <a:r>
              <a:rPr lang="en-US" sz="2000" dirty="0" err="1">
                <a:solidFill>
                  <a:srgbClr val="FF0000"/>
                </a:solidFill>
              </a:rPr>
              <a:t>waitpid</a:t>
            </a:r>
            <a:r>
              <a:rPr lang="en-US" sz="2000" dirty="0">
                <a:solidFill>
                  <a:srgbClr val="FF0000"/>
                </a:solidFill>
              </a:rPr>
              <a:t> </a:t>
            </a:r>
            <a:r>
              <a:rPr lang="en-US" sz="2000" dirty="0"/>
              <a:t>functions </a:t>
            </a:r>
            <a:r>
              <a:rPr lang="en-US" sz="2000" dirty="0">
                <a:solidFill>
                  <a:srgbClr val="FF0000"/>
                </a:solidFill>
              </a:rPr>
              <a:t>suspends execution of the current process until a child as specified by the </a:t>
            </a:r>
            <a:r>
              <a:rPr lang="en-US" sz="2000" dirty="0" err="1">
                <a:solidFill>
                  <a:srgbClr val="FF0000"/>
                </a:solidFill>
              </a:rPr>
              <a:t>pid</a:t>
            </a:r>
            <a:r>
              <a:rPr lang="en-US" sz="2000" dirty="0"/>
              <a:t> argument has exited or until a signal is delivered whose action is to terminate the current process or to call a signal handling function.</a:t>
            </a:r>
          </a:p>
          <a:p>
            <a:pPr marL="342900" indent="-342900">
              <a:spcBef>
                <a:spcPct val="50000"/>
              </a:spcBef>
              <a:buClr>
                <a:srgbClr val="0000CC"/>
              </a:buClr>
              <a:buFont typeface="Wingdings" panose="05000000000000000000" pitchFamily="2" charset="2"/>
              <a:buChar char="Ø"/>
            </a:pPr>
            <a:r>
              <a:rPr lang="en-US" sz="2000" dirty="0"/>
              <a:t>If the child has already exiting by the time of the call ( Zombie Process) the functions returns immediately.  Any system resources used by the child are freed</a:t>
            </a:r>
          </a:p>
          <a:p>
            <a:pPr>
              <a:spcBef>
                <a:spcPct val="50000"/>
              </a:spcBef>
              <a:buClr>
                <a:srgbClr val="0000CC"/>
              </a:buClr>
            </a:pPr>
            <a:r>
              <a:rPr lang="en-US" sz="2800" b="1" dirty="0"/>
              <a:t>Syntax:</a:t>
            </a:r>
          </a:p>
          <a:p>
            <a:pPr>
              <a:spcBef>
                <a:spcPct val="50000"/>
              </a:spcBef>
              <a:buClr>
                <a:srgbClr val="0000CC"/>
              </a:buClr>
              <a:buFont typeface="Wingdings" pitchFamily="2" charset="2"/>
              <a:buNone/>
            </a:pPr>
            <a:r>
              <a:rPr lang="en-US" sz="2000" dirty="0" err="1"/>
              <a:t>pid_t</a:t>
            </a:r>
            <a:r>
              <a:rPr lang="en-US" sz="2000" dirty="0"/>
              <a:t> wait ( int *status)</a:t>
            </a:r>
          </a:p>
          <a:p>
            <a:pPr>
              <a:spcBef>
                <a:spcPct val="50000"/>
              </a:spcBef>
              <a:buClr>
                <a:srgbClr val="0000CC"/>
              </a:buClr>
            </a:pPr>
            <a:r>
              <a:rPr lang="en-US" sz="2000" dirty="0" err="1"/>
              <a:t>pid_t</a:t>
            </a:r>
            <a:r>
              <a:rPr lang="en-US" sz="2000" dirty="0"/>
              <a:t> </a:t>
            </a:r>
            <a:r>
              <a:rPr lang="en-US" sz="2000" dirty="0" err="1"/>
              <a:t>waitpid</a:t>
            </a:r>
            <a:r>
              <a:rPr lang="en-US" sz="2000" dirty="0"/>
              <a:t> ( int </a:t>
            </a:r>
            <a:r>
              <a:rPr lang="en-US" sz="2000" dirty="0" err="1"/>
              <a:t>pid</a:t>
            </a:r>
            <a:r>
              <a:rPr lang="en-US" sz="2000" dirty="0"/>
              <a:t>, int *status, int options) </a:t>
            </a:r>
          </a:p>
        </p:txBody>
      </p:sp>
    </p:spTree>
    <p:extLst>
      <p:ext uri="{BB962C8B-B14F-4D97-AF65-F5344CB8AC3E}">
        <p14:creationId xmlns:p14="http://schemas.microsoft.com/office/powerpoint/2010/main" val="1971497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746E64-2143-84FC-19AE-8018221480CE}"/>
              </a:ext>
            </a:extLst>
          </p:cNvPr>
          <p:cNvSpPr txBox="1"/>
          <p:nvPr/>
        </p:nvSpPr>
        <p:spPr>
          <a:xfrm>
            <a:off x="941294" y="439392"/>
            <a:ext cx="9910482" cy="6241709"/>
          </a:xfrm>
          <a:prstGeom prst="rect">
            <a:avLst/>
          </a:prstGeom>
          <a:noFill/>
        </p:spPr>
        <p:txBody>
          <a:bodyPr wrap="square">
            <a:spAutoFit/>
          </a:bodyPr>
          <a:lstStyle/>
          <a:p>
            <a:pPr eaLnBrk="1" hangingPunct="1">
              <a:lnSpc>
                <a:spcPct val="90000"/>
              </a:lnSpc>
              <a:buFontTx/>
              <a:buNone/>
            </a:pPr>
            <a:r>
              <a:rPr lang="en-US" sz="3600" b="1" dirty="0"/>
              <a:t>Sample Code using wait system call:</a:t>
            </a:r>
          </a:p>
          <a:p>
            <a:pPr eaLnBrk="1" hangingPunct="1">
              <a:lnSpc>
                <a:spcPct val="90000"/>
              </a:lnSpc>
              <a:buFontTx/>
              <a:buNone/>
            </a:pPr>
            <a:endParaRPr lang="en-US" sz="1200" b="1" dirty="0"/>
          </a:p>
          <a:p>
            <a:pPr eaLnBrk="1" hangingPunct="1">
              <a:lnSpc>
                <a:spcPct val="90000"/>
              </a:lnSpc>
              <a:buFontTx/>
              <a:buNone/>
            </a:pPr>
            <a:r>
              <a:rPr lang="en-US" sz="1800" dirty="0"/>
              <a:t>int main(void)</a:t>
            </a:r>
          </a:p>
          <a:p>
            <a:pPr eaLnBrk="1" hangingPunct="1">
              <a:lnSpc>
                <a:spcPct val="90000"/>
              </a:lnSpc>
              <a:buFontTx/>
              <a:buNone/>
            </a:pPr>
            <a:r>
              <a:rPr lang="en-US" sz="1800" dirty="0"/>
              <a:t>{</a:t>
            </a:r>
          </a:p>
          <a:p>
            <a:pPr eaLnBrk="1" hangingPunct="1">
              <a:lnSpc>
                <a:spcPct val="90000"/>
              </a:lnSpc>
              <a:buFontTx/>
              <a:buNone/>
            </a:pPr>
            <a:r>
              <a:rPr lang="en-US" sz="1800" dirty="0"/>
              <a:t>	</a:t>
            </a:r>
            <a:r>
              <a:rPr lang="en-US" sz="1800" dirty="0" err="1"/>
              <a:t>pid_t</a:t>
            </a:r>
            <a:r>
              <a:rPr lang="en-US" sz="1800" dirty="0"/>
              <a:t> </a:t>
            </a:r>
            <a:r>
              <a:rPr lang="en-US" sz="1800" dirty="0" err="1"/>
              <a:t>pid</a:t>
            </a:r>
            <a:r>
              <a:rPr lang="en-US" sz="1800" dirty="0"/>
              <a:t>;</a:t>
            </a:r>
          </a:p>
          <a:p>
            <a:pPr eaLnBrk="1" hangingPunct="1">
              <a:lnSpc>
                <a:spcPct val="90000"/>
              </a:lnSpc>
              <a:buFontTx/>
              <a:buNone/>
            </a:pPr>
            <a:r>
              <a:rPr lang="en-US" sz="1800" dirty="0"/>
              <a:t>	</a:t>
            </a:r>
            <a:r>
              <a:rPr lang="en-US" sz="1800" dirty="0" err="1"/>
              <a:t>pid</a:t>
            </a:r>
            <a:r>
              <a:rPr lang="en-US" sz="1800" dirty="0"/>
              <a:t> = fork();</a:t>
            </a:r>
          </a:p>
          <a:p>
            <a:pPr eaLnBrk="1" hangingPunct="1">
              <a:lnSpc>
                <a:spcPct val="90000"/>
              </a:lnSpc>
              <a:buFontTx/>
              <a:buNone/>
            </a:pPr>
            <a:r>
              <a:rPr lang="en-US" sz="1800" dirty="0"/>
              <a:t>	if (</a:t>
            </a:r>
            <a:r>
              <a:rPr lang="en-US" sz="1800" dirty="0" err="1"/>
              <a:t>pid</a:t>
            </a:r>
            <a:r>
              <a:rPr lang="en-US" sz="1800" dirty="0"/>
              <a:t> == 0)</a:t>
            </a:r>
          </a:p>
          <a:p>
            <a:pPr eaLnBrk="1" hangingPunct="1">
              <a:lnSpc>
                <a:spcPct val="90000"/>
              </a:lnSpc>
              <a:buFontTx/>
              <a:buNone/>
            </a:pPr>
            <a:r>
              <a:rPr lang="en-US" sz="1800" dirty="0"/>
              <a:t>	{</a:t>
            </a:r>
          </a:p>
          <a:p>
            <a:pPr>
              <a:buNone/>
            </a:pPr>
            <a:r>
              <a:rPr lang="en-US" sz="1800" dirty="0"/>
              <a:t>		</a:t>
            </a:r>
            <a:r>
              <a:rPr lang="en-US" sz="1800" dirty="0" err="1"/>
              <a:t>printf</a:t>
            </a:r>
            <a:r>
              <a:rPr lang="en-US" sz="1800" dirty="0"/>
              <a:t>("I am a child process\n");</a:t>
            </a:r>
          </a:p>
          <a:p>
            <a:pPr>
              <a:buNone/>
            </a:pPr>
            <a:r>
              <a:rPr lang="en-US" sz="1800" dirty="0"/>
              <a:t>		</a:t>
            </a:r>
            <a:r>
              <a:rPr lang="en-US" sz="1800" dirty="0" err="1"/>
              <a:t>printf</a:t>
            </a:r>
            <a:r>
              <a:rPr lang="en-US" sz="1800" dirty="0"/>
              <a:t>("child process ID : %d \n", </a:t>
            </a:r>
            <a:r>
              <a:rPr lang="en-US" sz="1800" dirty="0" err="1"/>
              <a:t>getpid</a:t>
            </a:r>
            <a:r>
              <a:rPr lang="en-US" sz="1800" dirty="0"/>
              <a:t>());</a:t>
            </a:r>
          </a:p>
          <a:p>
            <a:pPr>
              <a:buNone/>
            </a:pPr>
            <a:r>
              <a:rPr lang="en-US" sz="1800" dirty="0"/>
              <a:t>		</a:t>
            </a:r>
            <a:r>
              <a:rPr lang="en-US" sz="1800" dirty="0" err="1"/>
              <a:t>printf</a:t>
            </a:r>
            <a:r>
              <a:rPr lang="en-US" sz="1800" dirty="0"/>
              <a:t>("Child's Parent process ID : %d \n",</a:t>
            </a:r>
            <a:r>
              <a:rPr lang="en-US" sz="1800" dirty="0" err="1"/>
              <a:t>getppid</a:t>
            </a:r>
            <a:r>
              <a:rPr lang="en-US" sz="1800" dirty="0"/>
              <a:t>());</a:t>
            </a:r>
          </a:p>
          <a:p>
            <a:pPr>
              <a:buNone/>
            </a:pPr>
            <a:r>
              <a:rPr lang="en-US" sz="1800" dirty="0"/>
              <a:t>		exit(0);</a:t>
            </a:r>
          </a:p>
          <a:p>
            <a:pPr>
              <a:buNone/>
            </a:pPr>
            <a:r>
              <a:rPr lang="en-US" sz="1800" dirty="0"/>
              <a:t>	}</a:t>
            </a:r>
          </a:p>
          <a:p>
            <a:pPr eaLnBrk="1" hangingPunct="1">
              <a:lnSpc>
                <a:spcPct val="90000"/>
              </a:lnSpc>
              <a:buFontTx/>
              <a:buNone/>
            </a:pPr>
            <a:r>
              <a:rPr lang="en-US" sz="1800" dirty="0"/>
              <a:t>	else</a:t>
            </a:r>
          </a:p>
          <a:p>
            <a:pPr eaLnBrk="1" hangingPunct="1">
              <a:lnSpc>
                <a:spcPct val="90000"/>
              </a:lnSpc>
              <a:buFontTx/>
              <a:buNone/>
            </a:pPr>
            <a:r>
              <a:rPr lang="en-US" sz="1800" dirty="0"/>
              <a:t>	{</a:t>
            </a:r>
          </a:p>
          <a:p>
            <a:pPr>
              <a:lnSpc>
                <a:spcPct val="80000"/>
              </a:lnSpc>
              <a:buNone/>
            </a:pPr>
            <a:r>
              <a:rPr lang="en-US" sz="1800" dirty="0"/>
              <a:t>		 </a:t>
            </a:r>
            <a:r>
              <a:rPr lang="en-US" sz="1800" dirty="0" err="1"/>
              <a:t>printf</a:t>
            </a:r>
            <a:r>
              <a:rPr lang="en-US" sz="1800" dirty="0"/>
              <a:t>("Parent Process\n");</a:t>
            </a:r>
          </a:p>
          <a:p>
            <a:pPr>
              <a:lnSpc>
                <a:spcPct val="80000"/>
              </a:lnSpc>
              <a:buNone/>
            </a:pPr>
            <a:r>
              <a:rPr lang="en-US" sz="1800" dirty="0"/>
              <a:t>		</a:t>
            </a:r>
            <a:r>
              <a:rPr lang="en-US" sz="1800" b="1" dirty="0" err="1"/>
              <a:t>cpid</a:t>
            </a:r>
            <a:r>
              <a:rPr lang="en-US" sz="1800" b="1" dirty="0"/>
              <a:t> = wait(&amp;status);</a:t>
            </a:r>
          </a:p>
          <a:p>
            <a:pPr>
              <a:lnSpc>
                <a:spcPct val="80000"/>
              </a:lnSpc>
              <a:buNone/>
            </a:pPr>
            <a:r>
              <a:rPr lang="en-US" sz="1800" dirty="0"/>
              <a:t>		</a:t>
            </a:r>
            <a:r>
              <a:rPr lang="en-US" sz="1800" dirty="0" err="1"/>
              <a:t>printf</a:t>
            </a:r>
            <a:r>
              <a:rPr lang="en-US" sz="1800" dirty="0"/>
              <a:t>("Child Id is %d and status is  %d\n",</a:t>
            </a:r>
            <a:r>
              <a:rPr lang="en-US" sz="1800" dirty="0" err="1"/>
              <a:t>cpid,status</a:t>
            </a:r>
            <a:r>
              <a:rPr lang="en-US" sz="1800" dirty="0"/>
              <a:t>);</a:t>
            </a:r>
          </a:p>
          <a:p>
            <a:pPr>
              <a:lnSpc>
                <a:spcPct val="80000"/>
              </a:lnSpc>
              <a:buNone/>
            </a:pPr>
            <a:r>
              <a:rPr lang="en-US" sz="1800" dirty="0"/>
              <a:t>		if ( (status &amp; 0xff) != 0)</a:t>
            </a:r>
          </a:p>
          <a:p>
            <a:pPr>
              <a:lnSpc>
                <a:spcPct val="80000"/>
              </a:lnSpc>
              <a:buNone/>
            </a:pPr>
            <a:r>
              <a:rPr lang="en-US" sz="1800" dirty="0"/>
              <a:t>			</a:t>
            </a:r>
            <a:r>
              <a:rPr lang="en-US" sz="1800" dirty="0" err="1"/>
              <a:t>printf</a:t>
            </a:r>
            <a:r>
              <a:rPr lang="en-US" sz="1800" dirty="0"/>
              <a:t>("Process Terminated Abnormally\n"); </a:t>
            </a:r>
          </a:p>
          <a:p>
            <a:pPr>
              <a:lnSpc>
                <a:spcPct val="80000"/>
              </a:lnSpc>
              <a:buNone/>
            </a:pPr>
            <a:r>
              <a:rPr lang="en-US" sz="1800" dirty="0"/>
              <a:t>		else</a:t>
            </a:r>
          </a:p>
          <a:p>
            <a:pPr>
              <a:lnSpc>
                <a:spcPct val="80000"/>
              </a:lnSpc>
              <a:buNone/>
            </a:pPr>
            <a:r>
              <a:rPr lang="en-US" sz="1800" dirty="0"/>
              <a:t>			</a:t>
            </a:r>
            <a:r>
              <a:rPr lang="en-US" sz="1800" dirty="0" err="1"/>
              <a:t>printf</a:t>
            </a:r>
            <a:r>
              <a:rPr lang="en-US" sz="1800" dirty="0"/>
              <a:t>("Process Terminated Normally\n");</a:t>
            </a:r>
          </a:p>
          <a:p>
            <a:pPr eaLnBrk="1" hangingPunct="1">
              <a:lnSpc>
                <a:spcPct val="90000"/>
              </a:lnSpc>
              <a:buFontTx/>
              <a:buNone/>
            </a:pPr>
            <a:r>
              <a:rPr lang="en-US" sz="1800" dirty="0"/>
              <a:t>	}</a:t>
            </a:r>
          </a:p>
          <a:p>
            <a:pPr eaLnBrk="1" hangingPunct="1">
              <a:lnSpc>
                <a:spcPct val="90000"/>
              </a:lnSpc>
              <a:buFontTx/>
              <a:buNone/>
            </a:pPr>
            <a:r>
              <a:rPr lang="en-US" sz="1800" dirty="0"/>
              <a:t>}</a:t>
            </a:r>
          </a:p>
        </p:txBody>
      </p:sp>
    </p:spTree>
    <p:extLst>
      <p:ext uri="{BB962C8B-B14F-4D97-AF65-F5344CB8AC3E}">
        <p14:creationId xmlns:p14="http://schemas.microsoft.com/office/powerpoint/2010/main" val="3591751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340F8E-D633-0A21-53F1-E537D76EA15B}"/>
              </a:ext>
            </a:extLst>
          </p:cNvPr>
          <p:cNvSpPr txBox="1"/>
          <p:nvPr/>
        </p:nvSpPr>
        <p:spPr>
          <a:xfrm>
            <a:off x="1210235" y="914676"/>
            <a:ext cx="9816353" cy="6047809"/>
          </a:xfrm>
          <a:prstGeom prst="rect">
            <a:avLst/>
          </a:prstGeom>
          <a:noFill/>
        </p:spPr>
        <p:txBody>
          <a:bodyPr wrap="square">
            <a:spAutoFit/>
          </a:bodyPr>
          <a:lstStyle/>
          <a:p>
            <a:pPr marL="285750" indent="-285750" algn="just">
              <a:spcBef>
                <a:spcPct val="50000"/>
              </a:spcBef>
              <a:buClr>
                <a:srgbClr val="0000CC"/>
              </a:buClr>
              <a:buFont typeface="Wingdings" panose="05000000000000000000" pitchFamily="2" charset="2"/>
              <a:buChar char="Ø"/>
            </a:pPr>
            <a:r>
              <a:rPr lang="en-US" sz="1800" dirty="0"/>
              <a:t>Create a child process</a:t>
            </a:r>
          </a:p>
          <a:p>
            <a:pPr marL="285750" indent="-285750" algn="just">
              <a:spcBef>
                <a:spcPct val="50000"/>
              </a:spcBef>
              <a:buClr>
                <a:srgbClr val="0000CC"/>
              </a:buClr>
              <a:buFont typeface="Wingdings" panose="05000000000000000000" pitchFamily="2" charset="2"/>
              <a:buChar char="Ø"/>
            </a:pPr>
            <a:r>
              <a:rPr lang="en-US" sz="1800" dirty="0"/>
              <a:t>Clone is a library function layered on top of the underlying clone system call</a:t>
            </a:r>
          </a:p>
          <a:p>
            <a:pPr marL="285750" indent="-285750" algn="just">
              <a:spcBef>
                <a:spcPct val="50000"/>
              </a:spcBef>
              <a:buClr>
                <a:srgbClr val="0000CC"/>
              </a:buClr>
              <a:buFont typeface="Wingdings" panose="05000000000000000000" pitchFamily="2" charset="2"/>
              <a:buChar char="Ø"/>
            </a:pPr>
            <a:r>
              <a:rPr lang="en-US" sz="1800" dirty="0"/>
              <a:t>This call allow the child process to share parts of its execution context with the calling process such as the memory space, table of file descriptors and the table of signal handlers</a:t>
            </a:r>
          </a:p>
          <a:p>
            <a:pPr marL="285750" indent="-285750" algn="just">
              <a:spcBef>
                <a:spcPct val="50000"/>
              </a:spcBef>
              <a:buClr>
                <a:srgbClr val="0000CC"/>
              </a:buClr>
              <a:buFont typeface="Wingdings" panose="05000000000000000000" pitchFamily="2" charset="2"/>
              <a:buChar char="Ø"/>
            </a:pPr>
            <a:r>
              <a:rPr lang="en-US" sz="1800" dirty="0"/>
              <a:t>Main use of clone is to implement THREADS</a:t>
            </a:r>
          </a:p>
          <a:p>
            <a:pPr marL="285750" indent="-285750">
              <a:spcBef>
                <a:spcPct val="50000"/>
              </a:spcBef>
              <a:buClr>
                <a:srgbClr val="0000CC"/>
              </a:buClr>
              <a:buFont typeface="Wingdings" panose="05000000000000000000" pitchFamily="2" charset="2"/>
              <a:buChar char="Ø"/>
            </a:pPr>
            <a:r>
              <a:rPr lang="en-US" sz="1800" dirty="0"/>
              <a:t>Since the child and calling process may share memory, it is not possible for the child process to execute the same stack as the calling process.  Therefore the calling process must setup memory space for the child stack and pass a pointer to this space</a:t>
            </a:r>
            <a:endParaRPr lang="en-US" sz="1050" dirty="0"/>
          </a:p>
          <a:p>
            <a:pPr marL="285750" indent="-285750">
              <a:spcBef>
                <a:spcPct val="50000"/>
              </a:spcBef>
              <a:buClr>
                <a:srgbClr val="0000CC"/>
              </a:buClr>
              <a:buFont typeface="Wingdings" panose="05000000000000000000" pitchFamily="2" charset="2"/>
              <a:buChar char="Ø"/>
            </a:pPr>
            <a:r>
              <a:rPr lang="en-US" sz="1800" dirty="0">
                <a:solidFill>
                  <a:srgbClr val="FF0066"/>
                </a:solidFill>
              </a:rPr>
              <a:t>Stack grows downwards</a:t>
            </a:r>
            <a:r>
              <a:rPr lang="en-US" sz="1800" dirty="0"/>
              <a:t> on all processors that run Linux, so child stack usually points to the topmost address of the memory space setup for the child stack</a:t>
            </a:r>
          </a:p>
          <a:p>
            <a:pPr>
              <a:spcBef>
                <a:spcPct val="50000"/>
              </a:spcBef>
              <a:buClr>
                <a:srgbClr val="0000CC"/>
              </a:buClr>
            </a:pPr>
            <a:r>
              <a:rPr lang="en-US" sz="2800" b="1" dirty="0"/>
              <a:t>Syntax:</a:t>
            </a:r>
          </a:p>
          <a:p>
            <a:pPr>
              <a:buClr>
                <a:srgbClr val="0000CC"/>
              </a:buClr>
              <a:buFont typeface="Wingdings" pitchFamily="2" charset="2"/>
              <a:buNone/>
            </a:pPr>
            <a:r>
              <a:rPr lang="en-US" sz="2000" dirty="0"/>
              <a:t>int clone(</a:t>
            </a:r>
          </a:p>
          <a:p>
            <a:pPr lvl="1">
              <a:buClr>
                <a:srgbClr val="0000CC"/>
              </a:buClr>
              <a:buFont typeface="Wingdings" pitchFamily="2" charset="2"/>
              <a:buNone/>
            </a:pPr>
            <a:r>
              <a:rPr lang="en-US" sz="2000" dirty="0"/>
              <a:t>		int (*fun)(void *</a:t>
            </a:r>
            <a:r>
              <a:rPr lang="en-US" sz="2000" dirty="0" err="1"/>
              <a:t>arg</a:t>
            </a:r>
            <a:r>
              <a:rPr lang="en-US" sz="2000" dirty="0"/>
              <a:t>),</a:t>
            </a:r>
          </a:p>
          <a:p>
            <a:pPr lvl="1">
              <a:buClr>
                <a:srgbClr val="0000CC"/>
              </a:buClr>
              <a:buFont typeface="Wingdings" pitchFamily="2" charset="2"/>
              <a:buNone/>
            </a:pPr>
            <a:r>
              <a:rPr lang="en-US" sz="2000" dirty="0"/>
              <a:t>		void *</a:t>
            </a:r>
            <a:r>
              <a:rPr lang="en-US" sz="2000" dirty="0" err="1"/>
              <a:t>child_stack</a:t>
            </a:r>
            <a:r>
              <a:rPr lang="en-US" sz="2000" dirty="0"/>
              <a:t>,</a:t>
            </a:r>
          </a:p>
          <a:p>
            <a:pPr lvl="1">
              <a:buClr>
                <a:srgbClr val="0000CC"/>
              </a:buClr>
              <a:buFont typeface="Wingdings" pitchFamily="2" charset="2"/>
              <a:buNone/>
            </a:pPr>
            <a:r>
              <a:rPr lang="en-US" sz="2000" dirty="0"/>
              <a:t>		int flags,</a:t>
            </a:r>
          </a:p>
          <a:p>
            <a:pPr lvl="1">
              <a:buClr>
                <a:srgbClr val="0000CC"/>
              </a:buClr>
              <a:buFont typeface="Wingdings" pitchFamily="2" charset="2"/>
              <a:buNone/>
            </a:pPr>
            <a:r>
              <a:rPr lang="en-US" sz="2000" dirty="0"/>
              <a:t>		void *</a:t>
            </a:r>
            <a:r>
              <a:rPr lang="en-US" sz="2000" dirty="0" err="1"/>
              <a:t>arg</a:t>
            </a:r>
            <a:endParaRPr lang="en-US" sz="2000" dirty="0"/>
          </a:p>
          <a:p>
            <a:pPr lvl="1">
              <a:buClr>
                <a:srgbClr val="0000CC"/>
              </a:buClr>
              <a:buFont typeface="Wingdings" pitchFamily="2" charset="2"/>
              <a:buNone/>
            </a:pPr>
            <a:r>
              <a:rPr lang="en-US" sz="2000" dirty="0"/>
              <a:t>)</a:t>
            </a:r>
            <a:endParaRPr lang="en-US" sz="1800" dirty="0"/>
          </a:p>
        </p:txBody>
      </p:sp>
      <p:sp>
        <p:nvSpPr>
          <p:cNvPr id="6" name="Rectangle: Rounded Corners 5">
            <a:extLst>
              <a:ext uri="{FF2B5EF4-FFF2-40B4-BE49-F238E27FC236}">
                <a16:creationId xmlns:a16="http://schemas.microsoft.com/office/drawing/2014/main" id="{D4BC32F6-9856-15F2-199A-903995F1ECD9}"/>
              </a:ext>
            </a:extLst>
          </p:cNvPr>
          <p:cNvSpPr/>
          <p:nvPr/>
        </p:nvSpPr>
        <p:spPr>
          <a:xfrm>
            <a:off x="1062318" y="282390"/>
            <a:ext cx="9977717" cy="591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000" dirty="0"/>
              <a:t>clone</a:t>
            </a:r>
            <a:endParaRPr lang="en-US" sz="6000" dirty="0"/>
          </a:p>
        </p:txBody>
      </p:sp>
    </p:spTree>
    <p:extLst>
      <p:ext uri="{BB962C8B-B14F-4D97-AF65-F5344CB8AC3E}">
        <p14:creationId xmlns:p14="http://schemas.microsoft.com/office/powerpoint/2010/main" val="4108069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8C6F51-0B20-B3C7-5240-801D6CE6372F}"/>
              </a:ext>
            </a:extLst>
          </p:cNvPr>
          <p:cNvSpPr txBox="1"/>
          <p:nvPr/>
        </p:nvSpPr>
        <p:spPr>
          <a:xfrm>
            <a:off x="726142" y="416969"/>
            <a:ext cx="10959354" cy="6047809"/>
          </a:xfrm>
          <a:prstGeom prst="rect">
            <a:avLst/>
          </a:prstGeom>
          <a:noFill/>
        </p:spPr>
        <p:txBody>
          <a:bodyPr wrap="square">
            <a:spAutoFit/>
          </a:bodyPr>
          <a:lstStyle/>
          <a:p>
            <a:pPr>
              <a:spcBef>
                <a:spcPct val="50000"/>
              </a:spcBef>
            </a:pPr>
            <a:r>
              <a:rPr lang="en-US" sz="3600" b="1" dirty="0"/>
              <a:t>clone flags:</a:t>
            </a:r>
          </a:p>
          <a:p>
            <a:pPr>
              <a:spcBef>
                <a:spcPct val="50000"/>
              </a:spcBef>
            </a:pPr>
            <a:r>
              <a:rPr lang="en-US" sz="1800" dirty="0"/>
              <a:t>Flags can be used to specify what is shared between the calling process and the child process</a:t>
            </a:r>
          </a:p>
          <a:p>
            <a:pPr>
              <a:spcBef>
                <a:spcPct val="50000"/>
              </a:spcBef>
              <a:buClr>
                <a:srgbClr val="0000CC"/>
              </a:buClr>
              <a:buFont typeface="Wingdings" pitchFamily="2" charset="2"/>
              <a:buChar char="Ø"/>
            </a:pPr>
            <a:r>
              <a:rPr lang="en-US" sz="1800" dirty="0">
                <a:solidFill>
                  <a:srgbClr val="FF00FF"/>
                </a:solidFill>
              </a:rPr>
              <a:t>CLONE_PARENT</a:t>
            </a:r>
            <a:r>
              <a:rPr lang="en-US" sz="1800" dirty="0"/>
              <a:t> 	</a:t>
            </a:r>
            <a:r>
              <a:rPr lang="en-US" sz="1800" dirty="0">
                <a:solidFill>
                  <a:srgbClr val="FF0000"/>
                </a:solidFill>
              </a:rPr>
              <a:t>Parent of new child process is same as that of calling process</a:t>
            </a:r>
          </a:p>
          <a:p>
            <a:pPr>
              <a:spcBef>
                <a:spcPct val="50000"/>
              </a:spcBef>
              <a:buClr>
                <a:srgbClr val="0000CC"/>
              </a:buClr>
              <a:buFont typeface="Wingdings" pitchFamily="2" charset="2"/>
              <a:buChar char="Ø"/>
            </a:pPr>
            <a:r>
              <a:rPr lang="en-US" sz="1800" dirty="0">
                <a:solidFill>
                  <a:srgbClr val="FF00FF"/>
                </a:solidFill>
              </a:rPr>
              <a:t>CLONE_FS</a:t>
            </a:r>
            <a:r>
              <a:rPr lang="en-US" sz="1800" dirty="0"/>
              <a:t>	The caller and the child process </a:t>
            </a:r>
            <a:r>
              <a:rPr lang="en-US" sz="1800" dirty="0">
                <a:solidFill>
                  <a:srgbClr val="FF0000"/>
                </a:solidFill>
              </a:rPr>
              <a:t>share the same file system information</a:t>
            </a:r>
            <a:r>
              <a:rPr lang="en-US" sz="1800" dirty="0"/>
              <a:t>.  </a:t>
            </a:r>
          </a:p>
          <a:p>
            <a:pPr>
              <a:spcBef>
                <a:spcPct val="50000"/>
              </a:spcBef>
              <a:buClr>
                <a:srgbClr val="0000CC"/>
              </a:buClr>
            </a:pPr>
            <a:r>
              <a:rPr lang="en-US" dirty="0"/>
              <a:t>		</a:t>
            </a:r>
            <a:r>
              <a:rPr lang="en-US" sz="1800" dirty="0"/>
              <a:t>This includes the root of the file system, current working directory, the </a:t>
            </a:r>
            <a:r>
              <a:rPr lang="en-US" sz="1800" dirty="0" err="1"/>
              <a:t>umask</a:t>
            </a:r>
            <a:r>
              <a:rPr lang="en-US" sz="1800" dirty="0"/>
              <a:t>.  </a:t>
            </a:r>
          </a:p>
          <a:p>
            <a:pPr>
              <a:spcBef>
                <a:spcPct val="50000"/>
              </a:spcBef>
              <a:buClr>
                <a:srgbClr val="0000CC"/>
              </a:buClr>
            </a:pPr>
            <a:r>
              <a:rPr lang="en-US" dirty="0"/>
              <a:t>		</a:t>
            </a:r>
            <a:r>
              <a:rPr lang="en-US" sz="1800" dirty="0"/>
              <a:t>Any call to chroot, </a:t>
            </a:r>
            <a:r>
              <a:rPr lang="en-US" sz="1800" dirty="0" err="1"/>
              <a:t>chdir</a:t>
            </a:r>
            <a:r>
              <a:rPr lang="en-US" sz="1800" dirty="0"/>
              <a:t>, </a:t>
            </a:r>
            <a:r>
              <a:rPr lang="en-US" sz="1800" dirty="0" err="1"/>
              <a:t>umask</a:t>
            </a:r>
            <a:r>
              <a:rPr lang="en-US" sz="1800" dirty="0"/>
              <a:t> performed by the calling process or the child process also takes 		effect in the  other process</a:t>
            </a:r>
          </a:p>
          <a:p>
            <a:pPr>
              <a:spcBef>
                <a:spcPct val="50000"/>
              </a:spcBef>
              <a:buClr>
                <a:srgbClr val="0000CC"/>
              </a:buClr>
              <a:buFont typeface="Wingdings" pitchFamily="2" charset="2"/>
              <a:buChar char="Ø"/>
            </a:pPr>
            <a:r>
              <a:rPr lang="en-US" sz="1800" dirty="0">
                <a:solidFill>
                  <a:srgbClr val="FF00FF"/>
                </a:solidFill>
              </a:rPr>
              <a:t>CLONE_FILES</a:t>
            </a:r>
            <a:r>
              <a:rPr lang="en-US" sz="1800" dirty="0"/>
              <a:t>	The calling process and the child process </a:t>
            </a:r>
            <a:r>
              <a:rPr lang="en-US" sz="1800" dirty="0">
                <a:solidFill>
                  <a:srgbClr val="FF0000"/>
                </a:solidFill>
              </a:rPr>
              <a:t>share the same file descriptor table</a:t>
            </a:r>
            <a:r>
              <a:rPr lang="en-US" sz="1800" dirty="0"/>
              <a:t>.  </a:t>
            </a:r>
          </a:p>
          <a:p>
            <a:pPr>
              <a:spcBef>
                <a:spcPct val="50000"/>
              </a:spcBef>
              <a:buClr>
                <a:srgbClr val="0000CC"/>
              </a:buClr>
            </a:pPr>
            <a:r>
              <a:rPr lang="en-US" dirty="0"/>
              <a:t>		</a:t>
            </a:r>
            <a:r>
              <a:rPr lang="en-US" sz="1800" dirty="0"/>
              <a:t>File descriptors always refer to the same files in the calling process and in the child process.  		Any file descriptor created by the calling process or by the child process is also valid in the other </a:t>
            </a:r>
          </a:p>
          <a:p>
            <a:pPr marL="285750" indent="-285750">
              <a:buFont typeface="Wingdings" panose="05000000000000000000" pitchFamily="2" charset="2"/>
              <a:buChar char="Ø"/>
            </a:pPr>
            <a:r>
              <a:rPr lang="en-US" dirty="0">
                <a:solidFill>
                  <a:srgbClr val="FF00FF"/>
                </a:solidFill>
              </a:rPr>
              <a:t>CLONE_SIGHAND: </a:t>
            </a:r>
            <a:r>
              <a:rPr lang="en-US" sz="1800" dirty="0"/>
              <a:t>The calling process and the child process </a:t>
            </a:r>
            <a:r>
              <a:rPr lang="en-US" sz="1800" dirty="0">
                <a:solidFill>
                  <a:srgbClr val="FF0000"/>
                </a:solidFill>
              </a:rPr>
              <a:t>share the  same table of signal handlers</a:t>
            </a:r>
            <a:r>
              <a:rPr lang="en-US" sz="1800" dirty="0"/>
              <a:t>.  </a:t>
            </a:r>
          </a:p>
          <a:p>
            <a:r>
              <a:rPr lang="en-US" dirty="0"/>
              <a:t>		</a:t>
            </a:r>
            <a:r>
              <a:rPr lang="en-US" sz="1800" dirty="0"/>
              <a:t>If the calling process or child process calls </a:t>
            </a:r>
            <a:r>
              <a:rPr lang="en-US" sz="1800" dirty="0" err="1"/>
              <a:t>sigaction</a:t>
            </a:r>
            <a:r>
              <a:rPr lang="en-US" sz="1800" dirty="0"/>
              <a:t> to change the behavior associated with </a:t>
            </a:r>
          </a:p>
          <a:p>
            <a:r>
              <a:rPr lang="en-US" dirty="0"/>
              <a:t>		</a:t>
            </a:r>
            <a:r>
              <a:rPr lang="en-US" sz="1800" dirty="0"/>
              <a:t>a signal, the behavior is changed in the other process also. However the calling process and 		child process still have distinct signal masks and sets of pending signals.  So one of them may 		block or unblock some signals using </a:t>
            </a:r>
            <a:r>
              <a:rPr lang="en-US" sz="1800" dirty="0" err="1"/>
              <a:t>sigprocmask</a:t>
            </a:r>
            <a:r>
              <a:rPr lang="en-US" sz="1800" dirty="0"/>
              <a:t> without affecting the other process</a:t>
            </a:r>
          </a:p>
          <a:p>
            <a:endParaRPr lang="en-US" sz="1800" dirty="0">
              <a:solidFill>
                <a:srgbClr val="FF00FF"/>
              </a:solidFill>
            </a:endParaRPr>
          </a:p>
          <a:p>
            <a:pPr marL="285750" indent="-285750">
              <a:buFont typeface="Wingdings" panose="05000000000000000000" pitchFamily="2" charset="2"/>
              <a:buChar char="Ø"/>
            </a:pPr>
            <a:r>
              <a:rPr lang="en-US" sz="1800" dirty="0">
                <a:solidFill>
                  <a:srgbClr val="FF00FF"/>
                </a:solidFill>
              </a:rPr>
              <a:t>CLONE_PTRACE</a:t>
            </a:r>
            <a:r>
              <a:rPr lang="en-US" sz="1800" dirty="0"/>
              <a:t>	</a:t>
            </a:r>
            <a:r>
              <a:rPr lang="en-US" sz="1600" dirty="0"/>
              <a:t>The calling process is being traced then trace the child also</a:t>
            </a:r>
          </a:p>
        </p:txBody>
      </p:sp>
    </p:spTree>
    <p:extLst>
      <p:ext uri="{BB962C8B-B14F-4D97-AF65-F5344CB8AC3E}">
        <p14:creationId xmlns:p14="http://schemas.microsoft.com/office/powerpoint/2010/main" val="3553528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C2FF0A-66BF-88A6-391B-E0730B4A9E67}"/>
              </a:ext>
            </a:extLst>
          </p:cNvPr>
          <p:cNvSpPr txBox="1"/>
          <p:nvPr/>
        </p:nvSpPr>
        <p:spPr>
          <a:xfrm>
            <a:off x="1026457" y="895836"/>
            <a:ext cx="10139085" cy="4662815"/>
          </a:xfrm>
          <a:prstGeom prst="rect">
            <a:avLst/>
          </a:prstGeom>
          <a:noFill/>
        </p:spPr>
        <p:txBody>
          <a:bodyPr wrap="square">
            <a:spAutoFit/>
          </a:bodyPr>
          <a:lstStyle/>
          <a:p>
            <a:r>
              <a:rPr lang="en-US" sz="1800" dirty="0">
                <a:solidFill>
                  <a:srgbClr val="FF00FF"/>
                </a:solidFill>
              </a:rPr>
              <a:t>CLONE_VFORK</a:t>
            </a:r>
            <a:r>
              <a:rPr lang="en-US" sz="1800" dirty="0"/>
              <a:t>	The </a:t>
            </a:r>
            <a:r>
              <a:rPr lang="en-US" sz="1800" dirty="0">
                <a:solidFill>
                  <a:srgbClr val="FF0000"/>
                </a:solidFill>
              </a:rPr>
              <a:t>execution of the calling process is suspended until the child releases its virtual 		memory resources via a call to </a:t>
            </a:r>
            <a:r>
              <a:rPr lang="en-US" sz="1800" dirty="0" err="1">
                <a:solidFill>
                  <a:srgbClr val="FF0000"/>
                </a:solidFill>
              </a:rPr>
              <a:t>execve</a:t>
            </a:r>
            <a:r>
              <a:rPr lang="en-US" sz="1800" dirty="0">
                <a:solidFill>
                  <a:srgbClr val="FF0000"/>
                </a:solidFill>
              </a:rPr>
              <a:t> or exit</a:t>
            </a:r>
            <a:r>
              <a:rPr lang="en-US" sz="1800" dirty="0"/>
              <a:t>.  If not set parent and child are 			schedulable separately</a:t>
            </a:r>
          </a:p>
          <a:p>
            <a:endParaRPr lang="en-US" sz="1800" dirty="0"/>
          </a:p>
          <a:p>
            <a:pPr algn="just"/>
            <a:r>
              <a:rPr lang="en-US" sz="1800" dirty="0">
                <a:solidFill>
                  <a:srgbClr val="FF00FF"/>
                </a:solidFill>
              </a:rPr>
              <a:t>CLONE_VM</a:t>
            </a:r>
            <a:r>
              <a:rPr lang="en-US" sz="1800" dirty="0"/>
              <a:t>	The </a:t>
            </a:r>
            <a:r>
              <a:rPr lang="en-US" sz="1800" dirty="0">
                <a:solidFill>
                  <a:srgbClr val="FF0000"/>
                </a:solidFill>
              </a:rPr>
              <a:t>calling process and the child process run in the same memory space</a:t>
            </a:r>
            <a:r>
              <a:rPr lang="en-US" sz="1800" dirty="0"/>
              <a:t>.  In particular,  		memory writes performed by the calling process or by the child process are also visible 		in the other process.  Moreover any memory mapping or </a:t>
            </a:r>
            <a:r>
              <a:rPr lang="en-US" sz="1800" dirty="0" err="1"/>
              <a:t>unmapping</a:t>
            </a:r>
            <a:r>
              <a:rPr lang="en-US" sz="1800" dirty="0"/>
              <a:t> performed with 		</a:t>
            </a:r>
            <a:r>
              <a:rPr lang="en-US" sz="1800" dirty="0" err="1"/>
              <a:t>mmap</a:t>
            </a:r>
            <a:r>
              <a:rPr lang="en-US" sz="1800" dirty="0"/>
              <a:t> or </a:t>
            </a:r>
            <a:r>
              <a:rPr lang="en-US" sz="1800" dirty="0" err="1"/>
              <a:t>munmap</a:t>
            </a:r>
            <a:r>
              <a:rPr lang="en-US" sz="1800" dirty="0"/>
              <a:t> by the child or calling process also affects the other process</a:t>
            </a:r>
          </a:p>
          <a:p>
            <a:pPr algn="just"/>
            <a:endParaRPr lang="en-US" sz="1800" dirty="0">
              <a:solidFill>
                <a:srgbClr val="FF00FF"/>
              </a:solidFill>
            </a:endParaRPr>
          </a:p>
          <a:p>
            <a:pPr algn="just"/>
            <a:r>
              <a:rPr lang="en-US" sz="1800" dirty="0">
                <a:solidFill>
                  <a:srgbClr val="FF00FF"/>
                </a:solidFill>
              </a:rPr>
              <a:t>CLONE_PID</a:t>
            </a:r>
            <a:r>
              <a:rPr lang="en-US" sz="1800" dirty="0"/>
              <a:t>	The </a:t>
            </a:r>
            <a:r>
              <a:rPr lang="en-US" sz="1800" dirty="0">
                <a:solidFill>
                  <a:srgbClr val="FF0000"/>
                </a:solidFill>
              </a:rPr>
              <a:t>child process is created with the same process ID as the calling process</a:t>
            </a:r>
            <a:r>
              <a:rPr lang="en-US" sz="1800" dirty="0"/>
              <a:t> </a:t>
            </a:r>
          </a:p>
          <a:p>
            <a:pPr algn="just"/>
            <a:endParaRPr lang="en-US" sz="1800" dirty="0"/>
          </a:p>
          <a:p>
            <a:pPr algn="just"/>
            <a:r>
              <a:rPr lang="en-US" sz="1800" dirty="0">
                <a:solidFill>
                  <a:srgbClr val="FF00FF"/>
                </a:solidFill>
              </a:rPr>
              <a:t>CLONE_THREAD</a:t>
            </a:r>
            <a:r>
              <a:rPr lang="en-US" sz="1800" dirty="0"/>
              <a:t>	The </a:t>
            </a:r>
            <a:r>
              <a:rPr lang="en-US" sz="1800" dirty="0">
                <a:solidFill>
                  <a:srgbClr val="FF0000"/>
                </a:solidFill>
              </a:rPr>
              <a:t>child thread is placed in the same thread group as the calling process</a:t>
            </a:r>
          </a:p>
          <a:p>
            <a:pPr algn="just"/>
            <a:endParaRPr lang="en-US" sz="1800" dirty="0"/>
          </a:p>
          <a:p>
            <a:pPr algn="just"/>
            <a:r>
              <a:rPr lang="en-US" sz="1800" dirty="0"/>
              <a:t>On success the PID of the child process is returned in the callers thread of execution</a:t>
            </a:r>
          </a:p>
          <a:p>
            <a:endParaRPr lang="en-US" sz="1800" dirty="0"/>
          </a:p>
          <a:p>
            <a:pPr>
              <a:spcBef>
                <a:spcPct val="50000"/>
              </a:spcBef>
              <a:buClr>
                <a:srgbClr val="0000CC"/>
              </a:buClr>
            </a:pPr>
            <a:endParaRPr lang="en-US" sz="1800" dirty="0"/>
          </a:p>
        </p:txBody>
      </p:sp>
    </p:spTree>
    <p:extLst>
      <p:ext uri="{BB962C8B-B14F-4D97-AF65-F5344CB8AC3E}">
        <p14:creationId xmlns:p14="http://schemas.microsoft.com/office/powerpoint/2010/main" val="15931534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B85455-344C-0B88-D40E-845D150A47E9}"/>
              </a:ext>
            </a:extLst>
          </p:cNvPr>
          <p:cNvSpPr txBox="1"/>
          <p:nvPr/>
        </p:nvSpPr>
        <p:spPr>
          <a:xfrm>
            <a:off x="1143000" y="659080"/>
            <a:ext cx="9614647" cy="5410712"/>
          </a:xfrm>
          <a:prstGeom prst="rect">
            <a:avLst/>
          </a:prstGeom>
          <a:noFill/>
        </p:spPr>
        <p:txBody>
          <a:bodyPr wrap="square">
            <a:spAutoFit/>
          </a:bodyPr>
          <a:lstStyle/>
          <a:p>
            <a:pPr eaLnBrk="1" hangingPunct="1">
              <a:lnSpc>
                <a:spcPct val="80000"/>
              </a:lnSpc>
              <a:buFontTx/>
              <a:buNone/>
            </a:pPr>
            <a:r>
              <a:rPr lang="en-US" sz="3200" b="1" dirty="0"/>
              <a:t>Sample code using clone system call:</a:t>
            </a:r>
          </a:p>
          <a:p>
            <a:pPr eaLnBrk="1" hangingPunct="1">
              <a:lnSpc>
                <a:spcPct val="80000"/>
              </a:lnSpc>
              <a:buFontTx/>
              <a:buNone/>
            </a:pPr>
            <a:endParaRPr lang="en-US" sz="2000" dirty="0"/>
          </a:p>
          <a:p>
            <a:pPr eaLnBrk="1" hangingPunct="1">
              <a:lnSpc>
                <a:spcPct val="80000"/>
              </a:lnSpc>
              <a:buFontTx/>
              <a:buNone/>
            </a:pPr>
            <a:r>
              <a:rPr lang="en-US" sz="2000" dirty="0"/>
              <a:t>int main()</a:t>
            </a:r>
          </a:p>
          <a:p>
            <a:pPr eaLnBrk="1" hangingPunct="1">
              <a:lnSpc>
                <a:spcPct val="80000"/>
              </a:lnSpc>
              <a:buFontTx/>
              <a:buNone/>
            </a:pPr>
            <a:r>
              <a:rPr lang="en-US" sz="2000" dirty="0"/>
              <a:t>{</a:t>
            </a:r>
          </a:p>
          <a:p>
            <a:pPr eaLnBrk="1" hangingPunct="1">
              <a:lnSpc>
                <a:spcPct val="80000"/>
              </a:lnSpc>
              <a:buFontTx/>
              <a:buNone/>
            </a:pPr>
            <a:r>
              <a:rPr lang="en-US" sz="2000" dirty="0"/>
              <a:t>int *</a:t>
            </a:r>
            <a:r>
              <a:rPr lang="en-US" sz="2000" dirty="0" err="1"/>
              <a:t>st,k</a:t>
            </a:r>
            <a:r>
              <a:rPr lang="en-US" sz="2000" dirty="0"/>
              <a:t>=9;</a:t>
            </a:r>
          </a:p>
          <a:p>
            <a:pPr eaLnBrk="1" hangingPunct="1">
              <a:lnSpc>
                <a:spcPct val="80000"/>
              </a:lnSpc>
              <a:buFontTx/>
              <a:buNone/>
            </a:pPr>
            <a:r>
              <a:rPr lang="en-US" sz="2000" dirty="0" err="1"/>
              <a:t>st</a:t>
            </a:r>
            <a:r>
              <a:rPr lang="en-US" sz="2000" dirty="0"/>
              <a:t> = (int *)malloc(2000)+2000;</a:t>
            </a:r>
          </a:p>
          <a:p>
            <a:pPr eaLnBrk="1" hangingPunct="1">
              <a:lnSpc>
                <a:spcPct val="80000"/>
              </a:lnSpc>
              <a:buFontTx/>
              <a:buNone/>
            </a:pPr>
            <a:r>
              <a:rPr lang="en-US" sz="2000" dirty="0" err="1"/>
              <a:t>pid_t</a:t>
            </a:r>
            <a:r>
              <a:rPr lang="en-US" sz="2000" dirty="0"/>
              <a:t> p1;</a:t>
            </a:r>
          </a:p>
          <a:p>
            <a:pPr eaLnBrk="1" hangingPunct="1">
              <a:lnSpc>
                <a:spcPct val="80000"/>
              </a:lnSpc>
              <a:buFontTx/>
              <a:buNone/>
            </a:pPr>
            <a:r>
              <a:rPr lang="en-US" sz="2000" dirty="0"/>
              <a:t>p1 = clone(</a:t>
            </a:r>
            <a:r>
              <a:rPr lang="en-US" sz="2000" dirty="0" err="1"/>
              <a:t>myfn</a:t>
            </a:r>
            <a:r>
              <a:rPr lang="en-US" sz="2000" dirty="0"/>
              <a:t>(k),</a:t>
            </a:r>
            <a:r>
              <a:rPr lang="en-US" sz="2000" dirty="0" err="1"/>
              <a:t>st,SIGCHLD,NULL</a:t>
            </a:r>
            <a:r>
              <a:rPr lang="en-US" sz="2000" dirty="0"/>
              <a:t>);	</a:t>
            </a:r>
          </a:p>
          <a:p>
            <a:pPr eaLnBrk="1" hangingPunct="1">
              <a:lnSpc>
                <a:spcPct val="80000"/>
              </a:lnSpc>
              <a:buFontTx/>
              <a:buNone/>
            </a:pPr>
            <a:r>
              <a:rPr lang="en-US" sz="2000" dirty="0"/>
              <a:t>if(p1&lt;0)</a:t>
            </a:r>
          </a:p>
          <a:p>
            <a:pPr eaLnBrk="1" hangingPunct="1">
              <a:lnSpc>
                <a:spcPct val="80000"/>
              </a:lnSpc>
              <a:buFontTx/>
              <a:buNone/>
            </a:pPr>
            <a:r>
              <a:rPr lang="en-US" sz="2000" dirty="0"/>
              <a:t>		</a:t>
            </a:r>
            <a:r>
              <a:rPr lang="en-US" sz="2000" dirty="0" err="1"/>
              <a:t>perror</a:t>
            </a:r>
            <a:r>
              <a:rPr lang="en-US" sz="2000" dirty="0"/>
              <a:t>("error in fork:");</a:t>
            </a:r>
          </a:p>
          <a:p>
            <a:pPr eaLnBrk="1" hangingPunct="1">
              <a:lnSpc>
                <a:spcPct val="80000"/>
              </a:lnSpc>
              <a:buFontTx/>
              <a:buNone/>
            </a:pPr>
            <a:r>
              <a:rPr lang="en-US" sz="2000" dirty="0" err="1"/>
              <a:t>printf</a:t>
            </a:r>
            <a:r>
              <a:rPr lang="en-US" sz="2000" dirty="0"/>
              <a:t>("before child.....................\n");</a:t>
            </a:r>
          </a:p>
          <a:p>
            <a:pPr eaLnBrk="1" hangingPunct="1">
              <a:lnSpc>
                <a:spcPct val="80000"/>
              </a:lnSpc>
              <a:buFontTx/>
              <a:buNone/>
            </a:pPr>
            <a:r>
              <a:rPr lang="en-US" sz="2000" dirty="0"/>
              <a:t>if(p1==0)</a:t>
            </a:r>
          </a:p>
          <a:p>
            <a:pPr eaLnBrk="1" hangingPunct="1">
              <a:lnSpc>
                <a:spcPct val="80000"/>
              </a:lnSpc>
              <a:buFontTx/>
              <a:buNone/>
            </a:pPr>
            <a:r>
              <a:rPr lang="en-US" sz="2000" dirty="0"/>
              <a:t>		</a:t>
            </a:r>
            <a:r>
              <a:rPr lang="en-US" sz="2000" dirty="0" err="1"/>
              <a:t>printf</a:t>
            </a:r>
            <a:r>
              <a:rPr lang="en-US" sz="2000" dirty="0"/>
              <a:t>("</a:t>
            </a:r>
            <a:r>
              <a:rPr lang="en-US" sz="2000" dirty="0" err="1"/>
              <a:t>i</a:t>
            </a:r>
            <a:r>
              <a:rPr lang="en-US" sz="2000" dirty="0"/>
              <a:t> am in child...............");</a:t>
            </a:r>
          </a:p>
          <a:p>
            <a:pPr eaLnBrk="1" hangingPunct="1">
              <a:lnSpc>
                <a:spcPct val="80000"/>
              </a:lnSpc>
              <a:buFontTx/>
              <a:buNone/>
            </a:pPr>
            <a:r>
              <a:rPr lang="en-US" sz="2000" dirty="0"/>
              <a:t>else</a:t>
            </a:r>
          </a:p>
          <a:p>
            <a:pPr eaLnBrk="1" hangingPunct="1">
              <a:lnSpc>
                <a:spcPct val="80000"/>
              </a:lnSpc>
              <a:buFontTx/>
              <a:buNone/>
            </a:pPr>
            <a:r>
              <a:rPr lang="en-US" sz="2000" dirty="0"/>
              <a:t>		</a:t>
            </a:r>
            <a:r>
              <a:rPr lang="en-US" sz="2000" dirty="0" err="1"/>
              <a:t>printf</a:t>
            </a:r>
            <a:r>
              <a:rPr lang="en-US" sz="2000" dirty="0"/>
              <a:t>("</a:t>
            </a:r>
            <a:r>
              <a:rPr lang="en-US" sz="2000" dirty="0" err="1"/>
              <a:t>i</a:t>
            </a:r>
            <a:r>
              <a:rPr lang="en-US" sz="2000" dirty="0"/>
              <a:t> am from parent.......................\n");</a:t>
            </a:r>
          </a:p>
          <a:p>
            <a:pPr eaLnBrk="1" hangingPunct="1">
              <a:lnSpc>
                <a:spcPct val="80000"/>
              </a:lnSpc>
              <a:buFontTx/>
              <a:buNone/>
            </a:pPr>
            <a:r>
              <a:rPr lang="en-US" sz="2000" dirty="0"/>
              <a:t>}</a:t>
            </a:r>
          </a:p>
          <a:p>
            <a:pPr eaLnBrk="1" hangingPunct="1">
              <a:buFontTx/>
              <a:buNone/>
            </a:pPr>
            <a:r>
              <a:rPr lang="en-US" sz="2000" dirty="0"/>
              <a:t>int </a:t>
            </a:r>
            <a:r>
              <a:rPr lang="en-US" sz="2000" dirty="0" err="1"/>
              <a:t>myfn</a:t>
            </a:r>
            <a:r>
              <a:rPr lang="en-US" sz="2000" dirty="0"/>
              <a:t>(int kk)</a:t>
            </a:r>
          </a:p>
          <a:p>
            <a:pPr eaLnBrk="1" hangingPunct="1">
              <a:buFontTx/>
              <a:buNone/>
            </a:pPr>
            <a:r>
              <a:rPr lang="en-US" sz="2000" dirty="0"/>
              <a:t>{</a:t>
            </a:r>
          </a:p>
          <a:p>
            <a:pPr eaLnBrk="1" hangingPunct="1">
              <a:buFontTx/>
              <a:buNone/>
            </a:pPr>
            <a:r>
              <a:rPr lang="en-US" sz="2000" dirty="0"/>
              <a:t>	</a:t>
            </a:r>
            <a:r>
              <a:rPr lang="en-US" sz="2000" dirty="0" err="1"/>
              <a:t>printf</a:t>
            </a:r>
            <a:r>
              <a:rPr lang="en-US" sz="2000" dirty="0"/>
              <a:t>("</a:t>
            </a:r>
            <a:r>
              <a:rPr lang="en-US" sz="2000" dirty="0" err="1"/>
              <a:t>i</a:t>
            </a:r>
            <a:r>
              <a:rPr lang="en-US" sz="2000" dirty="0"/>
              <a:t> am from child fun  %d.....................\</a:t>
            </a:r>
            <a:r>
              <a:rPr lang="en-US" sz="2000" dirty="0" err="1"/>
              <a:t>n",kk</a:t>
            </a:r>
            <a:r>
              <a:rPr lang="en-US" sz="2000" dirty="0"/>
              <a:t>);</a:t>
            </a:r>
          </a:p>
          <a:p>
            <a:pPr eaLnBrk="1" hangingPunct="1">
              <a:buFontTx/>
              <a:buNone/>
            </a:pPr>
            <a:r>
              <a:rPr lang="en-US" sz="2000" dirty="0"/>
              <a:t>}</a:t>
            </a:r>
          </a:p>
        </p:txBody>
      </p:sp>
    </p:spTree>
    <p:extLst>
      <p:ext uri="{BB962C8B-B14F-4D97-AF65-F5344CB8AC3E}">
        <p14:creationId xmlns:p14="http://schemas.microsoft.com/office/powerpoint/2010/main" val="1966218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D6AE79-5951-E7AB-54AD-19DEBB0BD58E}"/>
              </a:ext>
            </a:extLst>
          </p:cNvPr>
          <p:cNvSpPr txBox="1"/>
          <p:nvPr/>
        </p:nvSpPr>
        <p:spPr>
          <a:xfrm>
            <a:off x="1062316" y="1097293"/>
            <a:ext cx="10179425" cy="5626027"/>
          </a:xfrm>
          <a:prstGeom prst="rect">
            <a:avLst/>
          </a:prstGeom>
          <a:noFill/>
        </p:spPr>
        <p:txBody>
          <a:bodyPr wrap="square">
            <a:spAutoFit/>
          </a:bodyPr>
          <a:lstStyle/>
          <a:p>
            <a:pPr marL="342900" indent="-342900" eaLnBrk="1" hangingPunct="1">
              <a:lnSpc>
                <a:spcPct val="150000"/>
              </a:lnSpc>
              <a:buClr>
                <a:srgbClr val="0000CC"/>
              </a:buClr>
              <a:buFont typeface="Wingdings" panose="05000000000000000000" pitchFamily="2" charset="2"/>
              <a:buChar char="Ø"/>
            </a:pPr>
            <a:r>
              <a:rPr lang="en-US" sz="2200" dirty="0"/>
              <a:t>Create a child process and block parent</a:t>
            </a:r>
          </a:p>
          <a:p>
            <a:pPr marL="342900" indent="-342900" eaLnBrk="1" hangingPunct="1">
              <a:lnSpc>
                <a:spcPct val="150000"/>
              </a:lnSpc>
              <a:buClr>
                <a:srgbClr val="0000CC"/>
              </a:buClr>
              <a:buFont typeface="Wingdings" panose="05000000000000000000" pitchFamily="2" charset="2"/>
              <a:buChar char="Ø"/>
            </a:pPr>
            <a:r>
              <a:rPr lang="en-US" sz="2200" dirty="0" err="1"/>
              <a:t>pid_t</a:t>
            </a:r>
            <a:r>
              <a:rPr lang="en-US" sz="2200" dirty="0"/>
              <a:t> </a:t>
            </a:r>
            <a:r>
              <a:rPr lang="en-US" sz="2200" dirty="0" err="1"/>
              <a:t>vfork</a:t>
            </a:r>
            <a:r>
              <a:rPr lang="en-US" sz="2200" dirty="0"/>
              <a:t>(void)</a:t>
            </a:r>
          </a:p>
          <a:p>
            <a:pPr marL="342900" indent="-342900" eaLnBrk="1" hangingPunct="1">
              <a:lnSpc>
                <a:spcPct val="150000"/>
              </a:lnSpc>
              <a:buClr>
                <a:srgbClr val="0000CC"/>
              </a:buClr>
              <a:buFont typeface="Wingdings" panose="05000000000000000000" pitchFamily="2" charset="2"/>
              <a:buChar char="Ø"/>
            </a:pPr>
            <a:r>
              <a:rPr lang="en-US" sz="2200" dirty="0" err="1"/>
              <a:t>vfork</a:t>
            </a:r>
            <a:r>
              <a:rPr lang="en-US" sz="2200" dirty="0"/>
              <a:t> is a special case of clone</a:t>
            </a:r>
          </a:p>
          <a:p>
            <a:pPr marL="342900" indent="-342900" eaLnBrk="1" hangingPunct="1">
              <a:lnSpc>
                <a:spcPct val="150000"/>
              </a:lnSpc>
              <a:buClr>
                <a:srgbClr val="0000CC"/>
              </a:buClr>
              <a:buFont typeface="Wingdings" panose="05000000000000000000" pitchFamily="2" charset="2"/>
              <a:buChar char="Ø"/>
            </a:pPr>
            <a:r>
              <a:rPr lang="en-US" sz="2200" dirty="0"/>
              <a:t>If is used to create a new process without coping the page tables of the parent process</a:t>
            </a:r>
          </a:p>
          <a:p>
            <a:pPr marL="342900" indent="-342900" eaLnBrk="1" hangingPunct="1">
              <a:lnSpc>
                <a:spcPct val="150000"/>
              </a:lnSpc>
              <a:buClr>
                <a:srgbClr val="0000CC"/>
              </a:buClr>
              <a:buFont typeface="Wingdings" panose="05000000000000000000" pitchFamily="2" charset="2"/>
              <a:buChar char="Ø"/>
            </a:pPr>
            <a:r>
              <a:rPr lang="en-US" sz="2200" dirty="0" err="1"/>
              <a:t>vfork</a:t>
            </a:r>
            <a:r>
              <a:rPr lang="en-US" sz="2200" dirty="0"/>
              <a:t> differs from fork in that the parent is suspended until child makes a call to </a:t>
            </a:r>
            <a:r>
              <a:rPr lang="en-US" sz="2200" dirty="0" err="1"/>
              <a:t>execve</a:t>
            </a:r>
            <a:r>
              <a:rPr lang="en-US" sz="2200" dirty="0"/>
              <a:t> or exit</a:t>
            </a:r>
          </a:p>
          <a:p>
            <a:pPr marL="342900" indent="-342900" eaLnBrk="1" hangingPunct="1">
              <a:lnSpc>
                <a:spcPct val="150000"/>
              </a:lnSpc>
              <a:buClr>
                <a:srgbClr val="0000CC"/>
              </a:buClr>
              <a:buFont typeface="Wingdings" panose="05000000000000000000" pitchFamily="2" charset="2"/>
              <a:buChar char="Ø"/>
            </a:pPr>
            <a:r>
              <a:rPr lang="en-US" sz="2200" dirty="0"/>
              <a:t>Child shares all memory with its parent including the stack until </a:t>
            </a:r>
            <a:r>
              <a:rPr lang="en-US" sz="2200" dirty="0" err="1"/>
              <a:t>execve</a:t>
            </a:r>
            <a:r>
              <a:rPr lang="en-US" sz="2200" dirty="0"/>
              <a:t> is issued by the child</a:t>
            </a:r>
          </a:p>
          <a:p>
            <a:pPr marL="342900" indent="-342900" eaLnBrk="1" hangingPunct="1">
              <a:lnSpc>
                <a:spcPct val="150000"/>
              </a:lnSpc>
              <a:buClr>
                <a:srgbClr val="0000CC"/>
              </a:buClr>
              <a:buFont typeface="Wingdings" panose="05000000000000000000" pitchFamily="2" charset="2"/>
              <a:buChar char="Ø"/>
            </a:pPr>
            <a:r>
              <a:rPr lang="en-US" sz="2200" dirty="0"/>
              <a:t>Signal handlers are inherited but not shared.  Signals to the parent arrive after the child releases the parent</a:t>
            </a:r>
          </a:p>
        </p:txBody>
      </p:sp>
      <p:sp>
        <p:nvSpPr>
          <p:cNvPr id="6" name="Rectangle: Rounded Corners 5">
            <a:extLst>
              <a:ext uri="{FF2B5EF4-FFF2-40B4-BE49-F238E27FC236}">
                <a16:creationId xmlns:a16="http://schemas.microsoft.com/office/drawing/2014/main" id="{EBE71C7A-FFE0-84EA-7E24-04AF8A1A2BBD}"/>
              </a:ext>
            </a:extLst>
          </p:cNvPr>
          <p:cNvSpPr/>
          <p:nvPr/>
        </p:nvSpPr>
        <p:spPr>
          <a:xfrm>
            <a:off x="1062316" y="551329"/>
            <a:ext cx="9870143" cy="4840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err="1"/>
              <a:t>vfork</a:t>
            </a:r>
            <a:endParaRPr lang="en-US" sz="3600" b="1" dirty="0"/>
          </a:p>
        </p:txBody>
      </p:sp>
    </p:spTree>
    <p:extLst>
      <p:ext uri="{BB962C8B-B14F-4D97-AF65-F5344CB8AC3E}">
        <p14:creationId xmlns:p14="http://schemas.microsoft.com/office/powerpoint/2010/main" val="1335306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5E20514-1B34-F5F1-D509-D23E04970650}"/>
              </a:ext>
            </a:extLst>
          </p:cNvPr>
          <p:cNvSpPr/>
          <p:nvPr/>
        </p:nvSpPr>
        <p:spPr>
          <a:xfrm>
            <a:off x="1264024" y="618565"/>
            <a:ext cx="9641541"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t>fork vs </a:t>
            </a:r>
            <a:r>
              <a:rPr lang="en-IN" sz="3200" b="1" dirty="0" err="1"/>
              <a:t>vfork</a:t>
            </a:r>
            <a:endParaRPr lang="en-US" b="1" dirty="0"/>
          </a:p>
        </p:txBody>
      </p:sp>
      <p:pic>
        <p:nvPicPr>
          <p:cNvPr id="5" name="Content Placeholder 5">
            <a:extLst>
              <a:ext uri="{FF2B5EF4-FFF2-40B4-BE49-F238E27FC236}">
                <a16:creationId xmlns:a16="http://schemas.microsoft.com/office/drawing/2014/main" id="{A49005D8-AA83-E066-5201-131FA68C557B}"/>
              </a:ext>
            </a:extLst>
          </p:cNvPr>
          <p:cNvPicPr>
            <a:picLocks noGrp="1"/>
          </p:cNvPicPr>
          <p:nvPr>
            <p:ph idx="1"/>
          </p:nvPr>
        </p:nvPicPr>
        <p:blipFill>
          <a:blip r:embed="rId2" cstate="print"/>
          <a:srcRect/>
          <a:stretch>
            <a:fillRect/>
          </a:stretch>
        </p:blipFill>
        <p:spPr bwMode="auto">
          <a:xfrm>
            <a:off x="1364573" y="1385047"/>
            <a:ext cx="9514097" cy="4531659"/>
          </a:xfrm>
          <a:prstGeom prst="rect">
            <a:avLst/>
          </a:prstGeom>
          <a:noFill/>
          <a:ln w="9525">
            <a:noFill/>
            <a:miter lim="800000"/>
            <a:headEnd/>
            <a:tailEnd/>
          </a:ln>
        </p:spPr>
      </p:pic>
    </p:spTree>
    <p:extLst>
      <p:ext uri="{BB962C8B-B14F-4D97-AF65-F5344CB8AC3E}">
        <p14:creationId xmlns:p14="http://schemas.microsoft.com/office/powerpoint/2010/main" val="303019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F9FB63-45C3-0327-782F-15CC53E2AA59}"/>
              </a:ext>
            </a:extLst>
          </p:cNvPr>
          <p:cNvSpPr txBox="1"/>
          <p:nvPr/>
        </p:nvSpPr>
        <p:spPr>
          <a:xfrm>
            <a:off x="1102655" y="852473"/>
            <a:ext cx="8905314" cy="5823133"/>
          </a:xfrm>
          <a:prstGeom prst="rect">
            <a:avLst/>
          </a:prstGeom>
          <a:noFill/>
        </p:spPr>
        <p:txBody>
          <a:bodyPr wrap="square">
            <a:spAutoFit/>
          </a:bodyPr>
          <a:lstStyle/>
          <a:p>
            <a:pPr>
              <a:lnSpc>
                <a:spcPct val="80000"/>
              </a:lnSpc>
              <a:buNone/>
            </a:pPr>
            <a:r>
              <a:rPr lang="en-US" sz="3200" b="1" dirty="0"/>
              <a:t>Sample code using </a:t>
            </a:r>
            <a:r>
              <a:rPr lang="en-US" sz="3200" b="1" dirty="0" err="1"/>
              <a:t>vfork</a:t>
            </a:r>
            <a:r>
              <a:rPr lang="en-US" sz="3200" b="1" dirty="0"/>
              <a:t> system call:</a:t>
            </a:r>
          </a:p>
          <a:p>
            <a:pPr>
              <a:lnSpc>
                <a:spcPct val="80000"/>
              </a:lnSpc>
              <a:buNone/>
            </a:pPr>
            <a:endParaRPr lang="en-US" sz="2800" b="1" dirty="0"/>
          </a:p>
          <a:p>
            <a:pPr>
              <a:lnSpc>
                <a:spcPct val="80000"/>
              </a:lnSpc>
              <a:buNone/>
            </a:pPr>
            <a:r>
              <a:rPr lang="en-US" sz="1800" dirty="0"/>
              <a:t>int main(void)</a:t>
            </a:r>
          </a:p>
          <a:p>
            <a:pPr>
              <a:lnSpc>
                <a:spcPct val="80000"/>
              </a:lnSpc>
              <a:buNone/>
            </a:pPr>
            <a:r>
              <a:rPr lang="en-US" sz="1800" dirty="0"/>
              <a:t>{</a:t>
            </a:r>
          </a:p>
          <a:p>
            <a:pPr>
              <a:lnSpc>
                <a:spcPct val="80000"/>
              </a:lnSpc>
              <a:buNone/>
            </a:pPr>
            <a:r>
              <a:rPr lang="en-US" sz="1800" dirty="0"/>
              <a:t>         </a:t>
            </a:r>
            <a:r>
              <a:rPr lang="en-US" sz="1800" dirty="0" err="1"/>
              <a:t>pid_t</a:t>
            </a:r>
            <a:r>
              <a:rPr lang="en-US" sz="1800" dirty="0"/>
              <a:t> </a:t>
            </a:r>
            <a:r>
              <a:rPr lang="en-US" sz="1800" dirty="0" err="1"/>
              <a:t>pid</a:t>
            </a:r>
            <a:r>
              <a:rPr lang="en-US" sz="1800" dirty="0"/>
              <a:t>;</a:t>
            </a:r>
          </a:p>
          <a:p>
            <a:pPr>
              <a:lnSpc>
                <a:spcPct val="80000"/>
              </a:lnSpc>
              <a:buNone/>
            </a:pPr>
            <a:endParaRPr lang="en-US" sz="1800" dirty="0"/>
          </a:p>
          <a:p>
            <a:pPr>
              <a:lnSpc>
                <a:spcPct val="80000"/>
              </a:lnSpc>
              <a:buNone/>
            </a:pPr>
            <a:r>
              <a:rPr lang="en-US" b="1" dirty="0"/>
              <a:t>         </a:t>
            </a:r>
            <a:r>
              <a:rPr lang="en-US" sz="1800" b="1" dirty="0" err="1"/>
              <a:t>pid</a:t>
            </a:r>
            <a:r>
              <a:rPr lang="en-US" sz="1800" b="1" dirty="0"/>
              <a:t>=</a:t>
            </a:r>
            <a:r>
              <a:rPr lang="en-US" sz="1800" b="1" dirty="0" err="1"/>
              <a:t>vfork</a:t>
            </a:r>
            <a:r>
              <a:rPr lang="en-US" sz="1800" b="1" dirty="0"/>
              <a:t>();</a:t>
            </a:r>
          </a:p>
          <a:p>
            <a:pPr>
              <a:lnSpc>
                <a:spcPct val="80000"/>
              </a:lnSpc>
              <a:buNone/>
            </a:pPr>
            <a:endParaRPr lang="en-US" sz="1800" dirty="0"/>
          </a:p>
          <a:p>
            <a:pPr>
              <a:lnSpc>
                <a:spcPct val="80000"/>
              </a:lnSpc>
              <a:buNone/>
            </a:pPr>
            <a:r>
              <a:rPr lang="en-US" sz="1800" dirty="0"/>
              <a:t>         if (</a:t>
            </a:r>
            <a:r>
              <a:rPr lang="en-US" sz="1800" dirty="0" err="1"/>
              <a:t>pid</a:t>
            </a:r>
            <a:r>
              <a:rPr lang="en-US" sz="1800" dirty="0"/>
              <a:t>==0)</a:t>
            </a:r>
          </a:p>
          <a:p>
            <a:pPr>
              <a:lnSpc>
                <a:spcPct val="80000"/>
              </a:lnSpc>
              <a:buNone/>
            </a:pPr>
            <a:r>
              <a:rPr lang="en-US" dirty="0"/>
              <a:t>       </a:t>
            </a:r>
            <a:r>
              <a:rPr lang="en-US" sz="1800" dirty="0"/>
              <a:t>  {</a:t>
            </a:r>
          </a:p>
          <a:p>
            <a:pPr>
              <a:buNone/>
            </a:pPr>
            <a:r>
              <a:rPr lang="en-US" sz="1800" dirty="0"/>
              <a:t>	 	        </a:t>
            </a:r>
            <a:r>
              <a:rPr lang="en-US" sz="1800" dirty="0" err="1"/>
              <a:t>printf</a:t>
            </a:r>
            <a:r>
              <a:rPr lang="en-US" sz="1800" dirty="0"/>
              <a:t>("I am a child process\n");</a:t>
            </a:r>
          </a:p>
          <a:p>
            <a:pPr>
              <a:buNone/>
            </a:pPr>
            <a:r>
              <a:rPr lang="en-US" sz="1800" dirty="0"/>
              <a:t>	         	        </a:t>
            </a:r>
            <a:r>
              <a:rPr lang="en-US" sz="1800" dirty="0" err="1"/>
              <a:t>printf</a:t>
            </a:r>
            <a:r>
              <a:rPr lang="en-US" sz="1800" dirty="0"/>
              <a:t>(“Child process ID : %d \n", </a:t>
            </a:r>
            <a:r>
              <a:rPr lang="en-US" sz="1800" dirty="0" err="1"/>
              <a:t>getpid</a:t>
            </a:r>
            <a:r>
              <a:rPr lang="en-US" sz="1800" dirty="0"/>
              <a:t>());</a:t>
            </a:r>
          </a:p>
          <a:p>
            <a:pPr>
              <a:buNone/>
            </a:pPr>
            <a:r>
              <a:rPr lang="en-US" sz="1800" dirty="0"/>
              <a:t>	         	        </a:t>
            </a:r>
            <a:r>
              <a:rPr lang="en-US" sz="1800" dirty="0" err="1"/>
              <a:t>printf</a:t>
            </a:r>
            <a:r>
              <a:rPr lang="en-US" sz="1800" dirty="0"/>
              <a:t>("Child's Parent process ID : %d ",</a:t>
            </a:r>
            <a:r>
              <a:rPr lang="en-US" sz="1800" dirty="0" err="1"/>
              <a:t>getppid</a:t>
            </a:r>
            <a:r>
              <a:rPr lang="en-US" sz="1800" dirty="0"/>
              <a:t>());</a:t>
            </a:r>
          </a:p>
          <a:p>
            <a:pPr>
              <a:buNone/>
            </a:pPr>
            <a:r>
              <a:rPr lang="en-US" sz="1800" dirty="0"/>
              <a:t>		       _exit(0);</a:t>
            </a:r>
          </a:p>
          <a:p>
            <a:pPr>
              <a:buNone/>
            </a:pPr>
            <a:r>
              <a:rPr lang="en-US" sz="1800" dirty="0"/>
              <a:t>         }  </a:t>
            </a:r>
          </a:p>
          <a:p>
            <a:pPr>
              <a:lnSpc>
                <a:spcPct val="80000"/>
              </a:lnSpc>
              <a:buNone/>
            </a:pPr>
            <a:r>
              <a:rPr lang="en-US" sz="1800" dirty="0"/>
              <a:t>        else</a:t>
            </a:r>
          </a:p>
          <a:p>
            <a:pPr>
              <a:buNone/>
            </a:pPr>
            <a:r>
              <a:rPr lang="en-US" sz="1800" dirty="0"/>
              <a:t>         {</a:t>
            </a:r>
          </a:p>
          <a:p>
            <a:pPr>
              <a:buNone/>
            </a:pPr>
            <a:r>
              <a:rPr lang="en-US" sz="1800" dirty="0"/>
              <a:t>	 	     </a:t>
            </a:r>
            <a:r>
              <a:rPr lang="en-US" sz="1800" dirty="0" err="1"/>
              <a:t>printf</a:t>
            </a:r>
            <a:r>
              <a:rPr lang="en-US" sz="1800" dirty="0"/>
              <a:t>("I am a parent process\n");</a:t>
            </a:r>
          </a:p>
          <a:p>
            <a:pPr>
              <a:buNone/>
            </a:pPr>
            <a:r>
              <a:rPr lang="en-US" sz="1800" dirty="0"/>
              <a:t>		     </a:t>
            </a:r>
            <a:r>
              <a:rPr lang="en-US" sz="1800" dirty="0" err="1"/>
              <a:t>printf</a:t>
            </a:r>
            <a:r>
              <a:rPr lang="en-US" sz="1800" dirty="0"/>
              <a:t>(“Parent process ID : %d \n",</a:t>
            </a:r>
            <a:r>
              <a:rPr lang="en-US" sz="1800" dirty="0" err="1"/>
              <a:t>getpid</a:t>
            </a:r>
            <a:r>
              <a:rPr lang="en-US" sz="1800" dirty="0"/>
              <a:t>());</a:t>
            </a:r>
          </a:p>
          <a:p>
            <a:pPr>
              <a:buNone/>
            </a:pPr>
            <a:r>
              <a:rPr lang="en-US" sz="1800" dirty="0"/>
              <a:t>		     </a:t>
            </a:r>
            <a:r>
              <a:rPr lang="en-US" sz="1800" dirty="0" err="1"/>
              <a:t>printf</a:t>
            </a:r>
            <a:r>
              <a:rPr lang="en-US" sz="1800" dirty="0"/>
              <a:t>("Parent's parent ID(Shell id) : %d\n",</a:t>
            </a:r>
            <a:r>
              <a:rPr lang="en-US" sz="1800" dirty="0" err="1"/>
              <a:t>getppid</a:t>
            </a:r>
            <a:r>
              <a:rPr lang="en-US" sz="1800" dirty="0"/>
              <a:t>());</a:t>
            </a:r>
          </a:p>
          <a:p>
            <a:pPr>
              <a:buNone/>
            </a:pPr>
            <a:r>
              <a:rPr lang="en-US" sz="1800" dirty="0"/>
              <a:t>          }</a:t>
            </a:r>
          </a:p>
          <a:p>
            <a:pPr>
              <a:buNone/>
            </a:pPr>
            <a:r>
              <a:rPr lang="en-US" sz="1800" dirty="0"/>
              <a:t>}</a:t>
            </a:r>
          </a:p>
        </p:txBody>
      </p:sp>
    </p:spTree>
    <p:extLst>
      <p:ext uri="{BB962C8B-B14F-4D97-AF65-F5344CB8AC3E}">
        <p14:creationId xmlns:p14="http://schemas.microsoft.com/office/powerpoint/2010/main" val="17895346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F0FF15E-E721-717D-3352-4D510D1EA150}"/>
              </a:ext>
            </a:extLst>
          </p:cNvPr>
          <p:cNvSpPr/>
          <p:nvPr/>
        </p:nvSpPr>
        <p:spPr>
          <a:xfrm>
            <a:off x="1344706" y="551330"/>
            <a:ext cx="9533965" cy="4168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err="1"/>
              <a:t>ps</a:t>
            </a:r>
            <a:r>
              <a:rPr lang="en-IN" sz="2800" b="1" dirty="0"/>
              <a:t> command reports the process status</a:t>
            </a:r>
            <a:endParaRPr lang="en-US" sz="2800" b="1" dirty="0"/>
          </a:p>
        </p:txBody>
      </p:sp>
      <p:pic>
        <p:nvPicPr>
          <p:cNvPr id="6" name="Picture 5">
            <a:extLst>
              <a:ext uri="{FF2B5EF4-FFF2-40B4-BE49-F238E27FC236}">
                <a16:creationId xmlns:a16="http://schemas.microsoft.com/office/drawing/2014/main" id="{798D878E-4938-F59F-8AC8-983B511CF0E7}"/>
              </a:ext>
            </a:extLst>
          </p:cNvPr>
          <p:cNvPicPr>
            <a:picLocks noChangeAspect="1"/>
          </p:cNvPicPr>
          <p:nvPr/>
        </p:nvPicPr>
        <p:blipFill>
          <a:blip r:embed="rId2"/>
          <a:stretch>
            <a:fillRect/>
          </a:stretch>
        </p:blipFill>
        <p:spPr>
          <a:xfrm>
            <a:off x="793378" y="1258423"/>
            <a:ext cx="10797986" cy="3991532"/>
          </a:xfrm>
          <a:prstGeom prst="rect">
            <a:avLst/>
          </a:prstGeom>
        </p:spPr>
      </p:pic>
    </p:spTree>
    <p:extLst>
      <p:ext uri="{BB962C8B-B14F-4D97-AF65-F5344CB8AC3E}">
        <p14:creationId xmlns:p14="http://schemas.microsoft.com/office/powerpoint/2010/main" val="461681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2653BB3-DB68-315A-8582-7225FC3E9DAC}"/>
              </a:ext>
            </a:extLst>
          </p:cNvPr>
          <p:cNvSpPr/>
          <p:nvPr/>
        </p:nvSpPr>
        <p:spPr>
          <a:xfrm>
            <a:off x="1048871" y="564777"/>
            <a:ext cx="9937377" cy="443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top command displays the CPU usage of the process</a:t>
            </a:r>
            <a:endParaRPr lang="en-US" sz="2400" b="1" dirty="0"/>
          </a:p>
        </p:txBody>
      </p:sp>
      <p:pic>
        <p:nvPicPr>
          <p:cNvPr id="8" name="Picture 7">
            <a:extLst>
              <a:ext uri="{FF2B5EF4-FFF2-40B4-BE49-F238E27FC236}">
                <a16:creationId xmlns:a16="http://schemas.microsoft.com/office/drawing/2014/main" id="{E185BF8E-C396-F1C3-C2D8-494A402D6706}"/>
              </a:ext>
            </a:extLst>
          </p:cNvPr>
          <p:cNvPicPr>
            <a:picLocks noChangeAspect="1"/>
          </p:cNvPicPr>
          <p:nvPr/>
        </p:nvPicPr>
        <p:blipFill>
          <a:blip r:embed="rId2"/>
          <a:stretch>
            <a:fillRect/>
          </a:stretch>
        </p:blipFill>
        <p:spPr>
          <a:xfrm>
            <a:off x="1048870" y="1172912"/>
            <a:ext cx="9937377" cy="4915586"/>
          </a:xfrm>
          <a:prstGeom prst="rect">
            <a:avLst/>
          </a:prstGeom>
        </p:spPr>
      </p:pic>
    </p:spTree>
    <p:extLst>
      <p:ext uri="{BB962C8B-B14F-4D97-AF65-F5344CB8AC3E}">
        <p14:creationId xmlns:p14="http://schemas.microsoft.com/office/powerpoint/2010/main" val="2834837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C922ECB-9736-DB3C-02E6-6DBC8EE34371}"/>
              </a:ext>
            </a:extLst>
          </p:cNvPr>
          <p:cNvSpPr/>
          <p:nvPr/>
        </p:nvSpPr>
        <p:spPr>
          <a:xfrm>
            <a:off x="1102659" y="295836"/>
            <a:ext cx="9856694"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err="1"/>
              <a:t>pstree</a:t>
            </a:r>
            <a:r>
              <a:rPr lang="en-IN" sz="2800" b="1" dirty="0"/>
              <a:t> command displays the process tree</a:t>
            </a:r>
            <a:endParaRPr lang="en-US" sz="2800" b="1" dirty="0"/>
          </a:p>
        </p:txBody>
      </p:sp>
      <p:pic>
        <p:nvPicPr>
          <p:cNvPr id="6" name="Picture 5">
            <a:extLst>
              <a:ext uri="{FF2B5EF4-FFF2-40B4-BE49-F238E27FC236}">
                <a16:creationId xmlns:a16="http://schemas.microsoft.com/office/drawing/2014/main" id="{2BA24840-D389-5384-4DA9-F40395B369F8}"/>
              </a:ext>
            </a:extLst>
          </p:cNvPr>
          <p:cNvPicPr>
            <a:picLocks noChangeAspect="1"/>
          </p:cNvPicPr>
          <p:nvPr/>
        </p:nvPicPr>
        <p:blipFill>
          <a:blip r:embed="rId2"/>
          <a:stretch>
            <a:fillRect/>
          </a:stretch>
        </p:blipFill>
        <p:spPr>
          <a:xfrm>
            <a:off x="1252023" y="988248"/>
            <a:ext cx="9707330" cy="1600423"/>
          </a:xfrm>
          <a:prstGeom prst="rect">
            <a:avLst/>
          </a:prstGeom>
        </p:spPr>
      </p:pic>
      <p:sp>
        <p:nvSpPr>
          <p:cNvPr id="7" name="Rectangle: Rounded Corners 6">
            <a:extLst>
              <a:ext uri="{FF2B5EF4-FFF2-40B4-BE49-F238E27FC236}">
                <a16:creationId xmlns:a16="http://schemas.microsoft.com/office/drawing/2014/main" id="{8813FB1D-6656-F4E4-1648-84B15F70788C}"/>
              </a:ext>
            </a:extLst>
          </p:cNvPr>
          <p:cNvSpPr/>
          <p:nvPr/>
        </p:nvSpPr>
        <p:spPr>
          <a:xfrm>
            <a:off x="1131000" y="2689413"/>
            <a:ext cx="9856694" cy="5244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kill command used to terminate the process</a:t>
            </a:r>
            <a:endParaRPr lang="en-US" sz="2800" b="1" dirty="0"/>
          </a:p>
        </p:txBody>
      </p:sp>
      <p:pic>
        <p:nvPicPr>
          <p:cNvPr id="9" name="Picture 8">
            <a:extLst>
              <a:ext uri="{FF2B5EF4-FFF2-40B4-BE49-F238E27FC236}">
                <a16:creationId xmlns:a16="http://schemas.microsoft.com/office/drawing/2014/main" id="{941E2AFB-EDA3-7781-960D-8F3A7E4168B5}"/>
              </a:ext>
            </a:extLst>
          </p:cNvPr>
          <p:cNvPicPr>
            <a:picLocks noChangeAspect="1"/>
          </p:cNvPicPr>
          <p:nvPr/>
        </p:nvPicPr>
        <p:blipFill>
          <a:blip r:embed="rId3"/>
          <a:stretch>
            <a:fillRect/>
          </a:stretch>
        </p:blipFill>
        <p:spPr>
          <a:xfrm>
            <a:off x="1208736" y="3274249"/>
            <a:ext cx="9707330" cy="3516512"/>
          </a:xfrm>
          <a:prstGeom prst="rect">
            <a:avLst/>
          </a:prstGeom>
        </p:spPr>
      </p:pic>
    </p:spTree>
    <p:extLst>
      <p:ext uri="{BB962C8B-B14F-4D97-AF65-F5344CB8AC3E}">
        <p14:creationId xmlns:p14="http://schemas.microsoft.com/office/powerpoint/2010/main" val="34280184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D1763B2-221F-D064-D2C2-5098B672EAB0}"/>
              </a:ext>
            </a:extLst>
          </p:cNvPr>
          <p:cNvSpPr txBox="1"/>
          <p:nvPr/>
        </p:nvSpPr>
        <p:spPr>
          <a:xfrm>
            <a:off x="1089211" y="335554"/>
            <a:ext cx="10233212" cy="6063198"/>
          </a:xfrm>
          <a:prstGeom prst="rect">
            <a:avLst/>
          </a:prstGeom>
          <a:noFill/>
        </p:spPr>
        <p:txBody>
          <a:bodyPr wrap="square">
            <a:spAutoFit/>
          </a:bodyPr>
          <a:lstStyle/>
          <a:p>
            <a:pPr>
              <a:spcBef>
                <a:spcPct val="50000"/>
              </a:spcBef>
            </a:pPr>
            <a:r>
              <a:rPr lang="en-US" sz="3200" b="1" dirty="0"/>
              <a:t>Process Management: </a:t>
            </a:r>
          </a:p>
          <a:p>
            <a:pPr>
              <a:spcBef>
                <a:spcPct val="50000"/>
              </a:spcBef>
            </a:pPr>
            <a:r>
              <a:rPr lang="en-US" sz="2000" b="1" dirty="0"/>
              <a:t>nice    </a:t>
            </a:r>
          </a:p>
          <a:p>
            <a:pPr>
              <a:spcBef>
                <a:spcPct val="50000"/>
              </a:spcBef>
            </a:pPr>
            <a:r>
              <a:rPr lang="en-US" sz="2000" dirty="0"/>
              <a:t>Run a program with modified scheduling priority</a:t>
            </a:r>
          </a:p>
          <a:p>
            <a:pPr>
              <a:spcBef>
                <a:spcPct val="50000"/>
              </a:spcBef>
            </a:pPr>
            <a:r>
              <a:rPr lang="en-US" sz="2000" dirty="0"/>
              <a:t>Example: </a:t>
            </a:r>
          </a:p>
          <a:p>
            <a:pPr>
              <a:spcBef>
                <a:spcPct val="50000"/>
              </a:spcBef>
            </a:pPr>
            <a:r>
              <a:rPr lang="en-US" sz="2000" dirty="0"/>
              <a:t>nice +n command </a:t>
            </a:r>
          </a:p>
          <a:p>
            <a:pPr>
              <a:spcBef>
                <a:spcPct val="50000"/>
              </a:spcBef>
            </a:pPr>
            <a:endParaRPr lang="en-US" sz="1000" dirty="0"/>
          </a:p>
          <a:p>
            <a:r>
              <a:rPr lang="en-US" sz="2000" b="1" dirty="0"/>
              <a:t>renice    </a:t>
            </a:r>
          </a:p>
          <a:p>
            <a:r>
              <a:rPr lang="en-US" sz="2000" dirty="0"/>
              <a:t>Alter priority of running processes</a:t>
            </a:r>
          </a:p>
          <a:p>
            <a:endParaRPr lang="en-US" sz="2000" b="1" dirty="0"/>
          </a:p>
          <a:p>
            <a:r>
              <a:rPr lang="en-US" sz="2000" b="1" dirty="0"/>
              <a:t>renice command syntax:</a:t>
            </a:r>
          </a:p>
          <a:p>
            <a:r>
              <a:rPr lang="en-US" sz="2000" dirty="0"/>
              <a:t>The renice command changes the nice value of a process already running.</a:t>
            </a:r>
          </a:p>
          <a:p>
            <a:endParaRPr lang="en-US" sz="1200" dirty="0"/>
          </a:p>
          <a:p>
            <a:r>
              <a:rPr lang="en-US" sz="2000" dirty="0"/>
              <a:t>It's syntax is as follows:</a:t>
            </a:r>
          </a:p>
          <a:p>
            <a:endParaRPr lang="en-US" sz="1100" dirty="0"/>
          </a:p>
          <a:p>
            <a:r>
              <a:rPr lang="en-US" sz="2000" dirty="0"/>
              <a:t>renice {priority} </a:t>
            </a:r>
            <a:r>
              <a:rPr lang="en-US" sz="2000" dirty="0" err="1"/>
              <a:t>pid</a:t>
            </a:r>
            <a:endParaRPr lang="en-US" sz="2000" dirty="0"/>
          </a:p>
          <a:p>
            <a:endParaRPr lang="en-US" sz="1400" dirty="0"/>
          </a:p>
          <a:p>
            <a:r>
              <a:rPr lang="en-US" sz="2000" dirty="0"/>
              <a:t>The following will change nice value of process 2243 to 19, enter</a:t>
            </a:r>
          </a:p>
          <a:p>
            <a:r>
              <a:rPr lang="en-US" sz="2000" dirty="0"/>
              <a:t># renice 19 2243</a:t>
            </a:r>
          </a:p>
        </p:txBody>
      </p:sp>
    </p:spTree>
    <p:extLst>
      <p:ext uri="{BB962C8B-B14F-4D97-AF65-F5344CB8AC3E}">
        <p14:creationId xmlns:p14="http://schemas.microsoft.com/office/powerpoint/2010/main" val="3263707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3A47C3-AB3C-C5CF-3A8C-80B707A4AEF2}"/>
              </a:ext>
            </a:extLst>
          </p:cNvPr>
          <p:cNvSpPr txBox="1"/>
          <p:nvPr/>
        </p:nvSpPr>
        <p:spPr>
          <a:xfrm>
            <a:off x="2218765" y="2971800"/>
            <a:ext cx="7785847" cy="707886"/>
          </a:xfrm>
          <a:prstGeom prst="rect">
            <a:avLst/>
          </a:prstGeom>
          <a:noFill/>
        </p:spPr>
        <p:txBody>
          <a:bodyPr wrap="square" rtlCol="0">
            <a:spAutoFit/>
          </a:bodyPr>
          <a:lstStyle/>
          <a:p>
            <a:pPr algn="ctr"/>
            <a:r>
              <a:rPr lang="en-IN" sz="4000" dirty="0">
                <a:solidFill>
                  <a:srgbClr val="002060"/>
                </a:solidFill>
              </a:rPr>
              <a:t>Thank You…</a:t>
            </a:r>
            <a:endParaRPr lang="en-US" sz="4000" dirty="0">
              <a:solidFill>
                <a:srgbClr val="002060"/>
              </a:solidFill>
            </a:endParaRPr>
          </a:p>
        </p:txBody>
      </p:sp>
    </p:spTree>
    <p:extLst>
      <p:ext uri="{BB962C8B-B14F-4D97-AF65-F5344CB8AC3E}">
        <p14:creationId xmlns:p14="http://schemas.microsoft.com/office/powerpoint/2010/main" val="3777165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1025</TotalTime>
  <Words>3572</Words>
  <Application>Microsoft Office PowerPoint</Application>
  <PresentationFormat>Widescreen</PresentationFormat>
  <Paragraphs>415</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urw-din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Vinod Jadhav</dc:creator>
  <cp:lastModifiedBy>Vinod Kumar Jadhav</cp:lastModifiedBy>
  <cp:revision>89</cp:revision>
  <dcterms:created xsi:type="dcterms:W3CDTF">2023-06-29T06:04:55Z</dcterms:created>
  <dcterms:modified xsi:type="dcterms:W3CDTF">2025-09-09T06:59:11Z</dcterms:modified>
</cp:coreProperties>
</file>